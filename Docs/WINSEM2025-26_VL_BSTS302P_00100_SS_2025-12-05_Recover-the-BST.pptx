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embeddedFontLst>
    <p:embeddedFont>
      <p:font typeface="Roboto Black"/>
      <p:bold r:id="rId35"/>
      <p:boldItalic r:id="rId36"/>
    </p:embeddedFont>
    <p:embeddedFont>
      <p:font typeface="Robo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1" roundtripDataSignature="AMtx7mhFLGt908jrq61HwxppCmuZji1u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010D69-DD08-47D0-9D2D-346C0ECCF776}">
  <a:tblStyle styleId="{94010D69-DD08-47D0-9D2D-346C0ECCF776}"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 styleId="{7AF5B030-21B7-4963-AB14-E44EF4268D4D}"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3.xml"/><Relationship Id="rId41" Type="http://customschemas.google.com/relationships/presentationmetadata" Target="meta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Black-bold.fntdata"/><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regular.fntdata"/><Relationship Id="rId14" Type="http://schemas.openxmlformats.org/officeDocument/2006/relationships/slide" Target="slides/slide7.xml"/><Relationship Id="rId36" Type="http://schemas.openxmlformats.org/officeDocument/2006/relationships/font" Target="fonts/RobotoBlack-boldItalic.fntdata"/><Relationship Id="rId17" Type="http://schemas.openxmlformats.org/officeDocument/2006/relationships/slide" Target="slides/slide10.xml"/><Relationship Id="rId39" Type="http://schemas.openxmlformats.org/officeDocument/2006/relationships/font" Target="fonts/Roboto-italic.fntdata"/><Relationship Id="rId16" Type="http://schemas.openxmlformats.org/officeDocument/2006/relationships/slide" Target="slides/slide9.xml"/><Relationship Id="rId38" Type="http://schemas.openxmlformats.org/officeDocument/2006/relationships/font" Target="fonts/Roboto-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06" name="Google Shape;106;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5f61525f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3" name="Google Shape;113;g325f61525f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5f61525f9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0" name="Google Shape;120;g325f61525f9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25f61525f9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7" name="Google Shape;127;g325f61525f9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5f61525f9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5" name="Google Shape;135;g325f61525f9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5f61525f9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2" name="Google Shape;142;g325f61525f9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5f61525f9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9" name="Google Shape;149;g325f61525f9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25f61525f9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7" name="Google Shape;157;g325f61525f9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25f61525f9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3" name="Google Shape;163;g325f61525f9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43ccbddf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9" name="Google Shape;169;g3243ccbddf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25f61525f9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6" name="Google Shape;176;g325f61525f9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5f61525f9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3" name="Google Shape;183;g325f61525f9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25f61525f9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9" name="Google Shape;189;g325f61525f9_0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25f61525f9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5" name="Google Shape;195;g325f61525f9_0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25f61525f9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1" name="Google Shape;201;g325f61525f9_0_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25f61525f9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7" name="Google Shape;207;g325f61525f9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243ccbddfa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3" name="Google Shape;213;g3243ccbddfa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243ccbddfa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0" name="Google Shape;220;g3243ccbddfa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7" name="Google Shape;227;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4" name="Google Shape;234;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1" name="Google Shape;241;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8" name="Google Shape;248;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243a3cdda7_0_8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5" name="Google Shape;255;g3243a3cdda7_0_8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2" name="Google Shape;52;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3" name="Google Shape;53;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58" name="Shape 5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1" name="Google Shape;61;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8" name="Google Shape;68;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sp>
        <p:nvSpPr>
          <p:cNvPr id="70" name="Google Shape;70;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1" name="Google Shape;71;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sp>
        <p:nvSpPr>
          <p:cNvPr id="73" name="Google Shape;73;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4" name="Google Shape;74;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5" name="Google Shape;75;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6" name="Google Shape;76;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7" name="Google Shape;77;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0" name="Google Shape;80;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 name="Shape 81"/>
        <p:cNvGrpSpPr/>
        <p:nvPr/>
      </p:nvGrpSpPr>
      <p:grpSpPr>
        <a:xfrm>
          <a:off x="0" y="0"/>
          <a:ext cx="0" cy="0"/>
          <a:chOff x="0" y="0"/>
          <a:chExt cx="0" cy="0"/>
        </a:xfrm>
      </p:grpSpPr>
      <p:sp>
        <p:nvSpPr>
          <p:cNvPr id="82" name="Google Shape;82;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3" name="Google Shape;83;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4" name="Google Shape;84;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
        <p:nvSpPr>
          <p:cNvPr id="86" name="Google Shape;86;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3.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1.xml"/><Relationship Id="rId12" Type="http://schemas.openxmlformats.org/officeDocument/2006/relationships/slideLayout" Target="../slideLayouts/slideLayout20.xml"/><Relationship Id="rId1" Type="http://schemas.openxmlformats.org/officeDocument/2006/relationships/image" Target="../media/image1.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4" name="Shape 44"/>
        <p:cNvGrpSpPr/>
        <p:nvPr/>
      </p:nvGrpSpPr>
      <p:grpSpPr>
        <a:xfrm>
          <a:off x="0" y="0"/>
          <a:ext cx="0" cy="0"/>
          <a:chOff x="0" y="0"/>
          <a:chExt cx="0" cy="0"/>
        </a:xfrm>
      </p:grpSpPr>
      <p:sp>
        <p:nvSpPr>
          <p:cNvPr id="45" name="Google Shape;45;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4.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RWyxuxJ7oznRm69C9"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hyperlink" Target="https://learn.codemithra.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3.jp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2" name="Google Shape;92;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3" name="Google Shape;93;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94" name="Google Shape;94;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95" name="Google Shape;95;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1" name="Google Shape;10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2" name="Google Shape;102;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3" name="Google Shape;103;p3"/>
          <p:cNvSpPr txBox="1"/>
          <p:nvPr/>
        </p:nvSpPr>
        <p:spPr>
          <a:xfrm>
            <a:off x="140951" y="2260382"/>
            <a:ext cx="46908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6000"/>
              <a:buFont typeface="Arial"/>
              <a:buNone/>
            </a:pPr>
            <a:r>
              <a:rPr b="1" i="0" lang="en-GB" sz="2400" u="none" cap="none" strike="noStrike">
                <a:solidFill>
                  <a:schemeClr val="lt1"/>
                </a:solidFill>
                <a:latin typeface="Consolas"/>
                <a:ea typeface="Consolas"/>
                <a:cs typeface="Consolas"/>
                <a:sym typeface="Consolas"/>
              </a:rPr>
              <a:t>RECOVER THE BST</a:t>
            </a:r>
            <a:endParaRPr b="1" i="0" sz="2400" u="none" cap="none" strike="noStrike">
              <a:solidFill>
                <a:schemeClr val="lt1"/>
              </a:solidFill>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14337fc5d25_0_21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TEST TIME ON THE STACK PERMUTATION</a:t>
            </a:r>
            <a:endParaRPr b="0" i="0" sz="1700" u="none" cap="none" strike="noStrike">
              <a:solidFill>
                <a:srgbClr val="6D9EEB"/>
              </a:solidFill>
              <a:latin typeface="Roboto Black"/>
              <a:ea typeface="Roboto Black"/>
              <a:cs typeface="Roboto Black"/>
              <a:sym typeface="Roboto Black"/>
            </a:endParaRPr>
          </a:p>
        </p:txBody>
      </p:sp>
      <p:sp>
        <p:nvSpPr>
          <p:cNvPr id="109" name="Google Shape;109;g14337fc5d25_0_216"/>
          <p:cNvSpPr txBox="1"/>
          <p:nvPr/>
        </p:nvSpPr>
        <p:spPr>
          <a:xfrm>
            <a:off x="738206" y="1105347"/>
            <a:ext cx="11040300" cy="5898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Clr>
                <a:srgbClr val="000000"/>
              </a:buClr>
              <a:buSzPts val="2000"/>
              <a:buFont typeface="Arial"/>
              <a:buNone/>
            </a:pPr>
            <a:r>
              <a:rPr b="0" i="0" lang="en-GB" sz="2000" u="none" cap="none" strike="noStrike">
                <a:solidFill>
                  <a:srgbClr val="000000"/>
                </a:solidFill>
                <a:latin typeface="Consolas"/>
                <a:ea typeface="Consolas"/>
                <a:cs typeface="Consolas"/>
                <a:sym typeface="Consolas"/>
              </a:rPr>
              <a:t>URL:</a:t>
            </a:r>
            <a:r>
              <a:rPr b="0" i="0" lang="en-GB" sz="2000" u="sng" cap="none" strike="noStrike">
                <a:solidFill>
                  <a:srgbClr val="0563C1"/>
                </a:solidFill>
                <a:latin typeface="Consolas"/>
                <a:ea typeface="Consolas"/>
                <a:cs typeface="Consolas"/>
                <a:sym typeface="Consolas"/>
                <a:hlinkClick r:id="rId3">
                  <a:extLst>
                    <a:ext uri="{A12FA001-AC4F-418D-AE19-62706E023703}">
                      <ahyp:hlinkClr val="tx"/>
                    </a:ext>
                  </a:extLst>
                </a:hlinkClick>
              </a:rPr>
              <a:t>https://forms.gle/RWyxuxJ7oznRm69C9</a:t>
            </a:r>
            <a:endParaRPr b="0" i="0" sz="2000" u="none" cap="none" strike="noStrike">
              <a:solidFill>
                <a:srgbClr val="000000"/>
              </a:solidFill>
              <a:latin typeface="Calibri"/>
              <a:ea typeface="Calibri"/>
              <a:cs typeface="Calibri"/>
              <a:sym typeface="Calibri"/>
            </a:endParaRPr>
          </a:p>
        </p:txBody>
      </p:sp>
      <p:pic>
        <p:nvPicPr>
          <p:cNvPr id="110" name="Google Shape;110;g14337fc5d25_0_216"/>
          <p:cNvPicPr preferRelativeResize="0"/>
          <p:nvPr/>
        </p:nvPicPr>
        <p:blipFill rotWithShape="1">
          <a:blip r:embed="rId4">
            <a:alphaModFix/>
          </a:blip>
          <a:srcRect b="0" l="0" r="0" t="0"/>
          <a:stretch/>
        </p:blipFill>
        <p:spPr>
          <a:xfrm>
            <a:off x="2758125" y="2081800"/>
            <a:ext cx="3531726" cy="2605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25f61525f9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sp>
        <p:nvSpPr>
          <p:cNvPr id="116" name="Google Shape;116;g325f61525f9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Recovering a Binary Search Tree (BST) typically involves restoring its structure when it's been corrupted. This can be done by identifying and correcting two misplaced nodes that violate the BST property, usually by swapping their values, ensuring the tree regains its sorted order.</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17" name="Google Shape;117;g325f61525f9_0_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25f61525f9_0_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sp>
        <p:nvSpPr>
          <p:cNvPr id="123" name="Google Shape;123;g325f61525f9_0_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1.Binary Tree Structure: A BST is a binary tree, meaning each node has at most two children: a left child and a right child.</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2.Ordering Property: In a BST, for any given node: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All nodes in its left subtree have values less than the node's value.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All nodes in its right subtree have values greater than the node's value.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3.Unique Values: Typically, in a standard BST, each node has a unique value. There are variations, such as Binary Search Trees with Duplicates, where nodes can have identical values.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24" name="Google Shape;124;g325f61525f9_0_8"/>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25f61525f9_0_1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sp>
        <p:nvSpPr>
          <p:cNvPr id="130" name="Google Shape;130;g325f61525f9_0_14"/>
          <p:cNvSpPr txBox="1"/>
          <p:nvPr/>
        </p:nvSpPr>
        <p:spPr>
          <a:xfrm>
            <a:off x="3387550" y="1243075"/>
            <a:ext cx="53619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In this example:</a:t>
            </a:r>
            <a:endParaRPr b="0" i="0" sz="16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root node has a value of 10.</a:t>
            </a:r>
            <a:endParaRPr b="0" i="0" sz="16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left subtree of the root contains nodes with values less than 10 (5, 3, and 8).</a:t>
            </a:r>
            <a:endParaRPr b="0" i="0" sz="16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right subtree of the root contains nodes with values greater than 10 (15 and 20).</a:t>
            </a:r>
            <a:endParaRPr b="0" i="0" sz="16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This tree follows the ordering property of a BST. For instance:</a:t>
            </a:r>
            <a:endParaRPr b="0" i="0" sz="16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All nodes in the left subtree of the root (5, 3, and 8) have values less than 10.</a:t>
            </a:r>
            <a:endParaRPr b="0" i="0" sz="1600" u="none" cap="none" strike="noStrike">
              <a:solidFill>
                <a:schemeClr val="dk1"/>
              </a:solidFill>
              <a:latin typeface="Arial"/>
              <a:ea typeface="Arial"/>
              <a:cs typeface="Arial"/>
              <a:sym typeface="Arial"/>
            </a:endParaRPr>
          </a:p>
          <a:p>
            <a:pPr indent="-273050" lvl="0" marL="285750" marR="0" rtl="0" algn="l">
              <a:lnSpc>
                <a:spcPct val="115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All nodes in the right subtree of the root (15 and 20) have values greater than 10.</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31" name="Google Shape;131;g325f61525f9_0_14"/>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32" name="Google Shape;132;g325f61525f9_0_14"/>
          <p:cNvSpPr txBox="1"/>
          <p:nvPr/>
        </p:nvSpPr>
        <p:spPr>
          <a:xfrm>
            <a:off x="90675" y="1792857"/>
            <a:ext cx="25701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Arial"/>
              <a:buNone/>
            </a:pPr>
            <a:r>
              <a:rPr b="1" i="0" lang="en-GB" sz="1800" u="none" cap="none" strike="noStrike">
                <a:solidFill>
                  <a:srgbClr val="FF0000"/>
                </a:solidFill>
                <a:latin typeface="Consolas"/>
                <a:ea typeface="Consolas"/>
                <a:cs typeface="Consolas"/>
                <a:sym typeface="Consolas"/>
              </a:rPr>
              <a:t>        10</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GB" sz="1800" u="none" cap="none" strike="noStrike">
                <a:solidFill>
                  <a:srgbClr val="FF0000"/>
                </a:solidFill>
                <a:latin typeface="Consolas"/>
                <a:ea typeface="Consolas"/>
                <a:cs typeface="Consolas"/>
                <a:sym typeface="Consolas"/>
              </a:rPr>
              <a:t>       /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GB" sz="1800" u="none" cap="none" strike="noStrike">
                <a:solidFill>
                  <a:srgbClr val="FF0000"/>
                </a:solidFill>
                <a:latin typeface="Consolas"/>
                <a:ea typeface="Consolas"/>
                <a:cs typeface="Consolas"/>
                <a:sym typeface="Consolas"/>
              </a:rPr>
              <a:t>      5   15</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GB" sz="1800" u="none" cap="none" strike="noStrike">
                <a:solidFill>
                  <a:srgbClr val="FF0000"/>
                </a:solidFill>
                <a:latin typeface="Consolas"/>
                <a:ea typeface="Consolas"/>
                <a:cs typeface="Consolas"/>
                <a:sym typeface="Consolas"/>
              </a:rPr>
              <a:t>     / \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GB" sz="1800" u="none" cap="none" strike="noStrike">
                <a:solidFill>
                  <a:srgbClr val="FF0000"/>
                </a:solidFill>
                <a:latin typeface="Consolas"/>
                <a:ea typeface="Consolas"/>
                <a:cs typeface="Consolas"/>
                <a:sym typeface="Consolas"/>
              </a:rPr>
              <a:t>    3   8    20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25f61525f9_0_21"/>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sp>
        <p:nvSpPr>
          <p:cNvPr id="138" name="Google Shape;138;g325f61525f9_0_21"/>
          <p:cNvSpPr txBox="1"/>
          <p:nvPr/>
        </p:nvSpPr>
        <p:spPr>
          <a:xfrm>
            <a:off x="1202075" y="1243075"/>
            <a:ext cx="7547400" cy="4351200"/>
          </a:xfrm>
          <a:prstGeom prst="rect">
            <a:avLst/>
          </a:prstGeom>
          <a:noFill/>
          <a:ln>
            <a:noFill/>
          </a:ln>
        </p:spPr>
        <p:txBody>
          <a:bodyPr anchorCtr="0" anchor="t" bIns="45700" lIns="91425" spcFirstLastPara="1" rIns="91425" wrap="square" tIns="45700">
            <a:noAutofit/>
          </a:bodyPr>
          <a:lstStyle/>
          <a:p>
            <a:pPr indent="0" lvl="0" marL="45720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1. Inorder Traversal and Two-Pointer Approach: </a:t>
            </a:r>
            <a:endParaRPr b="0" i="0" sz="16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2. Morris Traversal (Constant Space):</a:t>
            </a:r>
            <a:endParaRPr b="1" i="0" sz="1600" u="none" cap="none" strike="noStrike">
              <a:solidFill>
                <a:srgbClr val="FF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39" name="Google Shape;139;g325f61525f9_0_21"/>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25f61525f9_0_2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sp>
        <p:nvSpPr>
          <p:cNvPr id="145" name="Google Shape;145;g325f61525f9_0_2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This method involves performing an inorder traversal of a binary search tree (BST) using two pointers. It identifies two incorrectly placed nodes during traversal and swaps their values to restore the BST property, achieving a time complexity of O(n) and space complexity of O(h), where h is the height of the tree.</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46" name="Google Shape;146;g325f61525f9_0_28"/>
          <p:cNvSpPr txBox="1"/>
          <p:nvPr/>
        </p:nvSpPr>
        <p:spPr>
          <a:xfrm>
            <a:off x="172448" y="10539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APPROACHES 1: Inorder traversal and two-pointer Approach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25f61525f9_0_6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sp>
        <p:nvSpPr>
          <p:cNvPr id="152" name="Google Shape;152;g325f61525f9_0_68"/>
          <p:cNvSpPr txBox="1"/>
          <p:nvPr/>
        </p:nvSpPr>
        <p:spPr>
          <a:xfrm>
            <a:off x="4541475" y="1471675"/>
            <a:ext cx="42078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This method involves performing an inorder traversal of a binary search tree (BST) using two pointers. It identifies two incorrectly placed nodes during traversal and swaps their values to restore the BST property, achieving a time complexity of O(n) and space complexity of O(h), where h is the height of the tree.</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53" name="Google Shape;153;g325f61525f9_0_68"/>
          <p:cNvSpPr txBox="1"/>
          <p:nvPr/>
        </p:nvSpPr>
        <p:spPr>
          <a:xfrm>
            <a:off x="172448" y="10539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APPROACHES 1: Inorder traversal and two-pointer Approach</a:t>
            </a:r>
            <a:endParaRPr b="0" i="0" sz="1400" u="none" cap="none" strike="noStrike">
              <a:solidFill>
                <a:srgbClr val="000000"/>
              </a:solidFill>
              <a:latin typeface="Arial"/>
              <a:ea typeface="Arial"/>
              <a:cs typeface="Arial"/>
              <a:sym typeface="Arial"/>
            </a:endParaRPr>
          </a:p>
        </p:txBody>
      </p:sp>
      <p:sp>
        <p:nvSpPr>
          <p:cNvPr id="154" name="Google Shape;154;g325f61525f9_0_68"/>
          <p:cNvSpPr txBox="1"/>
          <p:nvPr/>
        </p:nvSpPr>
        <p:spPr>
          <a:xfrm>
            <a:off x="150725" y="1377371"/>
            <a:ext cx="4274700" cy="329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1" i="0" lang="en-GB" sz="1600" u="none" cap="none" strike="noStrike">
                <a:solidFill>
                  <a:srgbClr val="990000"/>
                </a:solidFill>
                <a:latin typeface="Consolas"/>
                <a:ea typeface="Consolas"/>
                <a:cs typeface="Consolas"/>
                <a:sym typeface="Consolas"/>
              </a:rPr>
              <a:t>Sample Input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GB" sz="1600" u="none" cap="none" strike="noStrike">
                <a:solidFill>
                  <a:srgbClr val="990000"/>
                </a:solidFill>
                <a:latin typeface="Consolas"/>
                <a:ea typeface="Consolas"/>
                <a:cs typeface="Consolas"/>
                <a:sym typeface="Consolas"/>
              </a:rPr>
              <a:t>     3</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GB" sz="1600" u="none" cap="none" strike="noStrike">
                <a:solidFill>
                  <a:srgbClr val="990000"/>
                </a:solidFill>
                <a:latin typeface="Consolas"/>
                <a:ea typeface="Consolas"/>
                <a:cs typeface="Consolas"/>
                <a:sym typeface="Consolas"/>
              </a:rPr>
              <a:t>    /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GB" sz="1600" u="none" cap="none" strike="noStrike">
                <a:solidFill>
                  <a:srgbClr val="990000"/>
                </a:solidFill>
                <a:latin typeface="Consolas"/>
                <a:ea typeface="Consolas"/>
                <a:cs typeface="Consolas"/>
                <a:sym typeface="Consolas"/>
              </a:rPr>
              <a:t>   1   4</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GB" sz="1600" u="none" cap="none" strike="noStrike">
                <a:solidFill>
                  <a:srgbClr val="99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GB" sz="1600" u="none" cap="none" strike="noStrike">
                <a:solidFill>
                  <a:srgbClr val="990000"/>
                </a:solidFill>
                <a:latin typeface="Consolas"/>
                <a:ea typeface="Consolas"/>
                <a:cs typeface="Consolas"/>
                <a:sym typeface="Consolas"/>
              </a:rPr>
              <a:t>     2</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GB" sz="1600" u="none" cap="none" strike="noStrike">
                <a:solidFill>
                  <a:srgbClr val="990000"/>
                </a:solidFill>
                <a:latin typeface="Consolas"/>
                <a:ea typeface="Consolas"/>
                <a:cs typeface="Consolas"/>
                <a:sym typeface="Consolas"/>
              </a:rPr>
              <a:t>Output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GB" sz="1600" u="none" cap="none" strike="noStrike">
                <a:solidFill>
                  <a:srgbClr val="990000"/>
                </a:solidFill>
                <a:latin typeface="Consolas"/>
                <a:ea typeface="Consolas"/>
                <a:cs typeface="Consolas"/>
                <a:sym typeface="Consolas"/>
              </a:rPr>
              <a:t>Inorder Traversal of Recovered BST: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GB" sz="1600" u="none" cap="none" strike="noStrike">
                <a:solidFill>
                  <a:srgbClr val="990000"/>
                </a:solidFill>
                <a:latin typeface="Consolas"/>
                <a:ea typeface="Consolas"/>
                <a:cs typeface="Consolas"/>
                <a:sym typeface="Consolas"/>
              </a:rPr>
              <a:t>1 2 3 4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25f61525f9_0_34"/>
          <p:cNvSpPr txBox="1"/>
          <p:nvPr/>
        </p:nvSpPr>
        <p:spPr>
          <a:xfrm>
            <a:off x="720725" y="3008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graphicFrame>
        <p:nvGraphicFramePr>
          <p:cNvPr id="160" name="Google Shape;160;g325f61525f9_0_34"/>
          <p:cNvGraphicFramePr/>
          <p:nvPr/>
        </p:nvGraphicFramePr>
        <p:xfrm>
          <a:off x="2" y="654851"/>
          <a:ext cx="3000000" cy="3000000"/>
        </p:xfrm>
        <a:graphic>
          <a:graphicData uri="http://schemas.openxmlformats.org/drawingml/2006/table">
            <a:tbl>
              <a:tblPr bandRow="1" firstRow="1">
                <a:noFill/>
                <a:tableStyleId>{94010D69-DD08-47D0-9D2D-346C0ECCF776}</a:tableStyleId>
              </a:tblPr>
              <a:tblGrid>
                <a:gridCol w="4572000"/>
                <a:gridCol w="4572000"/>
              </a:tblGrid>
              <a:tr h="4059725">
                <a:tc>
                  <a:txBody>
                    <a:bodyPr/>
                    <a:lstStyle/>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class TreeNode {</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val;</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left;</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right;</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TreeNode(int val) {</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this.val = val;</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firstIncorrectNode = null;</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secondIncorrectNode = null;</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prevNode = new TreeNode(Integer.MIN_VALUE);</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void recoverTree(TreeNode root) {</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Perform inorder traversal</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inorder(root);</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Swap the values of the two incorrectly placed nodes</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temp = firstIncorrectNode.val;</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firstIncorrectNode.val =     secondIncorrectNode.val;</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secondIncorrectNode.val = temp;</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private void inorder(TreeNode node) {</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(node == null) return;</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inorder(node.left);</a:t>
                      </a:r>
                      <a:endParaRPr sz="1300" u="none" cap="none" strike="noStrike"/>
                    </a:p>
                    <a:p>
                      <a:pPr indent="0" lvl="0" marL="0" marR="0" rtl="0" algn="l">
                        <a:lnSpc>
                          <a:spcPct val="115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Check for incorrectly placed nodes</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25f61525f9_0_42"/>
          <p:cNvSpPr txBox="1"/>
          <p:nvPr/>
        </p:nvSpPr>
        <p:spPr>
          <a:xfrm>
            <a:off x="720725" y="3008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graphicFrame>
        <p:nvGraphicFramePr>
          <p:cNvPr id="166" name="Google Shape;166;g325f61525f9_0_42"/>
          <p:cNvGraphicFramePr/>
          <p:nvPr/>
        </p:nvGraphicFramePr>
        <p:xfrm>
          <a:off x="2" y="807251"/>
          <a:ext cx="3000000" cy="3000000"/>
        </p:xfrm>
        <a:graphic>
          <a:graphicData uri="http://schemas.openxmlformats.org/drawingml/2006/table">
            <a:tbl>
              <a:tblPr bandRow="1" firstRow="1">
                <a:noFill/>
                <a:tableStyleId>{94010D69-DD08-47D0-9D2D-346C0ECCF776}</a:tableStyleId>
              </a:tblPr>
              <a:tblGrid>
                <a:gridCol w="4572000"/>
                <a:gridCol w="4572000"/>
              </a:tblGrid>
              <a:tr h="4059725">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(firstIncorrectNode == null &amp;&amp; prevNode.val &gt;= node.val)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firstIncorrectNode = prevNode;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(firstIncorrectNode != null &amp;&amp; prevNode.val &gt;= node.val)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secondIncorrectNode = 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prevNode = 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inorder(node.right);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void main(String[] args)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root = new TreeNode(3);</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root.left = new TreeNode(1);</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root.right = new TreeNode(4);</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root.right.left = new TreeNode(2);</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Main solution = new Main();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solution.recoverTree(root);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Print the corrected BST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System.out.println("Inorder Traversal of Recovered BST:");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printInorder(root);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400"/>
                        <a:buFont typeface="Arial"/>
                        <a:buNone/>
                      </a:pPr>
                      <a:r>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private static void printInorder(TreeNode node)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(node == null) return;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printInorder(node.left);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System.out.print(node.val + "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printInorder(node.right);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243ccbddfa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WINNER TREE</a:t>
            </a:r>
            <a:endParaRPr b="0" i="0" sz="1700" u="none" cap="none" strike="noStrike">
              <a:solidFill>
                <a:srgbClr val="6D9EEB"/>
              </a:solidFill>
              <a:latin typeface="Roboto Black"/>
              <a:ea typeface="Roboto Black"/>
              <a:cs typeface="Roboto Black"/>
              <a:sym typeface="Roboto Black"/>
            </a:endParaRPr>
          </a:p>
        </p:txBody>
      </p:sp>
      <p:sp>
        <p:nvSpPr>
          <p:cNvPr id="172" name="Google Shape;172;g3243ccbddfa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Time Complexity: O(n), where n is the number of nodes in the BST, as it performs an inorder traversal of the entire tree.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Space Complexity: O(h), where h is the height of the BST. In the worst case, when the BST is skewed, it can be O(n), but in a balanced BST, it's O(log n).</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73" name="Google Shape;173;g3243ccbddfa_0_0"/>
          <p:cNvSpPr txBox="1"/>
          <p:nvPr/>
        </p:nvSpPr>
        <p:spPr>
          <a:xfrm>
            <a:off x="172449" y="1053975"/>
            <a:ext cx="5662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TIME AND SPACE COMPLEXITY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25f61525f9_0_47"/>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sp>
        <p:nvSpPr>
          <p:cNvPr id="179" name="Google Shape;179;g325f61525f9_0_47"/>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Morris Traversal is an efficient technique to perform an inorder traversal of a BST with constant space usage. It identifies incorrectly placed nodes while traversing, swapping their values after traversal, and also achieves a time complexity of O(n), making it memory-efficient for large trees.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80" name="Google Shape;180;g325f61525f9_0_47"/>
          <p:cNvSpPr txBox="1"/>
          <p:nvPr/>
        </p:nvSpPr>
        <p:spPr>
          <a:xfrm>
            <a:off x="172448" y="1053975"/>
            <a:ext cx="8358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APPROACHES 2: Morris Traversal(Constant Space):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25f61525f9_0_53"/>
          <p:cNvSpPr txBox="1"/>
          <p:nvPr/>
        </p:nvSpPr>
        <p:spPr>
          <a:xfrm>
            <a:off x="720725" y="3008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graphicFrame>
        <p:nvGraphicFramePr>
          <p:cNvPr id="186" name="Google Shape;186;g325f61525f9_0_53"/>
          <p:cNvGraphicFramePr/>
          <p:nvPr/>
        </p:nvGraphicFramePr>
        <p:xfrm>
          <a:off x="2" y="807251"/>
          <a:ext cx="3000000" cy="3000000"/>
        </p:xfrm>
        <a:graphic>
          <a:graphicData uri="http://schemas.openxmlformats.org/drawingml/2006/table">
            <a:tbl>
              <a:tblPr bandRow="1" firstRow="1">
                <a:noFill/>
                <a:tableStyleId>{94010D69-DD08-47D0-9D2D-346C0ECCF776}</a:tableStyleId>
              </a:tblPr>
              <a:tblGrid>
                <a:gridCol w="4572000"/>
                <a:gridCol w="4572000"/>
              </a:tblGrid>
              <a:tr h="4059725">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class TreeNode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TreeNode(int val)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this.val =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firstIncorrectNode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secondIncorrectNode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prevNode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void recoverTree(TreeNode root)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current = 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temp;</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while (current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(current.left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Process current 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(prevNode != null &amp;&amp; prevNode.val &gt;= current.val)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(firstIncorrectNode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firstIncorrectNode = prevNode;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secondIncorrectNode = current;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prevNode = current;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current = current.right;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else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Find the inorder predecessor</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25f61525f9_0_58"/>
          <p:cNvSpPr txBox="1"/>
          <p:nvPr/>
        </p:nvSpPr>
        <p:spPr>
          <a:xfrm>
            <a:off x="720725" y="3008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graphicFrame>
        <p:nvGraphicFramePr>
          <p:cNvPr id="192" name="Google Shape;192;g325f61525f9_0_58"/>
          <p:cNvGraphicFramePr/>
          <p:nvPr/>
        </p:nvGraphicFramePr>
        <p:xfrm>
          <a:off x="2" y="807251"/>
          <a:ext cx="3000000" cy="3000000"/>
        </p:xfrm>
        <a:graphic>
          <a:graphicData uri="http://schemas.openxmlformats.org/drawingml/2006/table">
            <a:tbl>
              <a:tblPr bandRow="1" firstRow="1">
                <a:noFill/>
                <a:tableStyleId>{94010D69-DD08-47D0-9D2D-346C0ECCF776}</a:tableStyleId>
              </a:tblPr>
              <a:tblGrid>
                <a:gridCol w="4572000"/>
                <a:gridCol w="4572000"/>
              </a:tblGrid>
              <a:tr h="4059725">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temp = current.left;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while (temp.right != null &amp;&amp; temp.right != current)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temp = temp.right;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(temp.right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Set the right pointer to enable returning to the current 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temp.right = current;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current = current.left;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else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Restore the right pointer and process current 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temp.right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(prevNode != null &amp;&amp; prevNode.val &gt;= current.val)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(firstIncorrectNode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firstIncorrectNode = prevNode;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secondIncorrectNode = current;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prevNode = current;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current = current.right;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Swap the values of the two incorrectly placed nodes</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25f61525f9_0_81"/>
          <p:cNvSpPr txBox="1"/>
          <p:nvPr/>
        </p:nvSpPr>
        <p:spPr>
          <a:xfrm>
            <a:off x="720725" y="3008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graphicFrame>
        <p:nvGraphicFramePr>
          <p:cNvPr id="198" name="Google Shape;198;g325f61525f9_0_81"/>
          <p:cNvGraphicFramePr/>
          <p:nvPr/>
        </p:nvGraphicFramePr>
        <p:xfrm>
          <a:off x="2" y="807251"/>
          <a:ext cx="3000000" cy="3000000"/>
        </p:xfrm>
        <a:graphic>
          <a:graphicData uri="http://schemas.openxmlformats.org/drawingml/2006/table">
            <a:tbl>
              <a:tblPr bandRow="1" firstRow="1">
                <a:noFill/>
                <a:tableStyleId>{94010D69-DD08-47D0-9D2D-346C0ECCF776}</a:tableStyleId>
              </a:tblPr>
              <a:tblGrid>
                <a:gridCol w="4572000"/>
                <a:gridCol w="4572000"/>
              </a:tblGrid>
              <a:tr h="4059725">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int tempVal = firstIncorrectNode.val;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firstIncorrectNode.val = secondIncorrectNode.val;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secondIncorrectNode.val = tempVal;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void main(String[] args)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Create a sample binary search tree with 5 numbers (incorrect order)</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root = new TreeNode(3);</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root.left = new TreeNode(1);</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root.right = new TreeNode(5);</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root.right.left = new TreeNode(2);</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root.right.right = new TreeNode(4);</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Main solution = new Main();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solution.recoverTree(root);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Print the inorder traversal of the recovered BST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System.out.println("Inorder Traversal of Recovered BST:");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printInorder(root);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Helper function to print the inorder traversal of a tree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private static void printInorder(TreeNode node)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(node == null) return;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printInorder(node.left);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System.out.print(node.val + "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printInorder(node.right);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25f61525f9_0_86"/>
          <p:cNvSpPr txBox="1"/>
          <p:nvPr/>
        </p:nvSpPr>
        <p:spPr>
          <a:xfrm>
            <a:off x="720725" y="3008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graphicFrame>
        <p:nvGraphicFramePr>
          <p:cNvPr id="204" name="Google Shape;204;g325f61525f9_0_86"/>
          <p:cNvGraphicFramePr/>
          <p:nvPr/>
        </p:nvGraphicFramePr>
        <p:xfrm>
          <a:off x="2" y="807251"/>
          <a:ext cx="3000000" cy="3000000"/>
        </p:xfrm>
        <a:graphic>
          <a:graphicData uri="http://schemas.openxmlformats.org/drawingml/2006/table">
            <a:tbl>
              <a:tblPr bandRow="1" firstRow="1">
                <a:noFill/>
                <a:tableStyleId>{94010D69-DD08-47D0-9D2D-346C0ECCF776}</a:tableStyleId>
              </a:tblPr>
              <a:tblGrid>
                <a:gridCol w="4572000"/>
                <a:gridCol w="4572000"/>
              </a:tblGrid>
              <a:tr h="4059725">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import java.util.*;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class Node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left, right;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Node(int d)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data = d;</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left = right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public class Main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first, middle, last, prev;</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lang="en-GB" sz="1300" u="none" cap="none" strike="noStrike">
                          <a:solidFill>
                            <a:schemeClr val="dk1"/>
                          </a:solidFill>
                          <a:latin typeface="Consolas"/>
                          <a:ea typeface="Consolas"/>
                          <a:cs typeface="Consolas"/>
                          <a:sym typeface="Consolas"/>
                        </a:rPr>
                        <a:t>void correctBST(Node root) {</a:t>
                      </a:r>
                      <a:endParaRPr b="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lang="en-GB" sz="1300" u="none" cap="none" strike="noStrike">
                          <a:solidFill>
                            <a:schemeClr val="dk1"/>
                          </a:solidFill>
                          <a:latin typeface="Consolas"/>
                          <a:ea typeface="Consolas"/>
                          <a:cs typeface="Consolas"/>
                          <a:sym typeface="Consolas"/>
                        </a:rPr>
                        <a:t>        // Initialize variables to track the nodes to be swapped</a:t>
                      </a:r>
                      <a:endParaRPr b="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lang="en-GB" sz="1300" u="none" cap="none" strike="noStrike">
                          <a:solidFill>
                            <a:schemeClr val="dk1"/>
                          </a:solidFill>
                          <a:latin typeface="Consolas"/>
                          <a:ea typeface="Consolas"/>
                          <a:cs typeface="Consolas"/>
                          <a:sym typeface="Consolas"/>
                        </a:rPr>
                        <a:t>        first = middle = last = prev = null;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 Correct the BST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correctBSTUtil(root);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 If last is null, it means only two nodes were swapped</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(last == null)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temp = first.data;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first.data = middle.data;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middle.data = temp;</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 else {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 More than two nodes are swapped</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temp = first.data;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first.data = last.data;</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last.data = temp;</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25f61525f9_0_91"/>
          <p:cNvSpPr txBox="1"/>
          <p:nvPr/>
        </p:nvSpPr>
        <p:spPr>
          <a:xfrm>
            <a:off x="720725" y="3008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RECOVER THE BST</a:t>
            </a:r>
            <a:endParaRPr b="0" i="0" sz="1700" u="none" cap="none" strike="noStrike">
              <a:solidFill>
                <a:srgbClr val="6D9EEB"/>
              </a:solidFill>
              <a:latin typeface="Roboto Black"/>
              <a:ea typeface="Roboto Black"/>
              <a:cs typeface="Roboto Black"/>
              <a:sym typeface="Roboto Black"/>
            </a:endParaRPr>
          </a:p>
        </p:txBody>
      </p:sp>
      <p:graphicFrame>
        <p:nvGraphicFramePr>
          <p:cNvPr id="210" name="Google Shape;210;g325f61525f9_0_91"/>
          <p:cNvGraphicFramePr/>
          <p:nvPr/>
        </p:nvGraphicFramePr>
        <p:xfrm>
          <a:off x="25" y="734425"/>
          <a:ext cx="3000000" cy="3000000"/>
        </p:xfrm>
        <a:graphic>
          <a:graphicData uri="http://schemas.openxmlformats.org/drawingml/2006/table">
            <a:tbl>
              <a:tblPr>
                <a:noFill/>
                <a:tableStyleId>{7AF5B030-21B7-4963-AB14-E44EF4268D4D}</a:tableStyleId>
              </a:tblPr>
              <a:tblGrid>
                <a:gridCol w="4572000"/>
                <a:gridCol w="4572000"/>
              </a:tblGrid>
              <a:tr h="381000">
                <a:tc>
                  <a:txBody>
                    <a:bodyPr/>
                    <a:lstStyle/>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void correctBSTUtil(Node root)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if (root != null)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correctBSTUtil(root.left);</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if (prev != null &amp;&amp; root.data &lt; prev.data)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if (first == null)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first = prev;</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middle = root;</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 else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last = root;</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prev = root;</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correctBSTUtil(root.right);</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void printInorder(Node node)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if (node == null)</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return;</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printInorder(node.left);</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System.out.print(node.data + "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printInorder(node.right);</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700"/>
                        <a:buFont typeface="Arial"/>
                        <a:buNone/>
                      </a:pPr>
                      <a:r>
                        <a:rPr lang="en-GB" sz="1300" u="none" cap="none" strike="noStrike">
                          <a:solidFill>
                            <a:srgbClr val="000000"/>
                          </a:solidFill>
                          <a:latin typeface="Consolas"/>
                          <a:ea typeface="Consolas"/>
                          <a:cs typeface="Consolas"/>
                          <a:sym typeface="Consolas"/>
                        </a:rPr>
                        <a:t>    }</a:t>
                      </a:r>
                      <a:endParaRPr sz="1300" u="none" cap="none" strike="noStrike">
                        <a:latin typeface="Consolas"/>
                        <a:ea typeface="Consolas"/>
                        <a:cs typeface="Consolas"/>
                        <a:sym typeface="Consola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public static void main(String[] args)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Main tree = new Main();</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Node root = new Node(6);</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root.left = new Node(10);</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root.right = new Node(2);</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root.left.left = new Node(1);</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root.left.right = new Node(3);</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root.right.right = new Node(12);</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root.right.left = new Node(7);</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System.out.println("Inorder traversal before correction:");</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tree.printInorder(root);</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System.out.println();</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tree.correctBST(root);</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System.out.println("Inorder traversal after correction:");</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GB" sz="1300" u="none" cap="none" strike="noStrike">
                          <a:solidFill>
                            <a:srgbClr val="000000"/>
                          </a:solidFill>
                          <a:latin typeface="Consolas"/>
                          <a:ea typeface="Consolas"/>
                          <a:cs typeface="Consolas"/>
                          <a:sym typeface="Consolas"/>
                        </a:rPr>
                        <a:t>        tree.printInorder(root);</a:t>
                      </a:r>
                      <a:endParaRPr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lang="en-GB" sz="1300" u="none" cap="none" strike="noStrike">
                          <a:solidFill>
                            <a:srgbClr val="000000"/>
                          </a:solidFill>
                          <a:latin typeface="Consolas"/>
                          <a:ea typeface="Consolas"/>
                          <a:cs typeface="Consolas"/>
                          <a:sym typeface="Consolas"/>
                        </a:rPr>
                        <a:t>    }}</a:t>
                      </a:r>
                      <a:endParaRPr sz="1300" u="none" cap="none" strike="noStrike">
                        <a:latin typeface="Consolas"/>
                        <a:ea typeface="Consolas"/>
                        <a:cs typeface="Consolas"/>
                        <a:sym typeface="Consolas"/>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243ccbddfa_0_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WINNER TREE</a:t>
            </a:r>
            <a:endParaRPr b="0" i="0" sz="1700" u="none" cap="none" strike="noStrike">
              <a:solidFill>
                <a:srgbClr val="6D9EEB"/>
              </a:solidFill>
              <a:latin typeface="Roboto Black"/>
              <a:ea typeface="Roboto Black"/>
              <a:cs typeface="Roboto Black"/>
              <a:sym typeface="Roboto Black"/>
            </a:endParaRPr>
          </a:p>
        </p:txBody>
      </p:sp>
      <p:sp>
        <p:nvSpPr>
          <p:cNvPr id="216" name="Google Shape;216;g3243ccbddfa_0_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Time Complexity: O(n), where n is the number of nodes in the BST, as it performs an inorder traversal of the entire tree.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Space Complexity: O(1) because it uses constant space, making it memory-efficient.</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217" name="Google Shape;217;g3243ccbddfa_0_8"/>
          <p:cNvSpPr txBox="1"/>
          <p:nvPr/>
        </p:nvSpPr>
        <p:spPr>
          <a:xfrm>
            <a:off x="172449" y="1053975"/>
            <a:ext cx="627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TIME AND SPACE COMPLEXITY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243ccbddfa_0_23"/>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WINNER TREE</a:t>
            </a:r>
            <a:endParaRPr b="0" i="0" sz="1700" u="none" cap="none" strike="noStrike">
              <a:solidFill>
                <a:srgbClr val="6D9EEB"/>
              </a:solidFill>
              <a:latin typeface="Roboto Black"/>
              <a:ea typeface="Roboto Black"/>
              <a:cs typeface="Roboto Black"/>
              <a:sym typeface="Roboto Black"/>
            </a:endParaRPr>
          </a:p>
        </p:txBody>
      </p:sp>
      <p:sp>
        <p:nvSpPr>
          <p:cNvPr id="223" name="Google Shape;223;g3243ccbddfa_0_23"/>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Morris Traversal is preferred when space efficiency is critical, as it uses constant space.</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Two-Pointer Approach may have higher space complexity, especially in skewed trees.</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Both methods have the same time complexity of O(n) for traversal.</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Overall, Morris Traversal is generally the better choice when memory constraints are important.</a:t>
            </a:r>
            <a:endParaRPr b="0" i="0" sz="1600" u="none" cap="none" strike="noStrike">
              <a:solidFill>
                <a:schemeClr val="dk1"/>
              </a:solidFill>
              <a:latin typeface="Arial"/>
              <a:ea typeface="Arial"/>
              <a:cs typeface="Arial"/>
              <a:sym typeface="Arial"/>
            </a:endParaRPr>
          </a:p>
          <a:p>
            <a:pPr indent="-273050" lvl="0" marL="285750" marR="0" rtl="0" algn="l">
              <a:lnSpc>
                <a:spcPct val="150000"/>
              </a:lnSpc>
              <a:spcBef>
                <a:spcPts val="0"/>
              </a:spcBef>
              <a:spcAft>
                <a:spcPts val="0"/>
              </a:spcAft>
              <a:buClr>
                <a:schemeClr val="dk1"/>
              </a:buClr>
              <a:buSzPts val="1600"/>
              <a:buFont typeface="Consolas"/>
              <a:buChar char="•"/>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224" name="Google Shape;224;g3243ccbddfa_0_23"/>
          <p:cNvSpPr txBox="1"/>
          <p:nvPr/>
        </p:nvSpPr>
        <p:spPr>
          <a:xfrm>
            <a:off x="172449" y="1053975"/>
            <a:ext cx="5214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COMPARISON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1fdec52c72_0_30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30" name="Google Shape;230;g31fdec52c72_0_308"/>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1. What is the purpose of recovering a BST in an interview context?</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31" name="Google Shape;231;g31fdec52c72_0_308"/>
          <p:cNvSpPr txBox="1"/>
          <p:nvPr/>
        </p:nvSpPr>
        <p:spPr>
          <a:xfrm>
            <a:off x="436323" y="1779900"/>
            <a:ext cx="7492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goal of recovering a BST in an interview is to demonstrate your understanding of algorithms and data structures. It tests your ability to identify and correct issues in a binary search tree, which is a common problem-solving skill.</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37" name="Google Shape;237;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2. Can you explain a common scenario where a BST needs to be recovered?</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38" name="Google Shape;238;g3243a3cdda7_0_819"/>
          <p:cNvSpPr txBox="1"/>
          <p:nvPr/>
        </p:nvSpPr>
        <p:spPr>
          <a:xfrm>
            <a:off x="436325" y="1779900"/>
            <a:ext cx="80868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A common scenario is when two nodes in a BST are swapped or when their values are incorrect. Recovering the BST means restoring the tree's properties so that it becomes a valid BST.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1"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44" name="Google Shape;244;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3. What are the primary approaches for recovering a corrupted BST, and how do they work?</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45" name="Google Shape;245;g3243a3cdda7_0_825"/>
          <p:cNvSpPr txBox="1"/>
          <p:nvPr/>
        </p:nvSpPr>
        <p:spPr>
          <a:xfrm>
            <a:off x="436323" y="1779900"/>
            <a:ext cx="74922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Two primary approaches are the Inorder Traversal with Two-Pointer Approach and Morris Traversal. They both identify incorrectly placed nodes by traversing the tree in a specific way and then swap their values to recover the BST.</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51" name="Google Shape;251;g3243a3cdda7_0_831"/>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4. Explain the concept of Morris Traversal in the context of recovering a BST.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52" name="Google Shape;252;g3243a3cdda7_0_831"/>
          <p:cNvSpPr txBox="1"/>
          <p:nvPr/>
        </p:nvSpPr>
        <p:spPr>
          <a:xfrm>
            <a:off x="436323" y="1779900"/>
            <a:ext cx="74922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Answer: Morris Traversal is an efficient method for recovering a BST with constant space usage. It uses threaded binary trees to traverse the tree without using additional space. It identifies incorrectly placed nodes during traversal and corrects them.</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243a3cdda7_0_837"/>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58" name="Google Shape;258;g3243a3cdda7_0_837"/>
          <p:cNvSpPr txBox="1"/>
          <p:nvPr/>
        </p:nvSpPr>
        <p:spPr>
          <a:xfrm>
            <a:off x="0" y="1170000"/>
            <a:ext cx="8470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1000"/>
              </a:spcBef>
              <a:spcAft>
                <a:spcPts val="0"/>
              </a:spcAft>
              <a:buClr>
                <a:schemeClr val="dk1"/>
              </a:buClr>
              <a:buSzPts val="2000"/>
              <a:buFont typeface="Arial"/>
              <a:buNone/>
            </a:pPr>
            <a:r>
              <a:rPr b="0" i="1" lang="en-GB" sz="1600" u="none" cap="none" strike="noStrike">
                <a:solidFill>
                  <a:srgbClr val="FF0000"/>
                </a:solidFill>
                <a:latin typeface="Consolas"/>
                <a:ea typeface="Consolas"/>
                <a:cs typeface="Consolas"/>
                <a:sym typeface="Consolas"/>
              </a:rPr>
              <a:t>5.Are winner trees limited to numeric values, or can they handle other types of data?</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5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5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59" name="Google Shape;259;g3243a3cdda7_0_837"/>
          <p:cNvSpPr txBox="1"/>
          <p:nvPr/>
        </p:nvSpPr>
        <p:spPr>
          <a:xfrm>
            <a:off x="436323" y="1779900"/>
            <a:ext cx="74922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Answer: Winner trees are versatile and can handle various data types, not limited to numeric values. The comparison criteria used to determine winners can be adapted for different data types.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65" name="Google Shape;265;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66" name="Google Shape;266;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72" name="Google Shape;272;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73" name="Google Shape;273;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74" name="Google Shape;274;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75" name="Google Shape;275;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76" name="Google Shape;276;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77" name="Google Shape;277;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78" name="Google Shape;278;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79" name="Google Shape;279;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80" name="Google Shape;280;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81" name="Google Shape;281;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82" name="Google Shape;282;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