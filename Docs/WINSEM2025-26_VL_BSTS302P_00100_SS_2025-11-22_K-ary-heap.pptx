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744" r:id="rId2"/>
    <p:sldId id="260" r:id="rId3"/>
    <p:sldId id="749" r:id="rId4"/>
    <p:sldId id="358" r:id="rId5"/>
    <p:sldId id="745" r:id="rId6"/>
    <p:sldId id="746" r:id="rId7"/>
    <p:sldId id="747" r:id="rId8"/>
    <p:sldId id="28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97657-5A61-4D0D-A706-71F26DBC7598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618B5-82F2-4641-B5BF-FD013DBF03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724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Blank slide (Text Only)</a:t>
            </a:r>
          </a:p>
          <a:p>
            <a:r>
              <a:rPr lang="en-US" b="0" dirty="0"/>
              <a:t>Use this slide as an </a:t>
            </a:r>
            <a:r>
              <a:rPr lang="en-US" b="1" dirty="0"/>
              <a:t>extension of other slides</a:t>
            </a:r>
            <a:r>
              <a:rPr lang="en-US" b="0" dirty="0"/>
              <a:t>. Therefore, if the data doesn’t fit in any of the slides then put the extra data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13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33410-DE20-2049-C8AA-00ACCF8EE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5CD8E8-77DC-2CD0-9AFF-6118CA264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34D13-F042-EBD9-CB98-46D23E221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50814-5008-E5AA-97B1-84180985A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A9A30-8762-77EE-5DE5-8FC15B46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069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A55DC-DB96-AB05-CAD1-FD2AFAD09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F6B7B-752B-253D-EE6A-FA280642D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F0542-14E8-690D-A52A-270739516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FEC31-ACD3-58A3-088D-F35727549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485A2-B37A-6646-DE67-9D95AF5E0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131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1BE4-67AF-8B94-F298-B1BB4F5A9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79DA6-EA10-E636-444A-DA9959A9A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25911-985B-3AE6-75CD-2EBC73371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C12BF-E5C9-AAB0-6FFC-B31D3B49F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61B80-51AD-0638-06E2-72B52DF9B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670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C04D-A7E8-7CFE-7A80-F703617E5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BBAB6-D56D-AEA7-7614-3B858CD0E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32B0A-CD44-4EF8-A97D-B50611153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D9245-CA96-4D6A-FD93-84F9557A6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26CCF-99B9-BB7B-2A7E-D8680A37D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E56A8-2ED5-99EC-C653-D62B3433A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801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17D86-92C5-FB12-9326-FCBA00F9C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970CC-9FAA-74A9-E12C-F40C1AAE1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D5708-198E-4A9C-4F86-D3B3233AF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159D7E-7C6C-8A97-0DEB-E8DD2846A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29BD63-C138-4729-6FB8-EC6C7F1D2C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8F5917-7CD2-9D93-C2EB-AAB1D2B9A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DB6713-3902-43E4-6CE9-44E20D746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53DB7A-03B4-835E-CC0E-287F42A1F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603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28D2A-0DE1-31F7-526D-40661640E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87732A-2D4B-ADBC-BFE7-1790CF6F8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8051CF-BFDA-73B3-AA80-6552EC68B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49BDC-BAE1-2D2B-5D18-43F9A93C8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712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647AF0-A630-2F93-0A49-B775EA682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302E54-E94B-D636-B16B-7A813F080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0C9E3-45A8-CDA1-05F3-84BC798F5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185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5ED8C-A8CA-B229-CDC0-0E730F997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7AF1-83D4-EA7B-3F04-80E18B64D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4E0783-5207-256E-6D90-9E5B1927D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3DD0F-6BAE-D358-FA83-9D57407B5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9397C-5DF9-1004-AFB6-E7728A7D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F44081-349C-6921-7E68-59A73644B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201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B53A3-AEA7-2DE2-6D94-59B2F0DD0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25F9E7-571A-D756-0722-CB9BBE8F8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0B088-CC42-5AB1-3DDB-A94B3EF32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1B412-7CCB-F037-B0EB-ED49CB3CF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FC490A-5877-3215-FA35-BCE5627BE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AA2AE-3401-A971-5750-18D62F7AC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501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47880-583D-A351-35CF-9C19A2D02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8E68C-294D-B5FE-EF67-E87A18687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E1225-3052-6A55-FECA-14EC74A6E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2CC2C-143A-4675-B604-A0CFC9103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D5077-98FB-C784-07F1-38D71AF5F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743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87D826-6A14-8D56-9035-5E41B6F033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D383D-4D9D-997F-119B-720522205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968F6-28A0-2469-EE81-6E25965E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BF8DF-EF19-4F27-90F9-ADB67685C169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06B9F-D310-3DA4-5AAF-0FCEFE57C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56ED7-391E-557B-4EAE-DF2DE24E7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674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50B356-5D46-028E-1E1C-BDE552CAC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5AB21-A88C-1FAC-01BB-7C4DC0084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8E405-E4E3-6251-0F87-34ED9A065A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BF8DF-EF19-4F27-90F9-ADB67685C169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35D57-D4B5-0A83-33C9-178879463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533F5-FB0B-6C7A-2EFD-76890FA60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F1270-000C-4946-A264-D41A8B6E9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5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K-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ary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Heap</a:t>
            </a: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73E930-58B4-4FEC-8303-01C4F888F30D}"/>
              </a:ext>
            </a:extLst>
          </p:cNvPr>
          <p:cNvSpPr txBox="1"/>
          <p:nvPr/>
        </p:nvSpPr>
        <p:spPr>
          <a:xfrm>
            <a:off x="505257" y="547488"/>
            <a:ext cx="11052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Nunito Sans" panose="00000500000000000000" pitchFamily="2" charset="0"/>
              </a:rPr>
              <a:t>K – </a:t>
            </a:r>
            <a:r>
              <a:rPr lang="en-US" sz="4800" b="1" dirty="0" err="1">
                <a:latin typeface="Nunito Sans" panose="00000500000000000000" pitchFamily="2" charset="0"/>
              </a:rPr>
              <a:t>ary</a:t>
            </a:r>
            <a:r>
              <a:rPr lang="en-US" sz="4800" b="1" dirty="0">
                <a:latin typeface="Nunito Sans" panose="00000500000000000000" pitchFamily="2" charset="0"/>
              </a:rPr>
              <a:t> heap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2402C5-EEE3-4E4E-9F3D-6E86B8323502}"/>
              </a:ext>
            </a:extLst>
          </p:cNvPr>
          <p:cNvSpPr/>
          <p:nvPr/>
        </p:nvSpPr>
        <p:spPr>
          <a:xfrm>
            <a:off x="634226" y="551586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BEBD92D8-D519-4E61-AB8A-9B598CBFE1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A53B6C-3042-597F-AE27-9A3C2F01F72B}"/>
              </a:ext>
            </a:extLst>
          </p:cNvPr>
          <p:cNvSpPr txBox="1"/>
          <p:nvPr/>
        </p:nvSpPr>
        <p:spPr>
          <a:xfrm>
            <a:off x="471981" y="1513272"/>
            <a:ext cx="1124803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latin typeface="Nunito Sans" panose="020B0604020202020204" charset="0"/>
              </a:rPr>
              <a:t>K-</a:t>
            </a:r>
            <a:r>
              <a:rPr lang="en-US" dirty="0" err="1">
                <a:latin typeface="Nunito Sans" panose="020B0604020202020204" charset="0"/>
              </a:rPr>
              <a:t>ary</a:t>
            </a:r>
            <a:r>
              <a:rPr lang="en-US" dirty="0">
                <a:latin typeface="Nunito Sans" panose="020B0604020202020204" charset="0"/>
              </a:rPr>
              <a:t> heaps are a generalization of binary heap(K=2) in which each node have K children instead of 2. Just like binary heap, it follows two properties:</a:t>
            </a:r>
          </a:p>
          <a:p>
            <a:pPr algn="l"/>
            <a:endParaRPr lang="en-US" dirty="0">
              <a:latin typeface="Nunito Sans" panose="020B0604020202020204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dirty="0">
                <a:latin typeface="Nunito Sans" panose="020B0604020202020204" charset="0"/>
              </a:rPr>
              <a:t>Nearly complete binary tree, with all levels having maximum number of nodes except the last, which is filled in left to right manner.</a:t>
            </a:r>
          </a:p>
          <a:p>
            <a:pPr marL="342900" indent="-342900" algn="l">
              <a:buFont typeface="+mj-lt"/>
              <a:buAutoNum type="arabicPeriod"/>
            </a:pPr>
            <a:endParaRPr lang="en-US" dirty="0">
              <a:latin typeface="Nunito Sans" panose="020B0604020202020204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dirty="0">
                <a:latin typeface="Nunito Sans" panose="020B0604020202020204" charset="0"/>
              </a:rPr>
              <a:t>Like Binary Heap, it can be divided into two categories: </a:t>
            </a:r>
          </a:p>
          <a:p>
            <a:pPr marL="342900" indent="-342900" algn="l">
              <a:buFont typeface="+mj-lt"/>
              <a:buAutoNum type="arabicPeriod"/>
            </a:pPr>
            <a:endParaRPr lang="en-US" dirty="0">
              <a:latin typeface="Nunito Sans" panose="020B060402020202020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latin typeface="Nunito Sans" panose="020B0604020202020204" charset="0"/>
              </a:rPr>
              <a:t>Max k-</a:t>
            </a:r>
            <a:r>
              <a:rPr lang="en-US" dirty="0" err="1">
                <a:latin typeface="Nunito Sans" panose="020B0604020202020204" charset="0"/>
              </a:rPr>
              <a:t>ary</a:t>
            </a:r>
            <a:r>
              <a:rPr lang="en-US" dirty="0">
                <a:latin typeface="Nunito Sans" panose="020B0604020202020204" charset="0"/>
              </a:rPr>
              <a:t> heap (key at root is greater than all descendants and same is recursively true for all nodes).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latin typeface="Nunito Sans" panose="020B0604020202020204" charset="0"/>
              </a:rPr>
              <a:t>Min k-</a:t>
            </a:r>
            <a:r>
              <a:rPr lang="en-US" dirty="0" err="1">
                <a:latin typeface="Nunito Sans" panose="020B0604020202020204" charset="0"/>
              </a:rPr>
              <a:t>ary</a:t>
            </a:r>
            <a:r>
              <a:rPr lang="en-US" dirty="0">
                <a:latin typeface="Nunito Sans" panose="020B0604020202020204" charset="0"/>
              </a:rPr>
              <a:t> heap (key at root is lesser than all descendants and same is recursively true for all nodes)</a:t>
            </a:r>
          </a:p>
        </p:txBody>
      </p:sp>
    </p:spTree>
    <p:extLst>
      <p:ext uri="{BB962C8B-B14F-4D97-AF65-F5344CB8AC3E}">
        <p14:creationId xmlns:p14="http://schemas.microsoft.com/office/powerpoint/2010/main" val="479585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Main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void main(String[] args)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final int capacity = 100;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int[]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int[capacity];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 = 4;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= 5;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[2] = 6;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[3] = 7;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[4] = 8;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[5] = 9;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[6] = 10;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n = 7;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k = 3;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buildHeap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n, k);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("Built Heap: ");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 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+ " ");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element = 3;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insert(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n, k, element);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n++;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("Heap after insertion of " +element + ": ");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 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+ " ");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("Extracted max is " +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extractMax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arr,n,k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n--;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("\n\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nHeap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after extract max: ");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 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+ " ");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void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buildHeap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(int[]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int n, int k)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 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(n - 1) / k;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--)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restoreDown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k);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void insert(int[]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int n, int k,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[n - 1]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restoreUp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 - 1, k);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extractMax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(int[]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int n, int k)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max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[n - 1];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restoreDown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 - 1, 0, k);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 max;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94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public static void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restoreDown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(int[]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int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int index, int k){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int[] child = new int[k + 1];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while (true) {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for (int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&lt;= k;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child[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]=(k*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index+i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&lt;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? (k*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index+i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: -1;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int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maxChild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-1,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maxChildIndex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for (int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&lt;= k;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if (child[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!= -1 &amp;&amp;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[child[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]] &gt;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maxChild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maxChildIndex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child[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maxChild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[child[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]];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}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if 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maxChild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== -1)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break;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if 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[index] &lt;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maxChildIndex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swap(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index,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maxChildIndex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index =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maxChildIndex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77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public static void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restoreUp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(int[]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int index, int k)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parent = (index - 1) / k;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while (parent &gt;= 0)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[index] &gt;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[parent])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swap(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index, parent);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index = parent;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parent = (index - 1) / k;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} else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break;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void swap(int[]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int j)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temp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 = temp;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361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1135</Words>
  <Application>Microsoft Office PowerPoint</Application>
  <PresentationFormat>Widescreen</PresentationFormat>
  <Paragraphs>190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2</cp:revision>
  <dcterms:created xsi:type="dcterms:W3CDTF">2024-01-16T15:21:43Z</dcterms:created>
  <dcterms:modified xsi:type="dcterms:W3CDTF">2024-01-17T04:47:58Z</dcterms:modified>
</cp:coreProperties>
</file>