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Roboto Black"/>
      <p:bold r:id="rId36"/>
      <p:boldItalic r:id="rId37"/>
    </p:embeddedFont>
    <p:embeddedFont>
      <p:font typeface="Robo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2" roundtripDataSignature="AMtx7mhAPRFP/xY6HaLaPUWr2C25y3Gg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D82DAE-6B18-49AC-9A45-A0E9A9A7F323}">
  <a:tblStyle styleId="{EDD82DAE-6B18-49AC-9A45-A0E9A9A7F32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3.xml"/><Relationship Id="rId42" Type="http://customschemas.google.com/relationships/presentationmetadata" Target="metadata"/><Relationship Id="rId41" Type="http://schemas.openxmlformats.org/officeDocument/2006/relationships/font" Target="fonts/Roboto-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Black-boldItalic.fntdata"/><Relationship Id="rId14" Type="http://schemas.openxmlformats.org/officeDocument/2006/relationships/slide" Target="slides/slide7.xml"/><Relationship Id="rId36" Type="http://schemas.openxmlformats.org/officeDocument/2006/relationships/font" Target="fonts/RobotoBlack-bold.fntdata"/><Relationship Id="rId17" Type="http://schemas.openxmlformats.org/officeDocument/2006/relationships/slide" Target="slides/slide10.xml"/><Relationship Id="rId39" Type="http://schemas.openxmlformats.org/officeDocument/2006/relationships/font" Target="fonts/Roboto-bold.fntdata"/><Relationship Id="rId16" Type="http://schemas.openxmlformats.org/officeDocument/2006/relationships/slide" Target="slides/slide9.xml"/><Relationship Id="rId38" Type="http://schemas.openxmlformats.org/officeDocument/2006/relationships/font" Target="fonts/Roboto-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f9056ea5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1f9056ea57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f9471b9df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1f9471b9df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f9471b9df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9" name="Google Shape;129;g31f9471b9df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f9471b9df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7" name="Google Shape;137;g31f9471b9df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f9471b9df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6" name="Google Shape;146;g31f9471b9df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f9471b9df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4" name="Google Shape;154;g31f9471b9df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f9471b9df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2" name="Google Shape;162;g31f9471b9df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1f9471b9df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0" name="Google Shape;170;g31f9471b9df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f9471b9df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8" name="Google Shape;178;g31f9471b9df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f9471b9df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6" name="Google Shape;186;g31f9471b9df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f9471b9df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4" name="Google Shape;194;g31f9471b9df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f9471b9df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2" name="Google Shape;202;g31f9471b9df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f9471b9df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0" name="Google Shape;210;g31f9471b9df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f9471b9df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7" name="Google Shape;217;g31f9471b9df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f9471b9df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4" name="Google Shape;224;g31f9471b9df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f9471b9df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1" name="Google Shape;231;g31f9471b9df_0_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f9471b9df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8" name="Google Shape;238;g31f9471b9df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f9471b9df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5" name="Google Shape;245;g31f9471b9df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f9471b9df_0_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3" name="Google Shape;253;g31f9471b9df_0_2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1f9471b9df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1" name="Google Shape;261;g31f9471b9df_0_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1f9471b9df_0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9" name="Google Shape;269;g31f9471b9df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f9471b9df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7" name="Google Shape;277;g31f9471b9df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1f9471b9df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85" name="Google Shape;285;g31f9471b9df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3.xml"/><Relationship Id="rId12" Type="http://schemas.openxmlformats.org/officeDocument/2006/relationships/slideLayout" Target="../slideLayouts/slideLayout20.xml"/><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9.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hyperlink" Target="https://learn.codemithra.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7.jp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B</a:t>
            </a:r>
            <a:r>
              <a:rPr b="1" lang="en-GB" sz="3200">
                <a:solidFill>
                  <a:schemeClr val="lt1"/>
                </a:solidFill>
                <a:latin typeface="Roboto"/>
                <a:ea typeface="Roboto"/>
                <a:cs typeface="Roboto"/>
                <a:sym typeface="Roboto"/>
              </a:rPr>
              <a:t>OUNDARY TRAVERSAL</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337fc5d25_0_216"/>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09" name="Google Shape;109;g14337fc5d25_0_216"/>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0" name="Google Shape;110;g14337fc5d25_0_216"/>
          <p:cNvSpPr txBox="1"/>
          <p:nvPr/>
        </p:nvSpPr>
        <p:spPr>
          <a:xfrm>
            <a:off x="436300" y="1363675"/>
            <a:ext cx="7932900" cy="29244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rgbClr val="000000"/>
              </a:buClr>
              <a:buSzPts val="1800"/>
              <a:buFont typeface="Arial"/>
              <a:buNone/>
            </a:pPr>
            <a:r>
              <a:rPr lang="en-GB" sz="1600">
                <a:latin typeface="Consolas"/>
                <a:ea typeface="Consolas"/>
                <a:cs typeface="Consolas"/>
                <a:sym typeface="Consolas"/>
              </a:rPr>
              <a:t>Boundary traversal refers to the process of visiting and processing the nodes of a tree or a graph that lie on the boundary or perimeter of the structure. In the context of binary trees, which are a common type of tree data structure, boundary traversal typically involves visiting the nodes in a specific order: the left boundary, the leaf nodes, and the right boundary.</a:t>
            </a:r>
            <a:endParaRPr sz="1600">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rPr b="1" i="1"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215900" lvl="0" marL="342900" marR="0" rtl="0" algn="l">
              <a:lnSpc>
                <a:spcPct val="150000"/>
              </a:lnSpc>
              <a:spcBef>
                <a:spcPts val="0"/>
              </a:spcBef>
              <a:spcAft>
                <a:spcPts val="0"/>
              </a:spcAft>
              <a:buClr>
                <a:srgbClr val="000000"/>
              </a:buClr>
              <a:buSzPts val="2000"/>
              <a:buFont typeface="Noto Sans Symbols"/>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1f9056ea57_0_2"/>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16" name="Google Shape;116;g31f9056ea57_0_2"/>
          <p:cNvSpPr txBox="1"/>
          <p:nvPr/>
        </p:nvSpPr>
        <p:spPr>
          <a:xfrm>
            <a:off x="485523" y="1057448"/>
            <a:ext cx="7159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Steps involved in boundary traversal of a binary tree:</a:t>
            </a:r>
            <a:endParaRPr b="1" i="0" sz="1800" u="none" cap="none" strike="noStrike">
              <a:solidFill>
                <a:srgbClr val="002060"/>
              </a:solidFill>
              <a:latin typeface="Consolas"/>
              <a:ea typeface="Consolas"/>
              <a:cs typeface="Consolas"/>
              <a:sym typeface="Consolas"/>
            </a:endParaRPr>
          </a:p>
        </p:txBody>
      </p:sp>
      <p:sp>
        <p:nvSpPr>
          <p:cNvPr id="117" name="Google Shape;117;g31f9056ea57_0_2"/>
          <p:cNvSpPr/>
          <p:nvPr/>
        </p:nvSpPr>
        <p:spPr>
          <a:xfrm>
            <a:off x="560850" y="1971375"/>
            <a:ext cx="7521600" cy="2061900"/>
          </a:xfrm>
          <a:prstGeom prst="rect">
            <a:avLst/>
          </a:prstGeom>
          <a:noFill/>
          <a:ln>
            <a:noFill/>
          </a:ln>
        </p:spPr>
        <p:txBody>
          <a:bodyPr anchorCtr="0" anchor="t" bIns="60925" lIns="121900" spcFirstLastPara="1" rIns="121900" wrap="square" tIns="60925">
            <a:noAutofit/>
          </a:bodyPr>
          <a:lstStyle/>
          <a:p>
            <a:pPr indent="-342900" lvl="0" marL="342900" marR="0" rtl="0" algn="l">
              <a:lnSpc>
                <a:spcPct val="100000"/>
              </a:lnSpc>
              <a:spcBef>
                <a:spcPts val="0"/>
              </a:spcBef>
              <a:spcAft>
                <a:spcPts val="0"/>
              </a:spcAft>
              <a:buClr>
                <a:srgbClr val="000000"/>
              </a:buClr>
              <a:buSzPts val="1800"/>
              <a:buFont typeface="Calibri"/>
              <a:buAutoNum type="arabicPeriod"/>
            </a:pPr>
            <a:r>
              <a:rPr b="0" i="0" lang="en-GB" sz="1800" u="none" cap="none" strike="noStrike">
                <a:solidFill>
                  <a:srgbClr val="000000"/>
                </a:solidFill>
                <a:latin typeface="Consolas"/>
                <a:ea typeface="Consolas"/>
                <a:cs typeface="Consolas"/>
                <a:sym typeface="Consolas"/>
              </a:rPr>
              <a:t>Left Boundary Traversal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Calibri"/>
              <a:buAutoNum type="arabicPeriod"/>
            </a:pPr>
            <a:r>
              <a:rPr b="0" i="0" lang="en-GB" sz="1800" u="none" cap="none" strike="noStrike">
                <a:solidFill>
                  <a:srgbClr val="000000"/>
                </a:solidFill>
                <a:latin typeface="Consolas"/>
                <a:ea typeface="Consolas"/>
                <a:cs typeface="Consolas"/>
                <a:sym typeface="Consolas"/>
              </a:rPr>
              <a:t>Leaf Node Traversal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Calibri"/>
              <a:buAutoNum type="arabicPeriod"/>
            </a:pPr>
            <a:r>
              <a:rPr b="0" i="0" lang="en-GB" sz="1800" u="none" cap="none" strike="noStrike">
                <a:solidFill>
                  <a:srgbClr val="000000"/>
                </a:solidFill>
                <a:latin typeface="Consolas"/>
                <a:ea typeface="Consolas"/>
                <a:cs typeface="Consolas"/>
                <a:sym typeface="Consolas"/>
              </a:rPr>
              <a:t>Right Boundary Traversal</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Calibri"/>
              <a:buNone/>
            </a:pPr>
            <a:r>
              <a:t/>
            </a:r>
            <a:endParaRPr b="1" i="0" sz="1800" u="none" cap="none" strike="noStrike">
              <a:solidFill>
                <a:srgbClr val="000000"/>
              </a:solidFill>
              <a:latin typeface="Consolas"/>
              <a:ea typeface="Consolas"/>
              <a:cs typeface="Consolas"/>
              <a:sym typeface="Consolas"/>
            </a:endParaRPr>
          </a:p>
          <a:p>
            <a:pPr indent="-228600" lvl="0" marL="342900" marR="0" rtl="0" algn="l">
              <a:lnSpc>
                <a:spcPct val="100000"/>
              </a:lnSpc>
              <a:spcBef>
                <a:spcPts val="0"/>
              </a:spcBef>
              <a:spcAft>
                <a:spcPts val="0"/>
              </a:spcAft>
              <a:buClr>
                <a:srgbClr val="000000"/>
              </a:buClr>
              <a:buSzPts val="1800"/>
              <a:buFont typeface="Calibri"/>
              <a:buNone/>
            </a:pPr>
            <a:r>
              <a:t/>
            </a:r>
            <a:endParaRPr b="1"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The order of these steps ensures that each node is visited exactly once, and the traversal covers the entire boundary of the binary tree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1f9471b9df_0_18"/>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23" name="Google Shape;123;g31f9471b9df_0_18"/>
          <p:cNvSpPr/>
          <p:nvPr/>
        </p:nvSpPr>
        <p:spPr>
          <a:xfrm>
            <a:off x="720725" y="1221550"/>
            <a:ext cx="2403000" cy="3920700"/>
          </a:xfrm>
          <a:prstGeom prst="rect">
            <a:avLst/>
          </a:prstGeom>
          <a:noFill/>
          <a:ln>
            <a:noFill/>
          </a:ln>
        </p:spPr>
        <p:txBody>
          <a:bodyPr anchorCtr="0" anchor="t" bIns="60925" lIns="121900" spcFirstLastPara="1" rIns="121900" wrap="square" tIns="60925">
            <a:no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1</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2   3</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4  5 6  7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
        <p:nvSpPr>
          <p:cNvPr id="124" name="Google Shape;124;g31f9471b9df_0_18"/>
          <p:cNvSpPr txBox="1"/>
          <p:nvPr/>
        </p:nvSpPr>
        <p:spPr>
          <a:xfrm>
            <a:off x="3290300" y="1615450"/>
            <a:ext cx="5567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u="sng">
                <a:solidFill>
                  <a:schemeClr val="dk1"/>
                </a:solidFill>
                <a:latin typeface="Consolas"/>
                <a:ea typeface="Consolas"/>
                <a:cs typeface="Consolas"/>
                <a:sym typeface="Consolas"/>
              </a:rPr>
              <a:t>Boundary Traversal:</a:t>
            </a:r>
            <a:endParaRPr>
              <a:solidFill>
                <a:schemeClr val="dk1"/>
              </a:solidFill>
            </a:endParaRPr>
          </a:p>
          <a:p>
            <a:pPr indent="0" lvl="0" marL="0" rtl="0" algn="l">
              <a:spcBef>
                <a:spcPts val="0"/>
              </a:spcBef>
              <a:spcAft>
                <a:spcPts val="0"/>
              </a:spcAft>
              <a:buNone/>
            </a:pPr>
            <a:r>
              <a:t/>
            </a:r>
            <a:endParaRPr b="1" sz="1800" u="sng">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Left Boundary:</a:t>
            </a:r>
            <a:r>
              <a:rPr lang="en-GB" sz="1800">
                <a:solidFill>
                  <a:schemeClr val="dk1"/>
                </a:solidFill>
                <a:latin typeface="Consolas"/>
                <a:ea typeface="Consolas"/>
                <a:cs typeface="Consolas"/>
                <a:sym typeface="Consolas"/>
              </a:rPr>
              <a:t> 1 → 2 → 4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Leaf Nodes:</a:t>
            </a:r>
            <a:r>
              <a:rPr lang="en-GB" sz="1800">
                <a:solidFill>
                  <a:schemeClr val="dk1"/>
                </a:solidFill>
                <a:latin typeface="Consolas"/>
                <a:ea typeface="Consolas"/>
                <a:cs typeface="Consolas"/>
                <a:sym typeface="Consolas"/>
              </a:rPr>
              <a:t> 4 → 5 → 6 → 7</a:t>
            </a:r>
            <a:endParaRPr>
              <a:solidFill>
                <a:schemeClr val="dk1"/>
              </a:solidFill>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Right Boundary:</a:t>
            </a:r>
            <a:r>
              <a:rPr lang="en-GB" sz="1800">
                <a:solidFill>
                  <a:schemeClr val="dk1"/>
                </a:solidFill>
                <a:latin typeface="Consolas"/>
                <a:ea typeface="Consolas"/>
                <a:cs typeface="Consolas"/>
                <a:sym typeface="Consolas"/>
              </a:rPr>
              <a:t> 7 → 3 → 1</a:t>
            </a:r>
            <a:endParaRPr>
              <a:solidFill>
                <a:schemeClr val="dk1"/>
              </a:solidFill>
            </a:endParaRPr>
          </a:p>
          <a:p>
            <a:pPr indent="0" lvl="0" marL="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Complete Order: </a:t>
            </a:r>
            <a:r>
              <a:rPr lang="en-GB" sz="1800">
                <a:solidFill>
                  <a:schemeClr val="dk1"/>
                </a:solidFill>
                <a:latin typeface="Consolas"/>
                <a:ea typeface="Consolas"/>
                <a:cs typeface="Consolas"/>
                <a:sym typeface="Consolas"/>
              </a:rPr>
              <a:t>1 → 2 → 4 → 5 → 6 → 7 → 3</a:t>
            </a:r>
            <a:endParaRPr/>
          </a:p>
        </p:txBody>
      </p:sp>
      <p:sp>
        <p:nvSpPr>
          <p:cNvPr id="125" name="Google Shape;125;g31f9471b9df_0_18"/>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 name="Google Shape;126;g31f9471b9df_0_18"/>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1f9471b9df_0_30"/>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32" name="Google Shape;132;g31f9471b9df_0_30"/>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 name="Google Shape;133;g31f9471b9df_0_30"/>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
        <p:nvSpPr>
          <p:cNvPr id="134" name="Google Shape;134;g31f9471b9df_0_30"/>
          <p:cNvSpPr/>
          <p:nvPr/>
        </p:nvSpPr>
        <p:spPr>
          <a:xfrm>
            <a:off x="2063875" y="865500"/>
            <a:ext cx="5262600" cy="42780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2    13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8 12  15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4   9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sng" cap="none" strike="noStrike">
                <a:solidFill>
                  <a:srgbClr val="000000"/>
                </a:solidFill>
                <a:latin typeface="Consolas"/>
                <a:ea typeface="Consolas"/>
                <a:cs typeface="Consolas"/>
                <a:sym typeface="Consolas"/>
              </a:rPr>
              <a:t>Boundary Traversal: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sng"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Left Boundary:</a:t>
            </a:r>
            <a:r>
              <a:rPr b="0" i="0" lang="en-GB" sz="1800" u="none" cap="none" strike="noStrike">
                <a:solidFill>
                  <a:srgbClr val="000000"/>
                </a:solidFill>
                <a:latin typeface="Consolas"/>
                <a:ea typeface="Consolas"/>
                <a:cs typeface="Consolas"/>
                <a:sym typeface="Consolas"/>
              </a:rPr>
              <a:t> 10 → 2 → 8 → 4    </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Leaf Nodes:</a:t>
            </a:r>
            <a:r>
              <a:rPr b="0" i="0" lang="en-GB" sz="1800" u="none" cap="none" strike="noStrike">
                <a:solidFill>
                  <a:srgbClr val="000000"/>
                </a:solidFill>
                <a:latin typeface="Consolas"/>
                <a:ea typeface="Consolas"/>
                <a:cs typeface="Consolas"/>
                <a:sym typeface="Consolas"/>
              </a:rPr>
              <a:t> 4 → 9 → 12 →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Right Boundary:</a:t>
            </a:r>
            <a:r>
              <a:rPr b="0" i="0" lang="en-GB" sz="1800" u="none" cap="none" strike="noStrike">
                <a:solidFill>
                  <a:srgbClr val="000000"/>
                </a:solidFill>
                <a:latin typeface="Consolas"/>
                <a:ea typeface="Consolas"/>
                <a:cs typeface="Consolas"/>
                <a:sym typeface="Consolas"/>
              </a:rPr>
              <a:t> 15 → 13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Complete Order: </a:t>
            </a:r>
            <a:r>
              <a:rPr b="0" i="0" lang="en-GB" sz="1800" u="none" cap="none" strike="noStrike">
                <a:solidFill>
                  <a:srgbClr val="000000"/>
                </a:solidFill>
                <a:latin typeface="Consolas"/>
                <a:ea typeface="Consolas"/>
                <a:cs typeface="Consolas"/>
                <a:sym typeface="Consolas"/>
              </a:rPr>
              <a:t>10 → 2 → 8 → 4 → 9 → 12 → 15 → 13</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1f9471b9df_0_38"/>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40" name="Google Shape;140;g31f9471b9df_0_38"/>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1" name="Google Shape;141;g31f9471b9df_0_38"/>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
        <p:nvSpPr>
          <p:cNvPr id="142" name="Google Shape;142;g31f9471b9df_0_38"/>
          <p:cNvSpPr/>
          <p:nvPr/>
        </p:nvSpPr>
        <p:spPr>
          <a:xfrm>
            <a:off x="599200" y="1053100"/>
            <a:ext cx="3127800" cy="35463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a:t>
            </a:r>
            <a:endParaRPr b="1"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1" sz="1800">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lang="en-GB" sz="1800">
                <a:latin typeface="Consolas"/>
                <a:ea typeface="Consolas"/>
                <a:cs typeface="Consolas"/>
                <a:sym typeface="Consolas"/>
              </a:rPr>
              <a:t>      </a:t>
            </a:r>
            <a:r>
              <a:rPr b="1" i="0" lang="en-GB" sz="1800" u="none" cap="none" strike="noStrike">
                <a:solidFill>
                  <a:srgbClr val="000000"/>
                </a:solidFill>
                <a:latin typeface="Consolas"/>
                <a:ea typeface="Consolas"/>
                <a:cs typeface="Consolas"/>
                <a:sym typeface="Consolas"/>
              </a:rPr>
              <a:t>  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3   10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1   6    14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Consolas"/>
                <a:ea typeface="Consolas"/>
                <a:cs typeface="Consolas"/>
                <a:sym typeface="Consolas"/>
              </a:rPr>
              <a:t>      4   7  13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sng"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1" sz="1800" u="sng">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1" sz="1800" u="sng">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
        <p:nvSpPr>
          <p:cNvPr id="143" name="Google Shape;143;g31f9471b9df_0_38"/>
          <p:cNvSpPr txBox="1"/>
          <p:nvPr/>
        </p:nvSpPr>
        <p:spPr>
          <a:xfrm>
            <a:off x="3727000" y="1371150"/>
            <a:ext cx="4531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u="sng">
                <a:solidFill>
                  <a:schemeClr val="dk1"/>
                </a:solidFill>
                <a:latin typeface="Consolas"/>
                <a:ea typeface="Consolas"/>
                <a:cs typeface="Consolas"/>
                <a:sym typeface="Consolas"/>
              </a:rPr>
              <a:t>Boundary Traversal:</a:t>
            </a:r>
            <a:endParaRPr>
              <a:solidFill>
                <a:schemeClr val="dk1"/>
              </a:solidFill>
            </a:endParaRPr>
          </a:p>
          <a:p>
            <a:pPr indent="0" lvl="0" marL="0" rtl="0" algn="l">
              <a:spcBef>
                <a:spcPts val="0"/>
              </a:spcBef>
              <a:spcAft>
                <a:spcPts val="0"/>
              </a:spcAft>
              <a:buNone/>
            </a:pPr>
            <a:r>
              <a:t/>
            </a:r>
            <a:endParaRPr b="1" sz="1800" u="sng">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Left Boundary:</a:t>
            </a:r>
            <a:r>
              <a:rPr lang="en-GB" sz="1800">
                <a:solidFill>
                  <a:schemeClr val="dk1"/>
                </a:solidFill>
                <a:latin typeface="Consolas"/>
                <a:ea typeface="Consolas"/>
                <a:cs typeface="Consolas"/>
                <a:sym typeface="Consolas"/>
              </a:rPr>
              <a:t> 8 → 3 → 1 → 6 → 4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Leaf Nodes:</a:t>
            </a:r>
            <a:r>
              <a:rPr lang="en-GB" sz="1800">
                <a:solidFill>
                  <a:schemeClr val="dk1"/>
                </a:solidFill>
                <a:latin typeface="Consolas"/>
                <a:ea typeface="Consolas"/>
                <a:cs typeface="Consolas"/>
                <a:sym typeface="Consolas"/>
              </a:rPr>
              <a:t> 4 → 7 → 13 → 14</a:t>
            </a:r>
            <a:endParaRPr>
              <a:solidFill>
                <a:schemeClr val="dk1"/>
              </a:solidFill>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Right Boundary:</a:t>
            </a:r>
            <a:r>
              <a:rPr lang="en-GB" sz="1800">
                <a:solidFill>
                  <a:schemeClr val="dk1"/>
                </a:solidFill>
                <a:latin typeface="Consolas"/>
                <a:ea typeface="Consolas"/>
                <a:cs typeface="Consolas"/>
                <a:sym typeface="Consolas"/>
              </a:rPr>
              <a:t> 14 → 10 → 8</a:t>
            </a:r>
            <a:endParaRPr>
              <a:solidFill>
                <a:schemeClr val="dk1"/>
              </a:solidFill>
            </a:endParaRPr>
          </a:p>
          <a:p>
            <a:pPr indent="0" lvl="0" marL="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b="1" lang="en-GB" sz="1800">
                <a:solidFill>
                  <a:schemeClr val="dk1"/>
                </a:solidFill>
                <a:latin typeface="Consolas"/>
                <a:ea typeface="Consolas"/>
                <a:cs typeface="Consolas"/>
                <a:sym typeface="Consolas"/>
              </a:rPr>
              <a:t>Complete Order: </a:t>
            </a:r>
            <a:r>
              <a:rPr lang="en-GB" sz="1800">
                <a:solidFill>
                  <a:schemeClr val="dk1"/>
                </a:solidFill>
                <a:latin typeface="Consolas"/>
                <a:ea typeface="Consolas"/>
                <a:cs typeface="Consolas"/>
                <a:sym typeface="Consolas"/>
              </a:rPr>
              <a:t>8 → 3 → 1 → 6 → 4 → 7 → 13 → 14 → 10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1f9471b9df_0_50"/>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49" name="Google Shape;149;g31f9471b9df_0_50"/>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 name="Google Shape;150;g31f9471b9df_0_50"/>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51" name="Google Shape;151;g31f9471b9df_0_50"/>
          <p:cNvSpPr/>
          <p:nvPr/>
        </p:nvSpPr>
        <p:spPr>
          <a:xfrm>
            <a:off x="740150" y="1439875"/>
            <a:ext cx="8403900" cy="3447000"/>
          </a:xfrm>
          <a:prstGeom prst="rect">
            <a:avLst/>
          </a:prstGeom>
          <a:noFill/>
          <a:ln>
            <a:noFill/>
          </a:ln>
        </p:spPr>
        <p:txBody>
          <a:bodyPr anchorCtr="0" anchor="t" bIns="60925" lIns="121900" spcFirstLastPara="1" rIns="121900" wrap="square" tIns="60925">
            <a:noAutofit/>
          </a:bodyPr>
          <a:lstStyle/>
          <a:p>
            <a:pPr indent="0" lvl="0" marL="0" marR="0" rtl="0" algn="l">
              <a:lnSpc>
                <a:spcPct val="2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1. Input:</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The root of the binary tree.</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2. Output:</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Print the boundary nodes of the binary tree in an</a:t>
            </a:r>
            <a:r>
              <a:rPr lang="en-GB" sz="1600">
                <a:latin typeface="Consolas"/>
                <a:ea typeface="Consolas"/>
                <a:cs typeface="Consolas"/>
                <a:sym typeface="Consolas"/>
              </a:rPr>
              <a:t> </a:t>
            </a:r>
            <a:r>
              <a:rPr b="0" i="0" lang="en-GB" sz="1600" u="none" cap="none" strike="noStrike">
                <a:solidFill>
                  <a:srgbClr val="000000"/>
                </a:solidFill>
                <a:latin typeface="Consolas"/>
                <a:ea typeface="Consolas"/>
                <a:cs typeface="Consolas"/>
                <a:sym typeface="Consolas"/>
              </a:rPr>
              <a:t>anticlockwise direction.</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1f9471b9df_0_59"/>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57" name="Google Shape;157;g31f9471b9df_0_59"/>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 name="Google Shape;158;g31f9471b9df_0_59"/>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59" name="Google Shape;159;g31f9471b9df_0_59"/>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3. Procedure:</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the root is not null, do the following:</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1. Print the value of the root node.</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2. Call `printLeftBoundary` with the left child of the root, excluding the leftmost leaf.</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3. Call `printLeaves` with the root's left and right children to print the leaves in a lefttoright order.</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4. Call `printRightBoundary` with the right child of the root, excluding the rightmost leaf.</a:t>
            </a:r>
            <a:endParaRPr sz="1600">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1f9471b9df_0_66"/>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65" name="Google Shape;165;g31f9471b9df_0_66"/>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 name="Google Shape;166;g31f9471b9df_0_66"/>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67" name="Google Shape;167;g31f9471b9df_0_66"/>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4. printLeftBoundary(node):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the node is not null and is not a leaf:</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1. Print the value of the 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2. Recursively call `printLeftBoundary` with the left child of the 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3. If the left child is null, recursively call `printLeftBoundary` with the right child of the node.</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1f9471b9df_0_73"/>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73" name="Google Shape;173;g31f9471b9df_0_73"/>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4" name="Google Shape;174;g31f9471b9df_0_73"/>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75" name="Google Shape;175;g31f9471b9df_0_73"/>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5. printRightBoundary(node):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the node is not null and is not a leaf:</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1. If the right child is null, recursively call `printRightBoundary` with the left child of the 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2. Recursively call `printRightBoundary` with the right child of the node.</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1f9471b9df_0_80"/>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81" name="Google Shape;181;g31f9471b9df_0_80"/>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 name="Google Shape;182;g31f9471b9df_0_80"/>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83" name="Google Shape;183;g31f9471b9df_0_80"/>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6. printLeaves(node):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If the node is not null:</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1. Recursively call `printLeaves` with the left child of the 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2. If the node is a leaf, print its value.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3. Recursively call `printLeaves` with the right child of the 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1f9471b9df_0_87"/>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89" name="Google Shape;189;g31f9471b9df_0_87"/>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0" name="Google Shape;190;g31f9471b9df_0_87"/>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Pseudocode</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91" name="Google Shape;191;g31f9471b9df_0_87"/>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procedure boundaryTraversal(root):</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root is not null:</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print root.val</a:t>
            </a:r>
            <a:endParaRPr sz="1600">
              <a:solidFill>
                <a:schemeClr val="dk1"/>
              </a:solidFill>
              <a:latin typeface="Consolas"/>
              <a:ea typeface="Consolas"/>
              <a:cs typeface="Consolas"/>
              <a:sym typeface="Consolas"/>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printLeftBoundary(root.left)</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printLeaves(root.left)</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printLeaves(root.right)</a:t>
            </a:r>
            <a:endParaRPr sz="1600">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printRightBoundary(root.right)</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1f9471b9df_0_94"/>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197" name="Google Shape;197;g31f9471b9df_0_94"/>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 name="Google Shape;198;g31f9471b9df_0_94"/>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Pseudocode</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99" name="Google Shape;199;g31f9471b9df_0_94"/>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procedure printLeftBoundary(node):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if node is not null and not isLeaf(node):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 node.val</a:t>
            </a:r>
            <a:endParaRPr sz="1800">
              <a:solidFill>
                <a:schemeClr val="dk1"/>
              </a:solidFill>
              <a:latin typeface="Consolas"/>
              <a:ea typeface="Consolas"/>
              <a:cs typeface="Consolas"/>
              <a:sym typeface="Consolas"/>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printLeftBoundary(node.left)</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if node.left is null:</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printLeftBoundary(node.right)</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1f9471b9df_0_113"/>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205" name="Google Shape;205;g31f9471b9df_0_113"/>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 name="Google Shape;206;g31f9471b9df_0_113"/>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Psedocode</a:t>
            </a:r>
            <a:r>
              <a:rPr b="1" i="0" lang="en-GB" sz="1800" u="none" cap="none" strike="noStrike">
                <a:solidFill>
                  <a:srgbClr val="00206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07" name="Google Shape;207;g31f9471b9df_0_113"/>
          <p:cNvSpPr/>
          <p:nvPr/>
        </p:nvSpPr>
        <p:spPr>
          <a:xfrm>
            <a:off x="740150" y="1346975"/>
            <a:ext cx="8403900" cy="3447000"/>
          </a:xfrm>
          <a:prstGeom prst="rect">
            <a:avLst/>
          </a:prstGeom>
          <a:noFill/>
          <a:ln>
            <a:noFill/>
          </a:ln>
        </p:spPr>
        <p:txBody>
          <a:bodyPr anchorCtr="0" anchor="t" bIns="60925" lIns="121900" spcFirstLastPara="1" rIns="121900" wrap="square" tIns="60925">
            <a:noAutofit/>
          </a:bodyPr>
          <a:lstStyle/>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procedure printRightBoundary(node):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if node is not null and not isLeaf(node):</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if node.right is null:</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printRightBoundary(node.left)</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printRightBoundary(node.right)</a:t>
            </a:r>
            <a:endParaRPr>
              <a:solidFill>
                <a:schemeClr val="dk1"/>
              </a:solidFill>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        print node.val</a:t>
            </a:r>
            <a:endParaRPr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1f9471b9df_0_120"/>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 name="Google Shape;213;g31f9471b9df_0_120"/>
          <p:cNvSpPr txBox="1"/>
          <p:nvPr/>
        </p:nvSpPr>
        <p:spPr>
          <a:xfrm>
            <a:off x="2413850" y="293200"/>
            <a:ext cx="521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METHOD-Approach 01 </a:t>
            </a:r>
            <a:endParaRPr b="0" i="0" sz="1800" u="none" cap="none" strike="noStrike">
              <a:solidFill>
                <a:srgbClr val="6D9EEB"/>
              </a:solidFill>
              <a:latin typeface="Roboto Black"/>
              <a:ea typeface="Roboto Black"/>
              <a:cs typeface="Roboto Black"/>
              <a:sym typeface="Roboto Black"/>
            </a:endParaRPr>
          </a:p>
        </p:txBody>
      </p:sp>
      <p:graphicFrame>
        <p:nvGraphicFramePr>
          <p:cNvPr id="214" name="Google Shape;214;g31f9471b9df_0_120"/>
          <p:cNvGraphicFramePr/>
          <p:nvPr/>
        </p:nvGraphicFramePr>
        <p:xfrm>
          <a:off x="188150" y="672900"/>
          <a:ext cx="3000000" cy="3000000"/>
        </p:xfrm>
        <a:graphic>
          <a:graphicData uri="http://schemas.openxmlformats.org/drawingml/2006/table">
            <a:tbl>
              <a:tblPr>
                <a:noFill/>
                <a:tableStyleId>{EDD82DAE-6B18-49AC-9A45-A0E9A9A7F323}</a:tableStyleId>
              </a:tblPr>
              <a:tblGrid>
                <a:gridCol w="4376900"/>
                <a:gridCol w="4376900"/>
              </a:tblGrid>
              <a:tr h="3757875">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class TreeNode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int val;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TreeNode left, right;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public TreeNode(int val)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this.val = val;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this.left = this.right = null;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600"/>
                        <a:buFont typeface="Arial"/>
                        <a:buNone/>
                      </a:pPr>
                      <a:r>
                        <a:rPr lang="en-GB">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public class Main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private static void printLeftBoundary(TreeNode root)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if (root == null || (root.left == null &amp;&amp; root.right == null))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return;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System.out.print(root.val + "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if (root.left != null)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printLeftBoundary(root.left);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else {</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a:t>
                      </a:r>
                      <a:r>
                        <a:rPr lang="en-GB">
                          <a:solidFill>
                            <a:schemeClr val="dk1"/>
                          </a:solidFill>
                          <a:latin typeface="Consolas"/>
                          <a:ea typeface="Consolas"/>
                          <a:cs typeface="Consolas"/>
                          <a:sym typeface="Consolas"/>
                        </a:rPr>
                        <a:t>printLeftBoundary(root.right);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private static void printLeaves(TreeNode root)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if (root == null)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return;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if (root.left == null &amp;&amp; root.right == null)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System.out.print(root.val + "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return;</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f9471b9df_0_127"/>
          <p:cNvSpPr txBox="1"/>
          <p:nvPr/>
        </p:nvSpPr>
        <p:spPr>
          <a:xfrm>
            <a:off x="2413850" y="445600"/>
            <a:ext cx="521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METHOD-Approach 01 </a:t>
            </a:r>
            <a:endParaRPr b="0" i="0" sz="1800" u="none" cap="none" strike="noStrike">
              <a:solidFill>
                <a:srgbClr val="6D9EEB"/>
              </a:solidFill>
              <a:latin typeface="Roboto Black"/>
              <a:ea typeface="Roboto Black"/>
              <a:cs typeface="Roboto Black"/>
              <a:sym typeface="Roboto Black"/>
            </a:endParaRPr>
          </a:p>
        </p:txBody>
      </p:sp>
      <p:sp>
        <p:nvSpPr>
          <p:cNvPr id="220" name="Google Shape;220;g31f9471b9df_0_127"/>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 name="Google Shape;221;g31f9471b9df_0_127"/>
          <p:cNvSpPr txBox="1"/>
          <p:nvPr/>
        </p:nvSpPr>
        <p:spPr>
          <a:xfrm>
            <a:off x="1886525" y="1215775"/>
            <a:ext cx="4752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Consolas"/>
                <a:ea typeface="Consolas"/>
                <a:cs typeface="Consolas"/>
                <a:sym typeface="Consolas"/>
              </a:rPr>
              <a:t>   printLeaves(root.left);</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printLeaves(root.right);</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private static void printRightBoundary(TreeNode root) {</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if (root == null || (root.left == null &amp;&amp; root.right == null)) {</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return;</a:t>
            </a:r>
            <a:endParaRPr sz="1600">
              <a:solidFill>
                <a:schemeClr val="dk1"/>
              </a:solidFill>
              <a:latin typeface="Consolas"/>
              <a:ea typeface="Consolas"/>
              <a:cs typeface="Consolas"/>
              <a:sym typeface="Consolas"/>
            </a:endParaRPr>
          </a:p>
          <a:p>
            <a:pPr indent="0" lvl="0" marL="0" rtl="0" algn="l">
              <a:spcBef>
                <a:spcPts val="0"/>
              </a:spcBef>
              <a:spcAft>
                <a:spcPts val="0"/>
              </a:spcAft>
              <a:buNone/>
            </a:pPr>
            <a:r>
              <a:rPr lang="en-GB" sz="1600">
                <a:solidFill>
                  <a:schemeClr val="dk1"/>
                </a:solidFill>
                <a:latin typeface="Consolas"/>
                <a:ea typeface="Consolas"/>
                <a:cs typeface="Consolas"/>
                <a:sym typeface="Consolas"/>
              </a:rPr>
              <a:t>        }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1f9471b9df_0_217"/>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 name="Google Shape;227;g31f9471b9df_0_217"/>
          <p:cNvSpPr txBox="1"/>
          <p:nvPr/>
        </p:nvSpPr>
        <p:spPr>
          <a:xfrm>
            <a:off x="2413850" y="293200"/>
            <a:ext cx="521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METHOD-Approach 01 </a:t>
            </a:r>
            <a:endParaRPr b="0" i="0" sz="1800" u="none" cap="none" strike="noStrike">
              <a:solidFill>
                <a:srgbClr val="6D9EEB"/>
              </a:solidFill>
              <a:latin typeface="Roboto Black"/>
              <a:ea typeface="Roboto Black"/>
              <a:cs typeface="Roboto Black"/>
              <a:sym typeface="Roboto Black"/>
            </a:endParaRPr>
          </a:p>
        </p:txBody>
      </p:sp>
      <p:graphicFrame>
        <p:nvGraphicFramePr>
          <p:cNvPr id="228" name="Google Shape;228;g31f9471b9df_0_217"/>
          <p:cNvGraphicFramePr/>
          <p:nvPr/>
        </p:nvGraphicFramePr>
        <p:xfrm>
          <a:off x="188150" y="672900"/>
          <a:ext cx="3000000" cy="3000000"/>
        </p:xfrm>
        <a:graphic>
          <a:graphicData uri="http://schemas.openxmlformats.org/drawingml/2006/table">
            <a:tbl>
              <a:tblPr>
                <a:noFill/>
                <a:tableStyleId>{EDD82DAE-6B18-49AC-9A45-A0E9A9A7F323}</a:tableStyleId>
              </a:tblPr>
              <a:tblGrid>
                <a:gridCol w="4376900"/>
                <a:gridCol w="4376900"/>
              </a:tblGrid>
              <a:tr h="3757875">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if (root.right != null)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printRightBoundary(root.right);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 else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printRightBoundary(root.left);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System.out.print(root.val + "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public static void boundaryTraversal(TreeNode root)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if (root == null)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return;</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System.out.print(root.val + "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printLeftBoundary(root.left);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printLeaves(root.left);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printLeaves(root.right);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printRightBoundary(root.right);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public static void main(String[] args)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TreeNode root = new TreeNode(8);</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root.left = new TreeNode(3);</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root.right = new TreeNode(10);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root.left.left = new TreeNode(1);</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root.left.right = new TreeNode(6);</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root.left.right.left = new TreeNode(4);</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root.left.right.right = new TreeNode(7);            root.right.right = new TreeNode(14);</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root.right.right.left = new TreeNode(13);        boundaryTraversal(root);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800"/>
                        <a:buFont typeface="Arial"/>
                        <a:buNone/>
                      </a:pPr>
                      <a:r>
                        <a:rPr lang="en-GB">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1f9471b9df_0_223"/>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4" name="Google Shape;234;g31f9471b9df_0_223"/>
          <p:cNvSpPr txBox="1"/>
          <p:nvPr/>
        </p:nvSpPr>
        <p:spPr>
          <a:xfrm>
            <a:off x="2413850" y="293200"/>
            <a:ext cx="521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METHOD-Approach 01 </a:t>
            </a:r>
            <a:endParaRPr b="0" i="0" sz="1800" u="none" cap="none" strike="noStrike">
              <a:solidFill>
                <a:srgbClr val="6D9EEB"/>
              </a:solidFill>
              <a:latin typeface="Roboto Black"/>
              <a:ea typeface="Roboto Black"/>
              <a:cs typeface="Roboto Black"/>
              <a:sym typeface="Roboto Black"/>
            </a:endParaRPr>
          </a:p>
        </p:txBody>
      </p:sp>
      <p:graphicFrame>
        <p:nvGraphicFramePr>
          <p:cNvPr id="235" name="Google Shape;235;g31f9471b9df_0_223"/>
          <p:cNvGraphicFramePr/>
          <p:nvPr/>
        </p:nvGraphicFramePr>
        <p:xfrm>
          <a:off x="188150" y="672900"/>
          <a:ext cx="3000000" cy="3000000"/>
        </p:xfrm>
        <a:graphic>
          <a:graphicData uri="http://schemas.openxmlformats.org/drawingml/2006/table">
            <a:tbl>
              <a:tblPr>
                <a:noFill/>
                <a:tableStyleId>{EDD82DAE-6B18-49AC-9A45-A0E9A9A7F323}</a:tableStyleId>
              </a:tblPr>
              <a:tblGrid>
                <a:gridCol w="4376900"/>
                <a:gridCol w="4376900"/>
              </a:tblGrid>
              <a:tr h="4470600">
                <a:tc>
                  <a:txBody>
                    <a:bodyPr/>
                    <a:lstStyle/>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class TreeNode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int val;</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TreeNode left, right;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public TreeNode(int value)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val = value;</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left = right = null;</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public class BinaryTreeBoundaryTraversal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private static void printLeaves(TreeNode root)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if (root != null)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printLeaves(root.left);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if (root.left == null &amp;&amp; root.right == null) System.out.print(root.val + "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a:p>
                  </a:txBody>
                  <a:tcPr marT="91425" marB="91425" marR="91425" marL="91425"/>
                </a:tc>
                <a:tc>
                  <a:txBody>
                    <a:bodyPr/>
                    <a:lstStyle/>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printLeaves(root.right);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public static void boundaryTraversal(TreeNode root)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if (root != null)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System.out.print(root.val + "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printLeaves(root.left);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printLeaves(root.right);</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public static void main(String[] args) {</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 Constructing the example tree</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TreeNode root = new TreeNode(8);</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root.left = new TreeNode(3);</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root.right = new TreeNode(10);</a:t>
                      </a:r>
                      <a:endParaRPr b="1">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GB">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1f9471b9df_0_134"/>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1" name="Google Shape;241;g31f9471b9df_0_134"/>
          <p:cNvSpPr txBox="1"/>
          <p:nvPr/>
        </p:nvSpPr>
        <p:spPr>
          <a:xfrm>
            <a:off x="2413850" y="445600"/>
            <a:ext cx="521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METHOD-Approach 01 </a:t>
            </a:r>
            <a:endParaRPr b="0" i="0" sz="1800" u="none" cap="none" strike="noStrike">
              <a:solidFill>
                <a:srgbClr val="6D9EEB"/>
              </a:solidFill>
              <a:latin typeface="Roboto Black"/>
              <a:ea typeface="Roboto Black"/>
              <a:cs typeface="Roboto Black"/>
              <a:sym typeface="Roboto Black"/>
            </a:endParaRPr>
          </a:p>
        </p:txBody>
      </p:sp>
      <p:sp>
        <p:nvSpPr>
          <p:cNvPr id="242" name="Google Shape;242;g31f9471b9df_0_134"/>
          <p:cNvSpPr txBox="1"/>
          <p:nvPr/>
        </p:nvSpPr>
        <p:spPr>
          <a:xfrm>
            <a:off x="1431350" y="1221550"/>
            <a:ext cx="56943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Consolas"/>
                <a:ea typeface="Consolas"/>
                <a:cs typeface="Consolas"/>
                <a:sym typeface="Consolas"/>
              </a:rPr>
              <a:t>        root.left.left = new TreeNode(1);</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root.left.right = new TreeNode(6);</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root.left.right.left = new TreeNode(4);</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root.left.right.right = new TreeNode(7);</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root.right.right = new TreeNode(14);</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root.right.right.left = new TreeNode(13);</a:t>
            </a:r>
            <a:endParaRPr b="1">
              <a:solidFill>
                <a:schemeClr val="lt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GB">
                <a:solidFill>
                  <a:schemeClr val="dk1"/>
                </a:solidFill>
                <a:latin typeface="Consolas"/>
                <a:ea typeface="Consolas"/>
                <a:cs typeface="Consolas"/>
                <a:sym typeface="Consolas"/>
              </a:rPr>
              <a:t>        // Calling the boundaryTraversal function</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boundaryTraversal(root);</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    }</a:t>
            </a:r>
            <a:endParaRPr b="1">
              <a:solidFill>
                <a:schemeClr val="lt1"/>
              </a:solidFill>
              <a:latin typeface="Calibri"/>
              <a:ea typeface="Calibri"/>
              <a:cs typeface="Calibri"/>
              <a:sym typeface="Calibri"/>
            </a:endParaRPr>
          </a:p>
          <a:p>
            <a:pPr indent="0" lvl="0" marL="0" rtl="0" algn="l">
              <a:spcBef>
                <a:spcPts val="0"/>
              </a:spcBef>
              <a:spcAft>
                <a:spcPts val="0"/>
              </a:spcAft>
              <a:buNone/>
            </a:pPr>
            <a:r>
              <a:rPr lang="en-GB">
                <a:solidFill>
                  <a:schemeClr val="dk1"/>
                </a:solidFill>
                <a:latin typeface="Consolas"/>
                <a:ea typeface="Consolas"/>
                <a:cs typeface="Consolas"/>
                <a:sym typeface="Consolas"/>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1f9471b9df_0_141"/>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248" name="Google Shape;248;g31f9471b9df_0_141"/>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 name="Google Shape;249;g31f9471b9df_0_141"/>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250" name="Google Shape;250;g31f9471b9df_0_141"/>
          <p:cNvSpPr/>
          <p:nvPr/>
        </p:nvSpPr>
        <p:spPr>
          <a:xfrm>
            <a:off x="739676" y="1412450"/>
            <a:ext cx="7219800" cy="3447000"/>
          </a:xfrm>
          <a:prstGeom prst="rect">
            <a:avLst/>
          </a:prstGeom>
          <a:noFill/>
          <a:ln>
            <a:noFill/>
          </a:ln>
        </p:spPr>
        <p:txBody>
          <a:bodyPr anchorCtr="0" anchor="t" bIns="60925" lIns="121900" spcFirstLastPara="1" rIns="121900" wrap="square" tIns="60925">
            <a:noAutofit/>
          </a:bodyPr>
          <a:lstStyle/>
          <a:p>
            <a:pPr indent="-273050" lvl="0" marL="285750" marR="0" rtl="0" algn="l">
              <a:lnSpc>
                <a:spcPct val="200000"/>
              </a:lnSpc>
              <a:spcBef>
                <a:spcPts val="0"/>
              </a:spcBef>
              <a:spcAft>
                <a:spcPts val="0"/>
              </a:spcAft>
              <a:buClr>
                <a:srgbClr val="000000"/>
              </a:buClr>
              <a:buSzPts val="1600"/>
              <a:buFont typeface="Noto Sans Symbols"/>
              <a:buChar char="⮚"/>
            </a:pPr>
            <a:r>
              <a:rPr b="0" i="0" lang="en-GB" sz="1600" u="none" cap="none" strike="noStrike">
                <a:solidFill>
                  <a:srgbClr val="000000"/>
                </a:solidFill>
                <a:latin typeface="Consolas"/>
                <a:ea typeface="Consolas"/>
                <a:cs typeface="Consolas"/>
                <a:sym typeface="Consolas"/>
              </a:rPr>
              <a:t>This Java code defines a binary tree node class and a program to perform boundary traversal of a binary tree. </a:t>
            </a:r>
            <a:endParaRPr b="0" i="0" sz="1600" u="none" cap="none" strike="noStrike">
              <a:solidFill>
                <a:srgbClr val="000000"/>
              </a:solidFill>
              <a:latin typeface="Arial"/>
              <a:ea typeface="Arial"/>
              <a:cs typeface="Arial"/>
              <a:sym typeface="Arial"/>
            </a:endParaRPr>
          </a:p>
          <a:p>
            <a:pPr indent="-273050" lvl="0" marL="285750" marR="0" rtl="0" algn="l">
              <a:lnSpc>
                <a:spcPct val="200000"/>
              </a:lnSpc>
              <a:spcBef>
                <a:spcPts val="0"/>
              </a:spcBef>
              <a:spcAft>
                <a:spcPts val="0"/>
              </a:spcAft>
              <a:buClr>
                <a:srgbClr val="000000"/>
              </a:buClr>
              <a:buSzPts val="1600"/>
              <a:buFont typeface="Noto Sans Symbols"/>
              <a:buChar char="⮚"/>
            </a:pPr>
            <a:r>
              <a:rPr b="0" i="0" lang="en-GB" sz="1600" u="none" cap="none" strike="noStrike">
                <a:solidFill>
                  <a:srgbClr val="000000"/>
                </a:solidFill>
                <a:latin typeface="Consolas"/>
                <a:ea typeface="Consolas"/>
                <a:cs typeface="Consolas"/>
                <a:sym typeface="Consolas"/>
              </a:rPr>
              <a:t>The boundaryTraversal method prints the root, left leaves, and right leaves, while the printLeaves method prints the leaf nodes. </a:t>
            </a:r>
            <a:endParaRPr b="0" i="0" sz="1600" u="none" cap="none" strike="noStrike">
              <a:solidFill>
                <a:srgbClr val="000000"/>
              </a:solidFill>
              <a:latin typeface="Arial"/>
              <a:ea typeface="Arial"/>
              <a:cs typeface="Arial"/>
              <a:sym typeface="Arial"/>
            </a:endParaRPr>
          </a:p>
          <a:p>
            <a:pPr indent="-273050" lvl="0" marL="285750" marR="0" rtl="0" algn="l">
              <a:lnSpc>
                <a:spcPct val="200000"/>
              </a:lnSpc>
              <a:spcBef>
                <a:spcPts val="0"/>
              </a:spcBef>
              <a:spcAft>
                <a:spcPts val="0"/>
              </a:spcAft>
              <a:buClr>
                <a:srgbClr val="000000"/>
              </a:buClr>
              <a:buSzPts val="1600"/>
              <a:buFont typeface="Noto Sans Symbols"/>
              <a:buChar char="⮚"/>
            </a:pPr>
            <a:r>
              <a:rPr b="0" i="0" lang="en-GB" sz="1600" u="none" cap="none" strike="noStrike">
                <a:solidFill>
                  <a:srgbClr val="000000"/>
                </a:solidFill>
                <a:latin typeface="Consolas"/>
                <a:ea typeface="Consolas"/>
                <a:cs typeface="Consolas"/>
                <a:sym typeface="Consolas"/>
              </a:rPr>
              <a:t>The main function constructs an example tree and calls the boundary traversal method.</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1f9471b9df_0_232"/>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OUNDARY TRAVERSAL METHOD</a:t>
            </a:r>
            <a:endParaRPr b="0" i="0" sz="1800" u="none" cap="none" strike="noStrike">
              <a:solidFill>
                <a:srgbClr val="6D9EEB"/>
              </a:solidFill>
              <a:latin typeface="Roboto Black"/>
              <a:ea typeface="Roboto Black"/>
              <a:cs typeface="Roboto Black"/>
              <a:sym typeface="Roboto Black"/>
            </a:endParaRPr>
          </a:p>
        </p:txBody>
      </p:sp>
      <p:sp>
        <p:nvSpPr>
          <p:cNvPr id="256" name="Google Shape;256;g31f9471b9df_0_232"/>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7" name="Google Shape;257;g31f9471b9df_0_232"/>
          <p:cNvSpPr txBox="1"/>
          <p:nvPr/>
        </p:nvSpPr>
        <p:spPr>
          <a:xfrm>
            <a:off x="599210" y="977682"/>
            <a:ext cx="39723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rPr b="1" lang="en-GB" sz="1800">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
        <p:nvSpPr>
          <p:cNvPr id="258" name="Google Shape;258;g31f9471b9df_0_232"/>
          <p:cNvSpPr/>
          <p:nvPr/>
        </p:nvSpPr>
        <p:spPr>
          <a:xfrm>
            <a:off x="739676" y="1412450"/>
            <a:ext cx="7219800" cy="3447000"/>
          </a:xfrm>
          <a:prstGeom prst="rect">
            <a:avLst/>
          </a:prstGeom>
          <a:noFill/>
          <a:ln>
            <a:noFill/>
          </a:ln>
        </p:spPr>
        <p:txBody>
          <a:bodyPr anchorCtr="0" anchor="t" bIns="60925" lIns="121900" spcFirstLastPara="1" rIns="121900" wrap="square" tIns="60925">
            <a:noAutofit/>
          </a:bodyPr>
          <a:lstStyle/>
          <a:p>
            <a:pPr indent="-330200" lvl="0" marL="457200" rtl="0" algn="l">
              <a:lnSpc>
                <a:spcPct val="200000"/>
              </a:lnSpc>
              <a:spcBef>
                <a:spcPts val="0"/>
              </a:spcBef>
              <a:spcAft>
                <a:spcPts val="0"/>
              </a:spcAft>
              <a:buSzPts val="1600"/>
              <a:buFont typeface="Noto Sans Symbols"/>
              <a:buChar char="⮚"/>
            </a:pPr>
            <a:r>
              <a:rPr lang="en-GB" sz="1800">
                <a:solidFill>
                  <a:schemeClr val="dk1"/>
                </a:solidFill>
                <a:latin typeface="Consolas"/>
                <a:ea typeface="Consolas"/>
                <a:cs typeface="Consolas"/>
                <a:sym typeface="Consolas"/>
              </a:rPr>
              <a:t>Time Complexity: </a:t>
            </a:r>
            <a:endParaRPr>
              <a:solidFill>
                <a:schemeClr val="dk1"/>
              </a:solidFill>
            </a:endParaRPr>
          </a:p>
          <a:p>
            <a:pPr indent="0" lvl="0" marL="0" rtl="0" algn="l">
              <a:lnSpc>
                <a:spcPct val="200000"/>
              </a:lnSpc>
              <a:spcBef>
                <a:spcPts val="0"/>
              </a:spcBef>
              <a:spcAft>
                <a:spcPts val="0"/>
              </a:spcAft>
              <a:buNone/>
            </a:pPr>
            <a:r>
              <a:rPr lang="en-GB" sz="1800">
                <a:solidFill>
                  <a:schemeClr val="dk1"/>
                </a:solidFill>
                <a:latin typeface="Consolas"/>
                <a:ea typeface="Consolas"/>
                <a:cs typeface="Consolas"/>
                <a:sym typeface="Consolas"/>
              </a:rPr>
              <a:t>	O(n) where n is the number of nodes.</a:t>
            </a:r>
            <a:endParaRPr>
              <a:solidFill>
                <a:schemeClr val="dk1"/>
              </a:solidFill>
            </a:endParaRPr>
          </a:p>
          <a:p>
            <a:pPr indent="-330200" lvl="0" marL="457200" rtl="0" algn="l">
              <a:lnSpc>
                <a:spcPct val="200000"/>
              </a:lnSpc>
              <a:spcBef>
                <a:spcPts val="0"/>
              </a:spcBef>
              <a:spcAft>
                <a:spcPts val="0"/>
              </a:spcAft>
              <a:buSzPts val="1600"/>
              <a:buFont typeface="Noto Sans Symbols"/>
              <a:buChar char="⮚"/>
            </a:pPr>
            <a:r>
              <a:rPr lang="en-GB" sz="1800">
                <a:solidFill>
                  <a:schemeClr val="dk1"/>
                </a:solidFill>
                <a:latin typeface="Consolas"/>
                <a:ea typeface="Consolas"/>
                <a:cs typeface="Consolas"/>
                <a:sym typeface="Consolas"/>
              </a:rPr>
              <a:t>Space Complexity: </a:t>
            </a:r>
            <a:endParaRPr>
              <a:solidFill>
                <a:schemeClr val="dk1"/>
              </a:solidFill>
            </a:endParaRPr>
          </a:p>
          <a:p>
            <a:pPr indent="0" lvl="0" marL="457200" rtl="0" algn="l">
              <a:lnSpc>
                <a:spcPct val="200000"/>
              </a:lnSpc>
              <a:spcBef>
                <a:spcPts val="0"/>
              </a:spcBef>
              <a:spcAft>
                <a:spcPts val="0"/>
              </a:spcAft>
              <a:buNone/>
            </a:pPr>
            <a:r>
              <a:rPr lang="en-GB" sz="1800">
                <a:solidFill>
                  <a:schemeClr val="dk1"/>
                </a:solidFill>
                <a:latin typeface="Consolas"/>
                <a:ea typeface="Consolas"/>
                <a:cs typeface="Consolas"/>
                <a:sym typeface="Consolas"/>
              </a:rPr>
              <a:t>O(h) where h is the height of the tree (O(n) in the worst case, O(log n) in a balanced tree).</a:t>
            </a:r>
            <a:endParaRPr sz="1600">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1f9471b9df_0_239"/>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64" name="Google Shape;264;g31f9471b9df_0_239"/>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5" name="Google Shape;265;g31f9471b9df_0_239"/>
          <p:cNvSpPr txBox="1"/>
          <p:nvPr/>
        </p:nvSpPr>
        <p:spPr>
          <a:xfrm>
            <a:off x="314069" y="1058390"/>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i="1" lang="en-GB" sz="2000">
                <a:solidFill>
                  <a:srgbClr val="FF0000"/>
                </a:solidFill>
                <a:latin typeface="Consolas"/>
                <a:ea typeface="Consolas"/>
                <a:cs typeface="Consolas"/>
                <a:sym typeface="Consolas"/>
              </a:rPr>
              <a:t>1. Explain the process of binary tree boundary traversal.</a:t>
            </a:r>
            <a:endParaRPr sz="2800">
              <a:solidFill>
                <a:srgbClr val="000000"/>
              </a:solidFill>
              <a:latin typeface="Calibri"/>
              <a:ea typeface="Calibri"/>
              <a:cs typeface="Calibri"/>
              <a:sym typeface="Calibri"/>
            </a:endParaRPr>
          </a:p>
        </p:txBody>
      </p:sp>
      <p:sp>
        <p:nvSpPr>
          <p:cNvPr id="266" name="Google Shape;266;g31f9471b9df_0_239"/>
          <p:cNvSpPr txBox="1"/>
          <p:nvPr/>
        </p:nvSpPr>
        <p:spPr>
          <a:xfrm>
            <a:off x="314075" y="1782900"/>
            <a:ext cx="8779800" cy="153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1600">
                <a:solidFill>
                  <a:schemeClr val="dk1"/>
                </a:solidFill>
                <a:latin typeface="Consolas"/>
                <a:ea typeface="Consolas"/>
                <a:cs typeface="Consolas"/>
                <a:sym typeface="Consolas"/>
              </a:rPr>
              <a:t>Answer: Binary tree boundary traversal involves three main steps. First, traverse and print the left boundary of the tree (excluding the leftmost leaf). Second, print all leaf nodes from left to right. Lastly, traverse and print the right boundary of the tree (excluding the rightmost leaf).</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1f9471b9df_0_264"/>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72" name="Google Shape;272;g31f9471b9df_0_264"/>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3" name="Google Shape;273;g31f9471b9df_0_264"/>
          <p:cNvSpPr txBox="1"/>
          <p:nvPr/>
        </p:nvSpPr>
        <p:spPr>
          <a:xfrm>
            <a:off x="314073" y="1058400"/>
            <a:ext cx="74784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2. What is the time complexity of binary tree boundary traversal?</a:t>
            </a:r>
            <a:endParaRPr sz="2800">
              <a:solidFill>
                <a:srgbClr val="000000"/>
              </a:solidFill>
              <a:latin typeface="Calibri"/>
              <a:ea typeface="Calibri"/>
              <a:cs typeface="Calibri"/>
              <a:sym typeface="Calibri"/>
            </a:endParaRPr>
          </a:p>
        </p:txBody>
      </p:sp>
      <p:sp>
        <p:nvSpPr>
          <p:cNvPr id="274" name="Google Shape;274;g31f9471b9df_0_264"/>
          <p:cNvSpPr txBox="1"/>
          <p:nvPr/>
        </p:nvSpPr>
        <p:spPr>
          <a:xfrm>
            <a:off x="314075" y="2219950"/>
            <a:ext cx="8779800" cy="11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1600">
                <a:solidFill>
                  <a:schemeClr val="dk1"/>
                </a:solidFill>
                <a:latin typeface="Consolas"/>
                <a:ea typeface="Consolas"/>
                <a:cs typeface="Consolas"/>
                <a:sym typeface="Consolas"/>
              </a:rPr>
              <a:t>Answer: </a:t>
            </a:r>
            <a:r>
              <a:rPr lang="en-GB" sz="1600">
                <a:solidFill>
                  <a:schemeClr val="dk1"/>
                </a:solidFill>
                <a:latin typeface="Consolas"/>
                <a:ea typeface="Consolas"/>
                <a:cs typeface="Consolas"/>
                <a:sym typeface="Consolas"/>
              </a:rPr>
              <a:t>The time complexity of binary tree boundary traversal is O(n), where n is the number of nodes in the tree. This is because each node is visited exactly once during the traversal, resulting in a linear time complexity.</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1f9471b9df_0_271"/>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80" name="Google Shape;280;g31f9471b9df_0_271"/>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1" name="Google Shape;281;g31f9471b9df_0_271"/>
          <p:cNvSpPr txBox="1"/>
          <p:nvPr/>
        </p:nvSpPr>
        <p:spPr>
          <a:xfrm>
            <a:off x="314075" y="1058400"/>
            <a:ext cx="82908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3. How would you modify the boundary traversal algorithm to include only distinct values in the output?</a:t>
            </a:r>
            <a:endParaRPr sz="2800">
              <a:solidFill>
                <a:srgbClr val="000000"/>
              </a:solidFill>
              <a:latin typeface="Calibri"/>
              <a:ea typeface="Calibri"/>
              <a:cs typeface="Calibri"/>
              <a:sym typeface="Calibri"/>
            </a:endParaRPr>
          </a:p>
        </p:txBody>
      </p:sp>
      <p:sp>
        <p:nvSpPr>
          <p:cNvPr id="282" name="Google Shape;282;g31f9471b9df_0_271"/>
          <p:cNvSpPr txBox="1"/>
          <p:nvPr/>
        </p:nvSpPr>
        <p:spPr>
          <a:xfrm>
            <a:off x="314075" y="2116425"/>
            <a:ext cx="8779800" cy="153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1600">
                <a:solidFill>
                  <a:schemeClr val="dk1"/>
                </a:solidFill>
                <a:latin typeface="Consolas"/>
                <a:ea typeface="Consolas"/>
                <a:cs typeface="Consolas"/>
                <a:sym typeface="Consolas"/>
              </a:rPr>
              <a:t>Answer: </a:t>
            </a:r>
            <a:r>
              <a:rPr lang="en-GB" sz="1600">
                <a:solidFill>
                  <a:schemeClr val="dk1"/>
                </a:solidFill>
                <a:latin typeface="Consolas"/>
                <a:ea typeface="Consolas"/>
                <a:cs typeface="Consolas"/>
                <a:sym typeface="Consolas"/>
              </a:rPr>
              <a:t>To ensure only distinct values are printed, we can use a set or hash table to keep track of the values encountered during traversal. Before printing a value, we check whether it has been seen before. If not, we print it and add it to the set.</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1f9471b9df_0_278"/>
          <p:cNvSpPr txBox="1"/>
          <p:nvPr/>
        </p:nvSpPr>
        <p:spPr>
          <a:xfrm>
            <a:off x="2784375" y="445600"/>
            <a:ext cx="408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88" name="Google Shape;288;g31f9471b9df_0_278"/>
          <p:cNvSpPr/>
          <p:nvPr/>
        </p:nvSpPr>
        <p:spPr>
          <a:xfrm>
            <a:off x="740158" y="1221550"/>
            <a:ext cx="16737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9" name="Google Shape;289;g31f9471b9df_0_278"/>
          <p:cNvSpPr txBox="1"/>
          <p:nvPr/>
        </p:nvSpPr>
        <p:spPr>
          <a:xfrm>
            <a:off x="314075" y="1058400"/>
            <a:ext cx="7881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4. Can you implement the binary tree boundary traversal iteratively?</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i="1" sz="2000">
              <a:solidFill>
                <a:srgbClr val="FF0000"/>
              </a:solidFill>
              <a:latin typeface="Consolas"/>
              <a:ea typeface="Consolas"/>
              <a:cs typeface="Consolas"/>
              <a:sym typeface="Consolas"/>
            </a:endParaRPr>
          </a:p>
        </p:txBody>
      </p:sp>
      <p:sp>
        <p:nvSpPr>
          <p:cNvPr id="290" name="Google Shape;290;g31f9471b9df_0_278"/>
          <p:cNvSpPr txBox="1"/>
          <p:nvPr/>
        </p:nvSpPr>
        <p:spPr>
          <a:xfrm>
            <a:off x="314075" y="2150925"/>
            <a:ext cx="8779800" cy="1908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Answer: Yes, an iterative solution can be implemented using a queue or stack data structure. The idea is to simulate the recursive process by maintaining a collection of nodes to be processed. We start with the root and iteratively enqueue or push the nodes related to the left and right boundaries and leaf nodes.</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6" name="Google Shape;296;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97" name="Google Shape;297;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03" name="Google Shape;303;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04" name="Google Shape;304;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5" name="Google Shape;305;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6" name="Google Shape;306;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7" name="Google Shape;307;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8" name="Google Shape;308;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9" name="Google Shape;309;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0" name="Google Shape;310;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11" name="Google Shape;311;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2" name="Google Shape;312;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13" name="Google Shape;313;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