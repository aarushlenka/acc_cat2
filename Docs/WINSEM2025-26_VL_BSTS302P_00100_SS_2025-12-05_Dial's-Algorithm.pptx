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 Black"/>
      <p:bold r:id="rId32"/>
      <p:boldItalic r:id="rId33"/>
    </p:embeddedFon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r:id="rId38" roundtripDataSignature="AMtx7mj2hH6iUT5DUVGk7wJ5WN134hSR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3F4919-2354-4E48-9620-509937D12903}">
  <a:tblStyle styleId="{CF3F4919-2354-4E48-9620-509937D12903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</a:neCell>
    <a:nwCell>
      <a:tcTxStyle b="off" i="off"/>
    </a:nwCell>
  </a:tblStyle>
  <a:tblStyle styleId="{BCB1636E-AE35-4243-876C-C8423B1063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2755" orient="horz"/>
        <p:guide pos="907" orient="horz"/>
        <p:guide pos="5272"/>
        <p:guide pos="737" orient="horz"/>
        <p:guide pos="3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Black-boldItalic.fntdata"/><Relationship Id="rId10" Type="http://schemas.openxmlformats.org/officeDocument/2006/relationships/slide" Target="slides/slide3.xml"/><Relationship Id="rId32" Type="http://schemas.openxmlformats.org/officeDocument/2006/relationships/font" Target="fonts/RobotoBlack-bold.fntdata"/><Relationship Id="rId13" Type="http://schemas.openxmlformats.org/officeDocument/2006/relationships/slide" Target="slides/slide6.xml"/><Relationship Id="rId35" Type="http://schemas.openxmlformats.org/officeDocument/2006/relationships/font" Target="fonts/Roboto-bold.fntdata"/><Relationship Id="rId12" Type="http://schemas.openxmlformats.org/officeDocument/2006/relationships/slide" Target="slides/slide5.xml"/><Relationship Id="rId34" Type="http://schemas.openxmlformats.org/officeDocument/2006/relationships/font" Target="fonts/Roboto-regular.fntdata"/><Relationship Id="rId15" Type="http://schemas.openxmlformats.org/officeDocument/2006/relationships/slide" Target="slides/slide8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7.xml"/><Relationship Id="rId36" Type="http://schemas.openxmlformats.org/officeDocument/2006/relationships/font" Target="fonts/Roboto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38" Type="http://customschemas.google.com/relationships/presentationmetadata" Target="meta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4337fc5d2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g14337fc5d25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fdec52c7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g31fdec52c72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fdec52c7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31fdec52c72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1fdec52c7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31fdec52c72_0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fdec52c7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g31fdec52c72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fdec52c7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" name="Google Shape;163;g31fdec52c72_0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fdec52c72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g31fdec52c72_0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1fdec52c7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g31fdec52c72_0_1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1fdec52c7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31fdec52c72_0_1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fdec52c7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g31fdec52c72_0_19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fdec52c72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g31fdec52c72_0_2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1fdec52c7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g31fdec52c72_0_2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fdec52c72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g31fdec52c72_0_2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1fdec52c72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g31fdec52c72_0_2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1fdec52c72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g31fdec52c72_0_3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1fdec52c72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g31fdec52c72_0_3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1fdec52c7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g31fdec52c72_0_3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1fdec52c72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g31fdec52c72_0_3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fdec52c72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g31fdec52c72_0_3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1fdec52c72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g31fdec52c72_0_3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4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14337fc5d25_0_2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14337fc5d25_0_2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g14337fc5d25_0_2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14337fc5d25_0_2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g14337fc5d25_0_2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14337fc5d25_0_23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" name="Google Shape;24;g14337fc5d25_0_2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4337fc5d25_0_2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" name="Google Shape;27;g14337fc5d25_0_2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" name="Google Shape;28;g14337fc5d25_0_2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9" name="Google Shape;29;g14337fc5d25_0_2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g14337fc5d25_0_2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4337fc5d25_0_24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33" name="Google Shape;33;g14337fc5d25_0_2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14337fc5d25_0_24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g14337fc5d25_0_24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g14337fc5d25_0_2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">
  <p:cSld name="4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 up of a logo&#10;&#10;Description generated with high confidence" id="39" name="Google Shape;39;g14337fc5d25_0_2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g14337fc5d25_0_252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" name="Google Shape;41;g14337fc5d25_0_252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" name="Google Shape;42;g14337fc5d25_0_252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g14337fc5d25_0_252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4337fc5d25_0_8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g14337fc5d25_0_84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" name="Google Shape;52;g14337fc5d25_0_84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g14337fc5d25_0_8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14337fc5d25_0_84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1" name="Google Shape;61;g14337fc5d25_0_8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4337fc5d25_0_8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g14337fc5d25_0_8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337fc5d25_0_85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g14337fc5d25_0_85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14337fc5d25_0_8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4337fc5d25_0_8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1" name="Google Shape;71;g14337fc5d25_0_8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4337fc5d25_0_8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g14337fc5d25_0_86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5" name="Google Shape;75;g14337fc5d25_0_86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6" name="Google Shape;76;g14337fc5d25_0_86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g14337fc5d25_0_8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4337fc5d25_0_87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</a:lstStyle>
          <a:p/>
        </p:txBody>
      </p:sp>
      <p:sp>
        <p:nvSpPr>
          <p:cNvPr id="80" name="Google Shape;80;g14337fc5d25_0_8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4337fc5d25_0_87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" name="Google Shape;83;g14337fc5d25_0_87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g14337fc5d25_0_8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4337fc5d25_0_8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4337fc5d25_0_2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14337fc5d25_0_2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14337fc5d25_0_2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g14337fc5d25_0_22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14337fc5d25_0_8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14337fc5d25_0_8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14337fc5d25_0_8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g14337fc5d25_0_83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7219"/>
            <a:ext cx="9144003" cy="513628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Relationship Id="rId4" Type="http://schemas.openxmlformats.org/officeDocument/2006/relationships/hyperlink" Target="https://learn.codemithra.com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92" name="Google Shape;9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178001" y="2109682"/>
            <a:ext cx="4690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DIAL’S ALGORITHM</a:t>
            </a:r>
            <a:endParaRPr b="1" i="0" sz="3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4337fc5d25_0_216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9" name="Google Shape;109;g14337fc5d25_0_216"/>
          <p:cNvSpPr txBox="1"/>
          <p:nvPr/>
        </p:nvSpPr>
        <p:spPr>
          <a:xfrm>
            <a:off x="390826" y="11668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Dial's Algorithm is a graph traversal algorithm used for finding the shortest path between two nodes in a weighted graph. </a:t>
            </a:r>
            <a:endParaRPr sz="1600">
              <a:solidFill>
                <a:schemeClr val="dk1"/>
              </a:solidFill>
            </a:endParaRPr>
          </a:p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 is an enhancement of Dijkstra's Algorithm and is particularly efficient when dealing with graphs where edge weights have a limited range. </a:t>
            </a:r>
            <a:endParaRPr sz="1600">
              <a:solidFill>
                <a:schemeClr val="dk1"/>
              </a:solidFill>
            </a:endParaRPr>
          </a:p>
          <a:p>
            <a:pPr indent="-2730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Dial's Algorithm works by organizing nodes into buckets based on their distance from the source node and iteratively exploring nodes in increasing order of distance.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fdec52c72_0_5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15" name="Google Shape;115;g31fdec52c72_0_5"/>
          <p:cNvSpPr txBox="1"/>
          <p:nvPr/>
        </p:nvSpPr>
        <p:spPr>
          <a:xfrm>
            <a:off x="390826" y="13192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 a set of buckets, one for each possible distance from the source node.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Place the source node in the bucket corresponding to its distance (usually bucket 0).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Initialize a variable to keep track of the current distance (starting from 0).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6" name="Google Shape;116;g31fdec52c72_0_5"/>
          <p:cNvSpPr txBox="1"/>
          <p:nvPr/>
        </p:nvSpPr>
        <p:spPr>
          <a:xfrm>
            <a:off x="172451" y="7491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fdec52c72_0_11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2" name="Google Shape;122;g31fdec52c72_0_11"/>
          <p:cNvSpPr txBox="1"/>
          <p:nvPr/>
        </p:nvSpPr>
        <p:spPr>
          <a:xfrm>
            <a:off x="390826" y="13192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 there are non-empty buckets: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Select the first non-empty bucket with the lowest distance.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Remove the node with the shortest distance from the selected bucket.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Update the distances of its neighbors if a shorter path is found.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Move the node to a new bucket corresponding to its updated distance.</a:t>
            </a:r>
            <a:endParaRPr sz="1600">
              <a:solidFill>
                <a:schemeClr val="dk1"/>
              </a:solidFill>
            </a:endParaRPr>
          </a:p>
          <a:p>
            <a:pPr indent="-3302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●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Increment the current distance.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Continue until the target node is reached or all buckets are empty.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g31fdec52c72_0_11"/>
          <p:cNvSpPr txBox="1"/>
          <p:nvPr/>
        </p:nvSpPr>
        <p:spPr>
          <a:xfrm>
            <a:off x="172451" y="7491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fdec52c72_0_17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29" name="Google Shape;129;g31fdec52c72_0_17"/>
          <p:cNvSpPr txBox="1"/>
          <p:nvPr/>
        </p:nvSpPr>
        <p:spPr>
          <a:xfrm>
            <a:off x="172451" y="7491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PSEUDOCODE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1fdec52c72_0_17"/>
          <p:cNvSpPr txBox="1"/>
          <p:nvPr/>
        </p:nvSpPr>
        <p:spPr>
          <a:xfrm>
            <a:off x="410200" y="1093800"/>
            <a:ext cx="4571400" cy="4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function Dial'sAlgorithm(graph, source, target):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Initialize buckets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Place source node in the corresponding bucket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Initialize current distance to 0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while there are non-empty buckets: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Select the first non-empty bucket with the lowest distance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Remove the node with the shortest distance from the bucket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g31fdec52c72_0_17"/>
          <p:cNvCxnSpPr/>
          <p:nvPr/>
        </p:nvCxnSpPr>
        <p:spPr>
          <a:xfrm>
            <a:off x="4676792" y="1118486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g31fdec52c72_0_17"/>
          <p:cNvSpPr txBox="1"/>
          <p:nvPr/>
        </p:nvSpPr>
        <p:spPr>
          <a:xfrm>
            <a:off x="4676799" y="1094725"/>
            <a:ext cx="44673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Update distances of its neighbors if shorter path found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Move the node to a new bucket based on updated distance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Increment current distance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if target node is reached: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return shortest path to target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return "No path exists"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fdec52c72_0_26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38" name="Google Shape;138;g31fdec52c72_0_26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g31fdec52c72_0_26"/>
          <p:cNvCxnSpPr/>
          <p:nvPr/>
        </p:nvCxnSpPr>
        <p:spPr>
          <a:xfrm>
            <a:off x="4676792" y="1118486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g31fdec52c72_0_26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1fdec52c72_0_26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1fdec52c72_0_26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fdec52c72_0_26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1fdec52c72_0_26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g31fdec52c72_0_26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g31fdec52c72_0_26"/>
          <p:cNvCxnSpPr>
            <a:stCxn id="144" idx="6"/>
            <a:endCxn id="143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7" name="Google Shape;147;g31fdec52c72_0_26"/>
          <p:cNvCxnSpPr>
            <a:endCxn id="141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8" name="Google Shape;148;g31fdec52c72_0_26"/>
          <p:cNvCxnSpPr>
            <a:stCxn id="140" idx="6"/>
            <a:endCxn id="141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9" name="Google Shape;149;g31fdec52c72_0_26"/>
          <p:cNvCxnSpPr>
            <a:endCxn id="144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0" name="Google Shape;150;g31fdec52c72_0_26"/>
          <p:cNvSpPr txBox="1"/>
          <p:nvPr/>
        </p:nvSpPr>
        <p:spPr>
          <a:xfrm>
            <a:off x="1150381" y="2305763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1fdec52c72_0_26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1fdec52c72_0_26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1fdec52c72_0_26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1fdec52c72_0_26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1fdec52c72_0_26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" name="Google Shape;156;g31fdec52c72_0_26"/>
          <p:cNvCxnSpPr>
            <a:stCxn id="140" idx="4"/>
            <a:endCxn id="144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7" name="Google Shape;157;g31fdec52c72_0_26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ASSIGN START POINT AT NODE “0”</a:t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58" name="Google Shape;158;g31fdec52c72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0036" y="1984582"/>
            <a:ext cx="3162574" cy="198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1fdec52c72_0_26"/>
          <p:cNvSpPr txBox="1"/>
          <p:nvPr/>
        </p:nvSpPr>
        <p:spPr>
          <a:xfrm>
            <a:off x="4847752" y="1857867"/>
            <a:ext cx="81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g31fdec52c72_0_26"/>
          <p:cNvCxnSpPr>
            <a:stCxn id="159" idx="2"/>
          </p:cNvCxnSpPr>
          <p:nvPr/>
        </p:nvCxnSpPr>
        <p:spPr>
          <a:xfrm>
            <a:off x="5256652" y="2227167"/>
            <a:ext cx="381900" cy="5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fdec52c72_0_55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66" name="Google Shape;166;g31fdec52c72_0_55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" name="Google Shape;167;g31fdec52c72_0_55"/>
          <p:cNvCxnSpPr/>
          <p:nvPr/>
        </p:nvCxnSpPr>
        <p:spPr>
          <a:xfrm>
            <a:off x="4676792" y="1118486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8" name="Google Shape;168;g31fdec52c72_0_55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1fdec52c72_0_55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1fdec52c72_0_55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1fdec52c72_0_55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1fdec52c72_0_55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g31fdec52c72_0_55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4" name="Google Shape;174;g31fdec52c72_0_55"/>
          <p:cNvCxnSpPr>
            <a:stCxn id="172" idx="6"/>
            <a:endCxn id="171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5" name="Google Shape;175;g31fdec52c72_0_55"/>
          <p:cNvCxnSpPr>
            <a:endCxn id="169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6" name="Google Shape;176;g31fdec52c72_0_55"/>
          <p:cNvCxnSpPr>
            <a:stCxn id="168" idx="6"/>
            <a:endCxn id="169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77" name="Google Shape;177;g31fdec52c72_0_55"/>
          <p:cNvCxnSpPr>
            <a:endCxn id="172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g31fdec52c72_0_55"/>
          <p:cNvSpPr txBox="1"/>
          <p:nvPr/>
        </p:nvSpPr>
        <p:spPr>
          <a:xfrm flipH="1">
            <a:off x="1452199" y="2305775"/>
            <a:ext cx="9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1fdec52c72_0_55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1fdec52c72_0_55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1fdec52c72_0_55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1fdec52c72_0_55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1fdec52c72_0_55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g31fdec52c72_0_55"/>
          <p:cNvCxnSpPr>
            <a:stCxn id="168" idx="4"/>
            <a:endCxn id="172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5" name="Google Shape;185;g31fdec52c72_0_55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 node  0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g31fdec52c72_0_55"/>
          <p:cNvSpPr txBox="1"/>
          <p:nvPr/>
        </p:nvSpPr>
        <p:spPr>
          <a:xfrm>
            <a:off x="-97073" y="1600017"/>
            <a:ext cx="81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g31fdec52c72_0_55"/>
          <p:cNvCxnSpPr/>
          <p:nvPr/>
        </p:nvCxnSpPr>
        <p:spPr>
          <a:xfrm>
            <a:off x="380177" y="2100167"/>
            <a:ext cx="381900" cy="5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188" name="Google Shape;188;g31fdec52c72_0_55"/>
          <p:cNvGraphicFramePr/>
          <p:nvPr/>
        </p:nvGraphicFramePr>
        <p:xfrm>
          <a:off x="5130456" y="2207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030275"/>
                <a:gridCol w="1276975"/>
                <a:gridCol w="1153625"/>
              </a:tblGrid>
              <a:tr h="5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Current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Neighbour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--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fdec52c72_0_112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94" name="Google Shape;194;g31fdec52c72_0_112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g31fdec52c72_0_112"/>
          <p:cNvCxnSpPr/>
          <p:nvPr/>
        </p:nvCxnSpPr>
        <p:spPr>
          <a:xfrm>
            <a:off x="4676792" y="1118486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g31fdec52c72_0_112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1fdec52c72_0_112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31fdec52c72_0_112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31fdec52c72_0_112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31fdec52c72_0_112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g31fdec52c72_0_112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2" name="Google Shape;202;g31fdec52c72_0_112"/>
          <p:cNvCxnSpPr>
            <a:stCxn id="200" idx="6"/>
            <a:endCxn id="199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3" name="Google Shape;203;g31fdec52c72_0_112"/>
          <p:cNvCxnSpPr>
            <a:endCxn id="197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4" name="Google Shape;204;g31fdec52c72_0_112"/>
          <p:cNvCxnSpPr>
            <a:stCxn id="196" idx="6"/>
            <a:endCxn id="197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5" name="Google Shape;205;g31fdec52c72_0_112"/>
          <p:cNvCxnSpPr>
            <a:endCxn id="200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06" name="Google Shape;206;g31fdec52c72_0_112"/>
          <p:cNvSpPr txBox="1"/>
          <p:nvPr/>
        </p:nvSpPr>
        <p:spPr>
          <a:xfrm flipH="1">
            <a:off x="1452199" y="2305775"/>
            <a:ext cx="9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31fdec52c72_0_112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1fdec52c72_0_112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31fdec52c72_0_112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1fdec52c72_0_112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1fdec52c72_0_112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g31fdec52c72_0_112"/>
          <p:cNvCxnSpPr>
            <a:stCxn id="196" idx="4"/>
            <a:endCxn id="200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3" name="Google Shape;213;g31fdec52c72_0_112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 node  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4" name="Google Shape;214;g31fdec52c72_0_112"/>
          <p:cNvCxnSpPr/>
          <p:nvPr/>
        </p:nvCxnSpPr>
        <p:spPr>
          <a:xfrm>
            <a:off x="1395102" y="1308155"/>
            <a:ext cx="381900" cy="557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15" name="Google Shape;215;g31fdec52c72_0_112"/>
          <p:cNvGraphicFramePr/>
          <p:nvPr/>
        </p:nvGraphicFramePr>
        <p:xfrm>
          <a:off x="5130456" y="2207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030275"/>
                <a:gridCol w="1276975"/>
                <a:gridCol w="1153625"/>
              </a:tblGrid>
              <a:tr h="5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Start</a:t>
                      </a:r>
                      <a:r>
                        <a:rPr lang="en-GB" sz="1800" u="none" cap="none" strike="noStrike"/>
                        <a:t>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current</a:t>
                      </a:r>
                      <a:r>
                        <a:rPr lang="en-GB" sz="1800" u="none" cap="none" strike="noStrike"/>
                        <a:t>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/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1fdec52c72_0_139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21" name="Google Shape;221;g31fdec52c72_0_139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g31fdec52c72_0_139"/>
          <p:cNvCxnSpPr/>
          <p:nvPr/>
        </p:nvCxnSpPr>
        <p:spPr>
          <a:xfrm>
            <a:off x="4397492" y="1170011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3" name="Google Shape;223;g31fdec52c72_0_139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1fdec52c72_0_139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1fdec52c72_0_139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1fdec52c72_0_139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1fdec52c72_0_139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" name="Google Shape;228;g31fdec52c72_0_139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9" name="Google Shape;229;g31fdec52c72_0_139"/>
          <p:cNvCxnSpPr>
            <a:stCxn id="227" idx="6"/>
            <a:endCxn id="226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0" name="Google Shape;230;g31fdec52c72_0_139"/>
          <p:cNvCxnSpPr>
            <a:endCxn id="224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1" name="Google Shape;231;g31fdec52c72_0_139"/>
          <p:cNvCxnSpPr>
            <a:stCxn id="223" idx="6"/>
            <a:endCxn id="224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32" name="Google Shape;232;g31fdec52c72_0_139"/>
          <p:cNvCxnSpPr>
            <a:endCxn id="227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33" name="Google Shape;233;g31fdec52c72_0_139"/>
          <p:cNvSpPr txBox="1"/>
          <p:nvPr/>
        </p:nvSpPr>
        <p:spPr>
          <a:xfrm flipH="1">
            <a:off x="1452199" y="2305775"/>
            <a:ext cx="9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1fdec52c72_0_139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1fdec52c72_0_139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1fdec52c72_0_139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1fdec52c72_0_139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1fdec52c72_0_139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" name="Google Shape;239;g31fdec52c72_0_139"/>
          <p:cNvCxnSpPr>
            <a:stCxn id="223" idx="4"/>
            <a:endCxn id="227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0" name="Google Shape;240;g31fdec52c72_0_139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 node 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41" name="Google Shape;241;g31fdec52c72_0_139"/>
          <p:cNvCxnSpPr/>
          <p:nvPr/>
        </p:nvCxnSpPr>
        <p:spPr>
          <a:xfrm flipH="1">
            <a:off x="3770725" y="1251875"/>
            <a:ext cx="277200" cy="484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42" name="Google Shape;242;g31fdec52c72_0_139"/>
          <p:cNvGraphicFramePr/>
          <p:nvPr/>
        </p:nvGraphicFramePr>
        <p:xfrm>
          <a:off x="4680331" y="2344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381925"/>
                <a:gridCol w="1381925"/>
                <a:gridCol w="1381925"/>
              </a:tblGrid>
              <a:tr h="5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Start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current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5</a:t>
                      </a:r>
                      <a:r>
                        <a:rPr lang="en-GB" sz="1600" u="none" cap="none" strike="noStrike"/>
                        <a:t>(BEST PATH)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6(1+4+1)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fdec52c72_0_166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48" name="Google Shape;248;g31fdec52c72_0_166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" name="Google Shape;249;g31fdec52c72_0_166"/>
          <p:cNvCxnSpPr/>
          <p:nvPr/>
        </p:nvCxnSpPr>
        <p:spPr>
          <a:xfrm>
            <a:off x="4397492" y="1170011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0" name="Google Shape;250;g31fdec52c72_0_166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g31fdec52c72_0_166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1fdec52c72_0_166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1fdec52c72_0_166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1fdec52c72_0_166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5" name="Google Shape;255;g31fdec52c72_0_166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" name="Google Shape;256;g31fdec52c72_0_166"/>
          <p:cNvCxnSpPr>
            <a:stCxn id="254" idx="6"/>
            <a:endCxn id="253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" name="Google Shape;257;g31fdec52c72_0_166"/>
          <p:cNvCxnSpPr>
            <a:endCxn id="251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8" name="Google Shape;258;g31fdec52c72_0_166"/>
          <p:cNvCxnSpPr>
            <a:stCxn id="250" idx="6"/>
            <a:endCxn id="251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9" name="Google Shape;259;g31fdec52c72_0_166"/>
          <p:cNvCxnSpPr>
            <a:endCxn id="254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g31fdec52c72_0_166"/>
          <p:cNvSpPr txBox="1"/>
          <p:nvPr/>
        </p:nvSpPr>
        <p:spPr>
          <a:xfrm flipH="1">
            <a:off x="1452199" y="2305775"/>
            <a:ext cx="9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1fdec52c72_0_166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1fdec52c72_0_166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1fdec52c72_0_166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g31fdec52c72_0_166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31fdec52c72_0_166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" name="Google Shape;266;g31fdec52c72_0_166"/>
          <p:cNvCxnSpPr>
            <a:stCxn id="250" idx="4"/>
            <a:endCxn id="254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7" name="Google Shape;267;g31fdec52c72_0_166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 node  3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68" name="Google Shape;268;g31fdec52c72_0_166"/>
          <p:cNvCxnSpPr>
            <a:endCxn id="254" idx="4"/>
          </p:cNvCxnSpPr>
          <p:nvPr/>
        </p:nvCxnSpPr>
        <p:spPr>
          <a:xfrm rot="10800000">
            <a:off x="2017448" y="3846683"/>
            <a:ext cx="145200" cy="576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269" name="Google Shape;269;g31fdec52c72_0_166"/>
          <p:cNvGraphicFramePr/>
          <p:nvPr/>
        </p:nvGraphicFramePr>
        <p:xfrm>
          <a:off x="4680331" y="2344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381925"/>
                <a:gridCol w="1381925"/>
                <a:gridCol w="1381925"/>
              </a:tblGrid>
              <a:tr h="5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Start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current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/>
                        <a:t>1</a:t>
                      </a:r>
                      <a:r>
                        <a:rPr lang="en-GB" sz="1600" u="none" cap="none" strike="noStrike"/>
                        <a:t>(BEST PATH)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4(2+2)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1fdec52c72_0_192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275" name="Google Shape;275;g31fdec52c72_0_192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1fdec52c72_0_192"/>
          <p:cNvCxnSpPr/>
          <p:nvPr/>
        </p:nvCxnSpPr>
        <p:spPr>
          <a:xfrm>
            <a:off x="4397492" y="1170011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g31fdec52c72_0_192"/>
          <p:cNvSpPr txBox="1"/>
          <p:nvPr/>
        </p:nvSpPr>
        <p:spPr>
          <a:xfrm>
            <a:off x="4767000" y="966078"/>
            <a:ext cx="43770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Consider node  4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278" name="Google Shape;278;g31fdec52c72_0_192"/>
          <p:cNvGraphicFramePr/>
          <p:nvPr/>
        </p:nvGraphicFramePr>
        <p:xfrm>
          <a:off x="4680331" y="2344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381925"/>
                <a:gridCol w="1381925"/>
                <a:gridCol w="1381925"/>
              </a:tblGrid>
              <a:tr h="54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Start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current node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600"/>
                        <a:t>5(1+4)</a:t>
                      </a:r>
                      <a:r>
                        <a:rPr lang="en-GB" sz="1600" u="none" cap="none" strike="noStrike"/>
                        <a:t>(BEST PATH)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1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/>
                        <a:t>8</a:t>
                      </a:r>
                      <a:r>
                        <a:rPr lang="en-GB" sz="1800"/>
                        <a:t>(2+2+4)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9" name="Google Shape;279;g31fdec52c72_0_192"/>
          <p:cNvSpPr/>
          <p:nvPr/>
        </p:nvSpPr>
        <p:spPr>
          <a:xfrm>
            <a:off x="1394443" y="1529852"/>
            <a:ext cx="409800" cy="463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1fdec52c72_0_192"/>
          <p:cNvSpPr/>
          <p:nvPr/>
        </p:nvSpPr>
        <p:spPr>
          <a:xfrm>
            <a:off x="3046739" y="1529851"/>
            <a:ext cx="409800" cy="463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g31fdec52c72_0_192"/>
          <p:cNvSpPr/>
          <p:nvPr/>
        </p:nvSpPr>
        <p:spPr>
          <a:xfrm>
            <a:off x="172450" y="2238305"/>
            <a:ext cx="409800" cy="463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31fdec52c72_0_192"/>
          <p:cNvSpPr/>
          <p:nvPr/>
        </p:nvSpPr>
        <p:spPr>
          <a:xfrm>
            <a:off x="3101912" y="2952774"/>
            <a:ext cx="409800" cy="463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1fdec52c72_0_192"/>
          <p:cNvSpPr/>
          <p:nvPr/>
        </p:nvSpPr>
        <p:spPr>
          <a:xfrm>
            <a:off x="1403759" y="2952775"/>
            <a:ext cx="409800" cy="4635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" name="Google Shape;284;g31fdec52c72_0_192"/>
          <p:cNvCxnSpPr/>
          <p:nvPr/>
        </p:nvCxnSpPr>
        <p:spPr>
          <a:xfrm flipH="1" rot="10800000">
            <a:off x="552294" y="1863550"/>
            <a:ext cx="872400" cy="544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5" name="Google Shape;285;g31fdec52c72_0_192"/>
          <p:cNvCxnSpPr>
            <a:stCxn id="283" idx="6"/>
            <a:endCxn id="282" idx="2"/>
          </p:cNvCxnSpPr>
          <p:nvPr/>
        </p:nvCxnSpPr>
        <p:spPr>
          <a:xfrm>
            <a:off x="1813559" y="3184525"/>
            <a:ext cx="12885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6" name="Google Shape;286;g31fdec52c72_0_192"/>
          <p:cNvCxnSpPr>
            <a:endCxn id="280" idx="4"/>
          </p:cNvCxnSpPr>
          <p:nvPr/>
        </p:nvCxnSpPr>
        <p:spPr>
          <a:xfrm rot="10800000">
            <a:off x="3251639" y="1993351"/>
            <a:ext cx="18000" cy="9597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7" name="Google Shape;287;g31fdec52c72_0_192"/>
          <p:cNvCxnSpPr>
            <a:stCxn id="279" idx="6"/>
            <a:endCxn id="280" idx="2"/>
          </p:cNvCxnSpPr>
          <p:nvPr/>
        </p:nvCxnSpPr>
        <p:spPr>
          <a:xfrm>
            <a:off x="1804243" y="1761602"/>
            <a:ext cx="1242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8" name="Google Shape;288;g31fdec52c72_0_192"/>
          <p:cNvCxnSpPr>
            <a:endCxn id="283" idx="2"/>
          </p:cNvCxnSpPr>
          <p:nvPr/>
        </p:nvCxnSpPr>
        <p:spPr>
          <a:xfrm>
            <a:off x="427559" y="2680225"/>
            <a:ext cx="976200" cy="5043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9" name="Google Shape;289;g31fdec52c72_0_192"/>
          <p:cNvSpPr txBox="1"/>
          <p:nvPr/>
        </p:nvSpPr>
        <p:spPr>
          <a:xfrm>
            <a:off x="787234" y="1956426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1fdec52c72_0_192"/>
          <p:cNvSpPr txBox="1"/>
          <p:nvPr/>
        </p:nvSpPr>
        <p:spPr>
          <a:xfrm>
            <a:off x="1557506" y="2204359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1fdec52c72_0_192"/>
          <p:cNvSpPr txBox="1"/>
          <p:nvPr/>
        </p:nvSpPr>
        <p:spPr>
          <a:xfrm>
            <a:off x="858347" y="2723099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31fdec52c72_0_192"/>
          <p:cNvSpPr txBox="1"/>
          <p:nvPr/>
        </p:nvSpPr>
        <p:spPr>
          <a:xfrm>
            <a:off x="2242171" y="1532076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1fdec52c72_0_192"/>
          <p:cNvSpPr txBox="1"/>
          <p:nvPr/>
        </p:nvSpPr>
        <p:spPr>
          <a:xfrm>
            <a:off x="2282613" y="3023969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1fdec52c72_0_192"/>
          <p:cNvSpPr txBox="1"/>
          <p:nvPr/>
        </p:nvSpPr>
        <p:spPr>
          <a:xfrm>
            <a:off x="3269582" y="2295067"/>
            <a:ext cx="2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" name="Google Shape;295;g31fdec52c72_0_192"/>
          <p:cNvCxnSpPr>
            <a:stCxn id="279" idx="4"/>
            <a:endCxn id="283" idx="0"/>
          </p:cNvCxnSpPr>
          <p:nvPr/>
        </p:nvCxnSpPr>
        <p:spPr>
          <a:xfrm>
            <a:off x="1599343" y="1993352"/>
            <a:ext cx="9300" cy="9594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6" name="Google Shape;296;g31fdec52c72_0_192"/>
          <p:cNvCxnSpPr/>
          <p:nvPr/>
        </p:nvCxnSpPr>
        <p:spPr>
          <a:xfrm rot="10800000">
            <a:off x="3502975" y="3373976"/>
            <a:ext cx="656100" cy="999600"/>
          </a:xfrm>
          <a:prstGeom prst="straightConnector1">
            <a:avLst/>
          </a:prstGeom>
          <a:noFill/>
          <a:ln cap="flat" cmpd="sng" w="19050">
            <a:solidFill>
              <a:srgbClr val="4472C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7" name="Google Shape;297;g31fdec52c72_0_192"/>
          <p:cNvCxnSpPr/>
          <p:nvPr/>
        </p:nvCxnSpPr>
        <p:spPr>
          <a:xfrm>
            <a:off x="380462" y="2605894"/>
            <a:ext cx="2784600" cy="782100"/>
          </a:xfrm>
          <a:prstGeom prst="curvedConnector3">
            <a:avLst>
              <a:gd fmla="val 0" name="adj1"/>
            </a:avLst>
          </a:prstGeom>
          <a:noFill/>
          <a:ln cap="flat" cmpd="sng" w="19050">
            <a:solidFill>
              <a:srgbClr val="ED7D3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8" name="Google Shape;298;g31fdec52c72_0_192"/>
          <p:cNvCxnSpPr>
            <a:stCxn id="281" idx="7"/>
          </p:cNvCxnSpPr>
          <p:nvPr/>
        </p:nvCxnSpPr>
        <p:spPr>
          <a:xfrm flipH="1" rot="-5400000">
            <a:off x="1478786" y="1349633"/>
            <a:ext cx="629100" cy="2542200"/>
          </a:xfrm>
          <a:prstGeom prst="bentConnector4">
            <a:avLst>
              <a:gd fmla="val -46661" name="adj1"/>
              <a:gd fmla="val 51180" name="adj2"/>
            </a:avLst>
          </a:prstGeom>
          <a:noFill/>
          <a:ln cap="flat" cmpd="sng" w="9525">
            <a:solidFill>
              <a:srgbClr val="4472C4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1fdec52c72_0_238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04" name="Google Shape;304;g31fdec52c72_0_238"/>
          <p:cNvSpPr txBox="1"/>
          <p:nvPr/>
        </p:nvSpPr>
        <p:spPr>
          <a:xfrm>
            <a:off x="172451" y="596766"/>
            <a:ext cx="282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g31fdec52c72_0_238"/>
          <p:cNvCxnSpPr/>
          <p:nvPr/>
        </p:nvCxnSpPr>
        <p:spPr>
          <a:xfrm>
            <a:off x="4397492" y="1170011"/>
            <a:ext cx="44400" cy="37212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6" name="Google Shape;306;g31fdec52c72_0_238"/>
          <p:cNvSpPr/>
          <p:nvPr/>
        </p:nvSpPr>
        <p:spPr>
          <a:xfrm>
            <a:off x="1791315" y="1855525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1fdec52c72_0_238"/>
          <p:cNvSpPr/>
          <p:nvPr/>
        </p:nvSpPr>
        <p:spPr>
          <a:xfrm>
            <a:off x="3535380" y="1855524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1fdec52c72_0_238"/>
          <p:cNvSpPr/>
          <p:nvPr/>
        </p:nvSpPr>
        <p:spPr>
          <a:xfrm>
            <a:off x="501452" y="2603279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1fdec52c72_0_238"/>
          <p:cNvSpPr/>
          <p:nvPr/>
        </p:nvSpPr>
        <p:spPr>
          <a:xfrm>
            <a:off x="3593617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fdec52c72_0_238"/>
          <p:cNvSpPr/>
          <p:nvPr/>
        </p:nvSpPr>
        <p:spPr>
          <a:xfrm>
            <a:off x="1801148" y="3357382"/>
            <a:ext cx="432600" cy="4893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1fdec52c72_0_238"/>
          <p:cNvCxnSpPr/>
          <p:nvPr/>
        </p:nvCxnSpPr>
        <p:spPr>
          <a:xfrm flipH="1" rot="10800000">
            <a:off x="902393" y="2207640"/>
            <a:ext cx="920700" cy="57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2" name="Google Shape;312;g31fdec52c72_0_238"/>
          <p:cNvCxnSpPr>
            <a:stCxn id="310" idx="6"/>
            <a:endCxn id="309" idx="2"/>
          </p:cNvCxnSpPr>
          <p:nvPr/>
        </p:nvCxnSpPr>
        <p:spPr>
          <a:xfrm>
            <a:off x="2233748" y="3602032"/>
            <a:ext cx="13599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3" name="Google Shape;313;g31fdec52c72_0_238"/>
          <p:cNvCxnSpPr>
            <a:endCxn id="307" idx="4"/>
          </p:cNvCxnSpPr>
          <p:nvPr/>
        </p:nvCxnSpPr>
        <p:spPr>
          <a:xfrm rot="10800000">
            <a:off x="3751680" y="2344824"/>
            <a:ext cx="18900" cy="1012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4" name="Google Shape;314;g31fdec52c72_0_238"/>
          <p:cNvCxnSpPr>
            <a:stCxn id="306" idx="6"/>
            <a:endCxn id="307" idx="2"/>
          </p:cNvCxnSpPr>
          <p:nvPr/>
        </p:nvCxnSpPr>
        <p:spPr>
          <a:xfrm>
            <a:off x="2223915" y="2100175"/>
            <a:ext cx="131160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15" name="Google Shape;315;g31fdec52c72_0_238"/>
          <p:cNvCxnSpPr>
            <a:endCxn id="310" idx="2"/>
          </p:cNvCxnSpPr>
          <p:nvPr/>
        </p:nvCxnSpPr>
        <p:spPr>
          <a:xfrm>
            <a:off x="770648" y="3069832"/>
            <a:ext cx="1030500" cy="5322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16" name="Google Shape;316;g31fdec52c72_0_238"/>
          <p:cNvSpPr txBox="1"/>
          <p:nvPr/>
        </p:nvSpPr>
        <p:spPr>
          <a:xfrm flipH="1">
            <a:off x="1452199" y="2305775"/>
            <a:ext cx="9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1fdec52c72_0_238"/>
          <p:cNvSpPr txBox="1"/>
          <p:nvPr/>
        </p:nvSpPr>
        <p:spPr>
          <a:xfrm>
            <a:off x="1963434" y="256745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fdec52c72_0_238"/>
          <p:cNvSpPr txBox="1"/>
          <p:nvPr/>
        </p:nvSpPr>
        <p:spPr>
          <a:xfrm>
            <a:off x="1225444" y="3114966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g31fdec52c72_0_238"/>
          <p:cNvSpPr txBox="1"/>
          <p:nvPr/>
        </p:nvSpPr>
        <p:spPr>
          <a:xfrm>
            <a:off x="2686126" y="1857872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1fdec52c72_0_238"/>
          <p:cNvSpPr txBox="1"/>
          <p:nvPr/>
        </p:nvSpPr>
        <p:spPr>
          <a:xfrm>
            <a:off x="2728814" y="3432527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1fdec52c72_0_238"/>
          <p:cNvSpPr txBox="1"/>
          <p:nvPr/>
        </p:nvSpPr>
        <p:spPr>
          <a:xfrm>
            <a:off x="3770599" y="2663190"/>
            <a:ext cx="30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2" name="Google Shape;322;g31fdec52c72_0_238"/>
          <p:cNvCxnSpPr>
            <a:stCxn id="306" idx="4"/>
            <a:endCxn id="310" idx="0"/>
          </p:cNvCxnSpPr>
          <p:nvPr/>
        </p:nvCxnSpPr>
        <p:spPr>
          <a:xfrm>
            <a:off x="2007615" y="2344825"/>
            <a:ext cx="9900" cy="10125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3" name="Google Shape;323;g31fdec52c72_0_238"/>
          <p:cNvCxnSpPr>
            <a:endCxn id="308" idx="0"/>
          </p:cNvCxnSpPr>
          <p:nvPr/>
        </p:nvCxnSpPr>
        <p:spPr>
          <a:xfrm>
            <a:off x="646652" y="2072879"/>
            <a:ext cx="71100" cy="530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aphicFrame>
        <p:nvGraphicFramePr>
          <p:cNvPr id="324" name="Google Shape;324;g31fdec52c72_0_238"/>
          <p:cNvGraphicFramePr/>
          <p:nvPr/>
        </p:nvGraphicFramePr>
        <p:xfrm>
          <a:off x="4515428" y="17855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{CF3F4919-2354-4E48-9620-509937D12903}</a:tableStyleId>
              </a:tblPr>
              <a:tblGrid>
                <a:gridCol w="1183675"/>
                <a:gridCol w="1690950"/>
                <a:gridCol w="1444300"/>
              </a:tblGrid>
              <a:tr h="529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Start node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End node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weight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  <a:tr h="302750">
                <a:tc rowSpan="5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  <a:tr h="3027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  <a:tr h="3027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  <a:tr h="3204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  <a:tr h="30275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800" u="none" cap="none" strike="noStrike">
                          <a:solidFill>
                            <a:srgbClr val="FF0000"/>
                          </a:solidFill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9CC2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fdec52c72_0_265"/>
          <p:cNvSpPr txBox="1"/>
          <p:nvPr/>
        </p:nvSpPr>
        <p:spPr>
          <a:xfrm>
            <a:off x="3315000" y="2932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330" name="Google Shape;330;g31fdec52c72_0_265"/>
          <p:cNvGraphicFramePr/>
          <p:nvPr/>
        </p:nvGraphicFramePr>
        <p:xfrm>
          <a:off x="274075" y="63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{BCB1636E-AE35-4243-876C-C8423B1063C2}</a:tableStyleId>
              </a:tblPr>
              <a:tblGrid>
                <a:gridCol w="4123825"/>
                <a:gridCol w="4123825"/>
              </a:tblGrid>
              <a:tr h="40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import java.util.*;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class Graph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int V;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private List&lt;List&lt;Node&gt;&gt; adj;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Graph(int V)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this.V = V;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adj = new ArrayList&lt;&gt;(V);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(int i = 0; i &lt; V; i++)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adj.add(new ArrayList&lt;&gt;());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addEdge(int source, int destination, int weight)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 node = new Node(destination,weight);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adj.get(source).add(node);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void dijkstra(int startVertex) {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int[] distance = new int[V];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Arrays.fill(distance, Integer.MAX_VALUE);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distance[startVertex] = 0;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PriorityQueue&lt;Node&gt; pq = new PriorityQueue&lt;&gt;(V, Comparator.comparingInt(node -&gt; node.weight));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pq.add(new Node(startVertex, 0));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(!pq.isEmpty())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currentVertex = pq.poll().vertex;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 (Node neighbor :adj.get(currentVertex))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int newDist = distance[currentVertex] + neighbor.weight;</a:t>
                      </a:r>
                      <a:endParaRPr sz="135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1fdec52c72_0_291"/>
          <p:cNvSpPr txBox="1"/>
          <p:nvPr/>
        </p:nvSpPr>
        <p:spPr>
          <a:xfrm>
            <a:off x="3315000" y="2932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graphicFrame>
        <p:nvGraphicFramePr>
          <p:cNvPr id="336" name="Google Shape;336;g31fdec52c72_0_291"/>
          <p:cNvGraphicFramePr/>
          <p:nvPr/>
        </p:nvGraphicFramePr>
        <p:xfrm>
          <a:off x="274075" y="63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{BCB1636E-AE35-4243-876C-C8423B1063C2}</a:tableStyleId>
              </a:tblPr>
              <a:tblGrid>
                <a:gridCol w="4123825"/>
                <a:gridCol w="4123825"/>
              </a:tblGrid>
              <a:tr h="407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(newDist &lt; distance[neighbor.vertex])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distance[neighbor.vertex] = newDist;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pq.add(new Node(neighbor.vertex, newDist));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System.out.println("Vertex\tDistance from Source");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for (int i = 0; i &lt; V; i++)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System.out.println(i + "\t" + distance[i]);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static class Node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vertex;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weight;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olas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public Node(int vertex, int weight) {   </a:t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this.vertex = vertex;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this.weight = weight;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Main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public static void main(String[] args) {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V = 5; 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int source = 0; </a:t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 graph = new Graph(V);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graph.addEdge(0, 1, 2);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graph.addEdge(0, 3, 1);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graph.addEdge(1, 2, 3);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graph.addEdge(1, 3, 2);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graph.addEdge(3, 4, 4);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graph.addEdge(4, 2, 1);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graph.dijkstra(source);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}</a:t>
                      </a:r>
                      <a:endParaRPr b="1" sz="135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35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sz="135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1fdec52c72_0_296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2" name="Google Shape;342;g31fdec52c72_0_296"/>
          <p:cNvSpPr txBox="1"/>
          <p:nvPr/>
        </p:nvSpPr>
        <p:spPr>
          <a:xfrm>
            <a:off x="390826" y="13192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time complexity of this Dijkstra's algorithm implementation is O(V^2) for the worst-case scenario when using an adjacency matrix.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the use of a priority queue, the time complexity can be reduced to O(E + V * log(V)), where E is the number of edges and V is the number of vertices.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3" name="Google Shape;343;g31fdec52c72_0_296"/>
          <p:cNvSpPr txBox="1"/>
          <p:nvPr/>
        </p:nvSpPr>
        <p:spPr>
          <a:xfrm>
            <a:off x="172450" y="749175"/>
            <a:ext cx="39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1fdec52c72_0_302"/>
          <p:cNvSpPr txBox="1"/>
          <p:nvPr/>
        </p:nvSpPr>
        <p:spPr>
          <a:xfrm>
            <a:off x="3315000" y="445600"/>
            <a:ext cx="251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DIAL’S ALGORITHM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49" name="Google Shape;349;g31fdec52c72_0_302"/>
          <p:cNvSpPr txBox="1"/>
          <p:nvPr/>
        </p:nvSpPr>
        <p:spPr>
          <a:xfrm>
            <a:off x="390826" y="1319275"/>
            <a:ext cx="835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Space Complexity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space complexity of this code is O(V^2) for the adjacency matrix representation due to the 2D array.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With an adjacency list representation, the space complexity is O(V + E), where V is the number of vertices and E is the number of edges in the graph.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g31fdec52c72_0_302"/>
          <p:cNvSpPr txBox="1"/>
          <p:nvPr/>
        </p:nvSpPr>
        <p:spPr>
          <a:xfrm>
            <a:off x="172450" y="749175"/>
            <a:ext cx="39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1fdec52c72_0_308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56" name="Google Shape;356;g31fdec52c72_0_308"/>
          <p:cNvSpPr txBox="1"/>
          <p:nvPr/>
        </p:nvSpPr>
        <p:spPr>
          <a:xfrm>
            <a:off x="404326" y="1222594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1. What is Dijkstra's algorithm, and what problem does it solve?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g31fdec52c72_0_308"/>
          <p:cNvSpPr txBox="1"/>
          <p:nvPr/>
        </p:nvSpPr>
        <p:spPr>
          <a:xfrm>
            <a:off x="474800" y="1692700"/>
            <a:ext cx="8199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Dijkstra's algorithm is a graph traversal algorithm that finds the shortest path from a source node to all other nodes in a weighted graph.</a:t>
            </a:r>
            <a:endParaRPr sz="1600">
              <a:solidFill>
                <a:schemeClr val="dk1"/>
              </a:solidFill>
            </a:endParaRPr>
          </a:p>
          <a:p>
            <a:pPr indent="-3175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 solves the single-source shortest path problem, which is finding the shortest path from one node to all other nodes while considering edge weights.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1fdec52c72_0_319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63" name="Google Shape;363;g31fdec52c72_0_319"/>
          <p:cNvSpPr txBox="1"/>
          <p:nvPr/>
        </p:nvSpPr>
        <p:spPr>
          <a:xfrm>
            <a:off x="404326" y="1222594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i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2. How does Dijkstra's algorithm work?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g31fdec52c72_0_319"/>
          <p:cNvSpPr txBox="1"/>
          <p:nvPr/>
        </p:nvSpPr>
        <p:spPr>
          <a:xfrm>
            <a:off x="474800" y="1692700"/>
            <a:ext cx="81993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Dijkstra's algorithm starts with a source node and explores neighboring nodes, updating the shortest distances.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 maintains a priority queue or set to select the node with the smallest tentative distance at each step.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algorithm iterates until all nodes are visited or the target node is reached.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fdec52c72_0_325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70" name="Google Shape;370;g31fdec52c72_0_325"/>
          <p:cNvSpPr txBox="1"/>
          <p:nvPr/>
        </p:nvSpPr>
        <p:spPr>
          <a:xfrm>
            <a:off x="404325" y="1222600"/>
            <a:ext cx="77664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i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3. What is the difference between Dijkstra's algorithm and BFS (Breadth-First Search)?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1" name="Google Shape;371;g31fdec52c72_0_325"/>
          <p:cNvSpPr txBox="1"/>
          <p:nvPr/>
        </p:nvSpPr>
        <p:spPr>
          <a:xfrm>
            <a:off x="474800" y="1997500"/>
            <a:ext cx="81993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Dijkstra's algorithm finds the shortest path in weighted graphs, considering edge weights.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BFS explores nodes in unweighted graphs without considering edge weights to find the shortest path in terms of the number of edges.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fdec52c72_0_331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77" name="Google Shape;377;g31fdec52c72_0_331"/>
          <p:cNvSpPr txBox="1"/>
          <p:nvPr/>
        </p:nvSpPr>
        <p:spPr>
          <a:xfrm>
            <a:off x="404326" y="1222594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i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4. Can Dijkstra's algorithm handle graphs with negative edge weights?</a:t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g31fdec52c72_0_331"/>
          <p:cNvSpPr txBox="1"/>
          <p:nvPr/>
        </p:nvSpPr>
        <p:spPr>
          <a:xfrm>
            <a:off x="474800" y="1692700"/>
            <a:ext cx="8199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No, Dijkstra's algorithm does not work correctly with negative edge weights.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Negative edge weights can lead to incorrect results and are better suited for algorithms like Bellman-Ford.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1fdec52c72_0_337"/>
          <p:cNvSpPr txBox="1"/>
          <p:nvPr/>
        </p:nvSpPr>
        <p:spPr>
          <a:xfrm>
            <a:off x="3315000" y="445600"/>
            <a:ext cx="325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en-GB" sz="1800">
                <a:solidFill>
                  <a:srgbClr val="8182EF"/>
                </a:solidFill>
                <a:latin typeface="Roboto Black"/>
                <a:ea typeface="Roboto Black"/>
                <a:cs typeface="Roboto Black"/>
                <a:sym typeface="Roboto Black"/>
              </a:rPr>
              <a:t>INTERVIEW QUESTIONS</a:t>
            </a:r>
            <a:endParaRPr b="0" i="0" sz="1800" u="none" cap="none" strike="noStrike">
              <a:solidFill>
                <a:srgbClr val="6D9EEB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384" name="Google Shape;384;g31fdec52c72_0_337"/>
          <p:cNvSpPr txBox="1"/>
          <p:nvPr/>
        </p:nvSpPr>
        <p:spPr>
          <a:xfrm>
            <a:off x="404326" y="1222594"/>
            <a:ext cx="10515600" cy="6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Arial"/>
              <a:buNone/>
            </a:pPr>
            <a:r>
              <a:rPr i="1" lang="en-GB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5.When should you choose Dijkstra's algorithm over other graph algorithms?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g31fdec52c72_0_337"/>
          <p:cNvSpPr txBox="1"/>
          <p:nvPr/>
        </p:nvSpPr>
        <p:spPr>
          <a:xfrm>
            <a:off x="474800" y="1692700"/>
            <a:ext cx="81993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Use Dijkstra's algorithm when you need to find the shortest path in a weighted graph with non-negative edge weights.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GB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It is particularly useful for problems like finding the shortest route on a map or optimizing network routing.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"/>
          <p:cNvSpPr/>
          <p:nvPr/>
        </p:nvSpPr>
        <p:spPr>
          <a:xfrm>
            <a:off x="532420" y="143999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91" name="Google Shape;3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9687" y="1038566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"/>
          <p:cNvSpPr/>
          <p:nvPr/>
        </p:nvSpPr>
        <p:spPr>
          <a:xfrm>
            <a:off x="1634729" y="4055269"/>
            <a:ext cx="518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399" name="Google Shape;3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5"/>
          <p:cNvSpPr txBox="1"/>
          <p:nvPr/>
        </p:nvSpPr>
        <p:spPr>
          <a:xfrm>
            <a:off x="3141000" y="2194650"/>
            <a:ext cx="28620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GB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1" name="Google Shape;40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"/>
          <p:cNvSpPr txBox="1"/>
          <p:nvPr/>
        </p:nvSpPr>
        <p:spPr>
          <a:xfrm>
            <a:off x="1980750" y="4590801"/>
            <a:ext cx="1187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4" name="Google Shape;404;p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5"/>
          <p:cNvSpPr txBox="1"/>
          <p:nvPr/>
        </p:nvSpPr>
        <p:spPr>
          <a:xfrm>
            <a:off x="3519050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6" name="Google Shape;40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"/>
          <p:cNvSpPr txBox="1"/>
          <p:nvPr/>
        </p:nvSpPr>
        <p:spPr>
          <a:xfrm>
            <a:off x="5457275" y="4590801"/>
            <a:ext cx="1934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GB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8" name="Google Shape;408;p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