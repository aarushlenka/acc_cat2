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Roboto Black"/>
      <p:bold r:id="rId32"/>
      <p:boldItalic r:id="rId33"/>
    </p:embeddedFon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  <p15:guide id="7" pos="1757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hwn8otdz+CU83nACDiW1lEXEFR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19FC1F-14CA-4FFE-B171-072851EFCAF7}">
  <a:tblStyle styleId="{9319FC1F-14CA-4FFE-B171-072851EFCAF7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  <p:guide pos="17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Black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Black-bold.fntdata"/><Relationship Id="rId13" Type="http://schemas.openxmlformats.org/officeDocument/2006/relationships/slide" Target="slides/slide6.xml"/><Relationship Id="rId35" Type="http://schemas.openxmlformats.org/officeDocument/2006/relationships/font" Target="fonts/Roboto-bold.fntdata"/><Relationship Id="rId12" Type="http://schemas.openxmlformats.org/officeDocument/2006/relationships/slide" Target="slides/slide5.xml"/><Relationship Id="rId34" Type="http://schemas.openxmlformats.org/officeDocument/2006/relationships/font" Target="fonts/Roboto-regular.fntdata"/><Relationship Id="rId15" Type="http://schemas.openxmlformats.org/officeDocument/2006/relationships/slide" Target="slides/slide8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4337fc5d2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14337fc5d25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041119a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g32041119a6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041119a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g32041119a69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41119a6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32041119a69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041119a6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g32041119a69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041119a6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g32041119a69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041119a6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32041119a69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041119a6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2041119a69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041119a6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2041119a69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041119a6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32041119a69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041119a6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2041119a69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041119a6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g32041119a69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041119a6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32041119a69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041119a6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32041119a69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041119a6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g32041119a69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fdec52c7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1fdec52c72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43a3cdda7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243a3cdda7_0_8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43a3cdda7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g3243a3cdda7_0_8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43a3cdda7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g3243a3cdda7_0_8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041119a6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g32041119a69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1fef00ada2_0_1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g31fef00ada2_0_1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g31fef00ada2_0_1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1fef00ada2_0_1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1fef00ada2_0_1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" name="Google Shape;73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86" name="Google Shape;86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hyperlink" Target="https://learn.codemithra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40951" y="2260382"/>
            <a:ext cx="469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GB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337fc5d25_0_216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5" name="Google Shape;115;g14337fc5d25_0_216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14337fc5d25_0_21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directed graph is characterized by edges that possess specific directions, often referred to as arcs. Consider two vertices, v and w, within such a directed graph.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041119a69_0_0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2" name="Google Shape;122;g32041119a69_0_0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2041119a69_0_0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Inedge: An edge pointing toward or entering a node.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Outedge: An edge pointing away or departing from a node. The nodes at the receiving end of the out edges of v are termed v's neighbors.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Indegree: The count of edges directed into a node.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Outdegree: The count of outages departing from a node.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Dependency: Stating "v depends on w" or "v is dependent on w" signifies a directed path from w to v, where v and w are vertices in a directed graph.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041119a69_0_6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9" name="Google Shape;129;g32041119a69_0_6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TOPOLOGICAL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2041119a69_0_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Topological sorting is a linear ordering of the vertices of a directed acyclic graph (DAG) in such a way that for every directed edge U 🡪 V, Then vertex  U comes before V in the ordering. In simpler terms, it's an arrangement of the nodes in a directed graph such that every directed edge goes from left to right.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041119a69_0_14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6" name="Google Shape;136;g32041119a69_0_14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TOPOLOGICAL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2041119a69_0_14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DAG Requirement: Topological sorting is only applicable to Directed Acyclic Graphs (DAGs). The absence of cycles is crucial because cycles introduce ambiguity in defining a linear ordering.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Ordering: The output of a topological sort is a linear ordering of the vertices. This ordering respects the partial order defined by the directed edges.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041119a69_0_20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g32041119a69_0_20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TOPOLOGICAL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2041119a69_0_20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Dependencies: Topological sorting has significant applications in scheduling tasks that have dependencies. If task B depends on task A, then A comes before B in the topological order.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Algorithm: One common algorithm for topological sorting is the Depth-First Search (DFS) algorithm. The idea is to visit a node and mark it as visited before exploring its neighbors. The linear order of visiting nodes gives the topological order.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041119a69_0_26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0" name="Google Shape;150;g32041119a69_0_26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TOPOLOGICAL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2041119a69_0_2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Multiple Solutions: It's important to note that a DAG may have more than one valid topological ordering. The crucial aspect is the relative order of vertices connected by directed edges.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topological sorting provides a systematic way to order the vertices of a directed acyclic graph, reflecting the dependencies between nodes in a natural and meaningful manner.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041119a69_0_32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7" name="Google Shape;157;g32041119a69_0_32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2041119a69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8724" y="1592900"/>
            <a:ext cx="4335201" cy="19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041119a69_0_39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4" name="Google Shape;164;g32041119a69_0_39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2041119a69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925" y="2109225"/>
            <a:ext cx="6233374" cy="20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2041119a69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8754" y="1813501"/>
            <a:ext cx="2545301" cy="1516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041119a69_0_45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2" name="Google Shape;172;g32041119a69_0_45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2041119a69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725" y="1844025"/>
            <a:ext cx="5726074" cy="241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2041119a69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810" y="1813496"/>
            <a:ext cx="2545301" cy="1516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041119a69_0_51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0" name="Google Shape;180;g32041119a69_0_51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2041119a69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50" y="1818425"/>
            <a:ext cx="5937351" cy="225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2041119a69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5305" y="1813493"/>
            <a:ext cx="2545301" cy="1516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041119a69_0_63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8" name="Google Shape;188;g32041119a69_0_63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KHAN’S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2041119a69_0_63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steps below are involved in Kahn’s algorithm: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Auxiliary variables: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73050" lvl="0" marL="28575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array (“temp”) to hold the result of the preprocessing stage.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73050" lvl="0" marL="28575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variable (“visited”) to store the number of vertices that have been visited.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73050" lvl="0" marL="28575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string (“result”) to hold the topological sort order.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73050" lvl="0" marL="28575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queue.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041119a69_0_69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5" name="Google Shape;195;g32041119a69_0_69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KHAN’S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2041119a69_0_69"/>
          <p:cNvSpPr txBox="1"/>
          <p:nvPr/>
        </p:nvSpPr>
        <p:spPr>
          <a:xfrm>
            <a:off x="390825" y="1471675"/>
            <a:ext cx="8358600" cy="12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Pre-processing: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Calculate the in-degree of each vertex of the graph and store them in the array “temp”.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97" name="Google Shape;197;g32041119a69_0_69"/>
          <p:cNvGrpSpPr/>
          <p:nvPr/>
        </p:nvGrpSpPr>
        <p:grpSpPr>
          <a:xfrm>
            <a:off x="2533127" y="2703809"/>
            <a:ext cx="3608457" cy="1866159"/>
            <a:chOff x="2752531" y="4462919"/>
            <a:chExt cx="2192791" cy="1173537"/>
          </a:xfrm>
        </p:grpSpPr>
        <p:sp>
          <p:nvSpPr>
            <p:cNvPr id="198" name="Google Shape;198;g32041119a69_0_69"/>
            <p:cNvSpPr/>
            <p:nvPr/>
          </p:nvSpPr>
          <p:spPr>
            <a:xfrm>
              <a:off x="4609322" y="4823927"/>
              <a:ext cx="336000" cy="363900"/>
            </a:xfrm>
            <a:prstGeom prst="ellipse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9" name="Google Shape;199;g32041119a69_0_69"/>
            <p:cNvCxnSpPr>
              <a:endCxn id="198" idx="1"/>
            </p:cNvCxnSpPr>
            <p:nvPr/>
          </p:nvCxnSpPr>
          <p:spPr>
            <a:xfrm>
              <a:off x="3573728" y="4462919"/>
              <a:ext cx="1084800" cy="414300"/>
            </a:xfrm>
            <a:prstGeom prst="straightConnector1">
              <a:avLst/>
            </a:prstGeom>
            <a:noFill/>
            <a:ln cap="flat" cmpd="sng" w="38100">
              <a:solidFill>
                <a:srgbClr val="00B05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0" name="Google Shape;200;g32041119a69_0_69"/>
            <p:cNvCxnSpPr/>
            <p:nvPr/>
          </p:nvCxnSpPr>
          <p:spPr>
            <a:xfrm flipH="1" rot="10800000">
              <a:off x="3666931" y="5155856"/>
              <a:ext cx="1000800" cy="480600"/>
            </a:xfrm>
            <a:prstGeom prst="straightConnector1">
              <a:avLst/>
            </a:prstGeom>
            <a:noFill/>
            <a:ln cap="flat" cmpd="sng" w="38100">
              <a:solidFill>
                <a:srgbClr val="00B05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01" name="Google Shape;201;g32041119a69_0_69"/>
            <p:cNvSpPr/>
            <p:nvPr/>
          </p:nvSpPr>
          <p:spPr>
            <a:xfrm>
              <a:off x="2752531" y="4828803"/>
              <a:ext cx="1579500" cy="3801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INDEGREE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041119a69_0_75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7" name="Google Shape;207;g32041119a69_0_75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KHAN’S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2041119a69_0_75"/>
          <p:cNvSpPr txBox="1"/>
          <p:nvPr/>
        </p:nvSpPr>
        <p:spPr>
          <a:xfrm>
            <a:off x="390826" y="13192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Actual steps: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 the vertices with the in-degree of 0.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the queue is not empty: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Dequeue a vertex.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Add this vertex to the result.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Increment the “visited” variable by 1.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Decrement the in-degree of all its neighboring vertices by 1 in the array “temp”.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Enqueue the neighboring vertices with the in-degree of 0.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the value of the “visited” variable is equal to the number of vertices in the graph, then the graph is indeed directed and acyclic ​and the result will contain the topological sort for the graph.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041119a69_0_86"/>
          <p:cNvSpPr txBox="1"/>
          <p:nvPr/>
        </p:nvSpPr>
        <p:spPr>
          <a:xfrm>
            <a:off x="1922421" y="2932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4" name="Google Shape;214;g32041119a69_0_86"/>
          <p:cNvSpPr txBox="1"/>
          <p:nvPr/>
        </p:nvSpPr>
        <p:spPr>
          <a:xfrm>
            <a:off x="172449" y="2919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KHAN’S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g32041119a69_0_86"/>
          <p:cNvGraphicFramePr/>
          <p:nvPr/>
        </p:nvGraphicFramePr>
        <p:xfrm>
          <a:off x="76207" y="601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{9319FC1F-14CA-4FFE-B171-072851EFCAF7}</a:tableStyleId>
              </a:tblPr>
              <a:tblGrid>
                <a:gridCol w="4468325"/>
                <a:gridCol w="4468325"/>
              </a:tblGrid>
              <a:tr h="430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Graph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Map&lt;Integer, List&lt;Integer&gt;&gt; adjacencyList;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int vertices;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Graph(int vertices)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this.vertices = vertices;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this.adjacencyList = new HashMap&lt;&gt;();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for (int i = 0; i &lt; vertices; i++)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this.adjacencyList.put(i, new ArrayList&lt;&gt;());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void createEdge(int u, int v)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this.adjacencyList.get(u).add(v);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void topologicalSort()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int[] totalIndegree = new int[vertices];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for (int i = 0; i &lt; vertices; i++)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for (int j : adjacencyList.get(i))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totalIndegree[j]++;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}}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Queue&lt;Integer&gt; queue = new LinkedList&lt;&gt;();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for (int i = 0; i &lt; vertices; i++)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if (totalIndegree[i] == 0)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queue.add(i);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visitedNodes = 0;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List&lt;Integer&gt; order = new ArrayList&lt;&gt;();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2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while (!queue.isEmpty())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int u = queue.poll();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order.add(u);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2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for (int i : adjacencyList.get(u))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totalIndegree[i]--;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2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if (totalIndegree[i] == 0) {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queue.add(i);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visitedNodes++;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2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2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041119a69_0_93"/>
          <p:cNvSpPr txBox="1"/>
          <p:nvPr/>
        </p:nvSpPr>
        <p:spPr>
          <a:xfrm>
            <a:off x="1922421" y="2932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TOPOLOGICAL SORT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1" name="Google Shape;221;g32041119a69_0_93"/>
          <p:cNvSpPr txBox="1"/>
          <p:nvPr/>
        </p:nvSpPr>
        <p:spPr>
          <a:xfrm>
            <a:off x="172449" y="2919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KHAN’S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2041119a69_0_93"/>
          <p:cNvSpPr txBox="1"/>
          <p:nvPr/>
        </p:nvSpPr>
        <p:spPr>
          <a:xfrm>
            <a:off x="0" y="625150"/>
            <a:ext cx="9023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(visitedNodes != vertices) {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System.out.println("There's a cycle present in the Graph.\nGiven graph is not DAG");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System.out.println(order);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 graph = new Graph(6);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graph.createEdge(0, 1);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graph.createEdge(0, 2);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graph.createEdge(1, 3);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graph.createEdge(1, 5);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graph.createEdge(2, 3);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graph.createEdge(2, 5);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graph.createEdge(3, 4);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graph.createEdge(5, 4);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graph.topologicalSort();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fdec52c72_0_308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8" name="Google Shape;228;g31fdec52c72_0_308"/>
          <p:cNvSpPr txBox="1"/>
          <p:nvPr/>
        </p:nvSpPr>
        <p:spPr>
          <a:xfrm>
            <a:off x="1" y="1170007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1. What is Topological Sorting?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1fdec52c72_0_308"/>
          <p:cNvSpPr txBox="1"/>
          <p:nvPr/>
        </p:nvSpPr>
        <p:spPr>
          <a:xfrm>
            <a:off x="436323" y="1779900"/>
            <a:ext cx="7492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Topological Sorting is a linear ordering of the vertices of a directed acyclic graph (DAG) in such a way that for every directed edge u -&gt; v, vertex u comes before v in the ordering.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43a3cdda7_0_819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5" name="Google Shape;235;g3243a3cdda7_0_819"/>
          <p:cNvSpPr txBox="1"/>
          <p:nvPr/>
        </p:nvSpPr>
        <p:spPr>
          <a:xfrm>
            <a:off x="0" y="1170000"/>
            <a:ext cx="8086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3. How is Topological Sorting useful in project scheduling?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243a3cdda7_0_819"/>
          <p:cNvSpPr txBox="1"/>
          <p:nvPr/>
        </p:nvSpPr>
        <p:spPr>
          <a:xfrm>
            <a:off x="418725" y="1932300"/>
            <a:ext cx="80868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Topological Sorting helps schedule tasks that have dependencies. If task B depends on task A, then A comes before B in the topological order, providing a natural way to schedule dependent tasks.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43a3cdda7_0_825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2" name="Google Shape;242;g3243a3cdda7_0_825"/>
          <p:cNvSpPr txBox="1"/>
          <p:nvPr/>
        </p:nvSpPr>
        <p:spPr>
          <a:xfrm>
            <a:off x="152400" y="1170000"/>
            <a:ext cx="8263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4. Explain the algorithm for Topological Sorting using Depth-First Search (DFS).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243a3cdda7_0_825"/>
          <p:cNvSpPr txBox="1"/>
          <p:nvPr/>
        </p:nvSpPr>
        <p:spPr>
          <a:xfrm>
            <a:off x="436323" y="2008500"/>
            <a:ext cx="7492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The DFS-based algorithm involves visiting a node, marking it as visited, and then recursively exploring its neighbors. The linear order of visiting nodes gives the topological order.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243a3cdda7_0_831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9" name="Google Shape;249;g3243a3cdda7_0_831"/>
          <p:cNvSpPr txBox="1"/>
          <p:nvPr/>
        </p:nvSpPr>
        <p:spPr>
          <a:xfrm>
            <a:off x="1" y="1170007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4. Explain the algorithm for Topological Sorting using Depth-First Search (DFS).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243a3cdda7_0_831"/>
          <p:cNvSpPr txBox="1"/>
          <p:nvPr/>
        </p:nvSpPr>
        <p:spPr>
          <a:xfrm>
            <a:off x="436323" y="1779900"/>
            <a:ext cx="7492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Answer: The DFS-based algorithm involves visiting a node, marking it as visited, and then recursively exploring its neighbors. The linear order of visiting nodes gives the topological order.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2041119a69_0_101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6" name="Google Shape;256;g32041119a69_0_101"/>
          <p:cNvSpPr txBox="1"/>
          <p:nvPr/>
        </p:nvSpPr>
        <p:spPr>
          <a:xfrm>
            <a:off x="1" y="1170007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5. Can Topological Sorting be applied to graphs with cycles?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2041119a69_0_101"/>
          <p:cNvSpPr txBox="1"/>
          <p:nvPr/>
        </p:nvSpPr>
        <p:spPr>
          <a:xfrm>
            <a:off x="436323" y="1779900"/>
            <a:ext cx="7492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No, Topological Sorting cannot be applied to graphs with cycles. It is specifically designed for acyclic graphs. Cycles introduce ambiguity in defining a linear order.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3" name="Google Shape;2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1" name="Google Shape;2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5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" name="Google Shape;280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