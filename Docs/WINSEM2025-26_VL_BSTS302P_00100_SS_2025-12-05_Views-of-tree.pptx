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y="5143500" cx="9144000"/>
  <p:notesSz cx="6858000" cy="9144000"/>
  <p:embeddedFontLst>
    <p:embeddedFont>
      <p:font typeface="Roboto Black"/>
      <p:bold r:id="rId37"/>
      <p:boldItalic r:id="rId38"/>
    </p:embeddedFont>
    <p:embeddedFont>
      <p:font typeface="Robot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3" roundtripDataSignature="AMtx7mhm2Sc9o8wSzcfhuwHPfM7aQl3Q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1064A6-1E2B-4619-90D5-089ADFEF5521}">
  <a:tblStyle styleId="{B31064A6-1E2B-4619-90D5-089ADFEF552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3.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5.xml"/><Relationship Id="rId21" Type="http://schemas.openxmlformats.org/officeDocument/2006/relationships/slide" Target="slides/slide14.xml"/><Relationship Id="rId43" Type="http://customschemas.google.com/relationships/presentationmetadata" Target="meta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font" Target="fonts/RobotoBlack-bold.fntdata"/><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regular.fntdata"/><Relationship Id="rId16" Type="http://schemas.openxmlformats.org/officeDocument/2006/relationships/slide" Target="slides/slide9.xml"/><Relationship Id="rId38" Type="http://schemas.openxmlformats.org/officeDocument/2006/relationships/font" Target="fonts/RobotoBlack-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2" name="Google Shape;112;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1fef00ada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9" name="Google Shape;119;g31fef00ada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1fef00ada2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6" name="Google Shape;126;g31fef00ada2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fe56d80bc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3" name="Google Shape;133;g31fe56d80bc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1fef00ada2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9" name="Google Shape;139;g31fef00ada2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1feea4d993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5" name="Google Shape;145;g31feea4d993_0_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fef00ada2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2" name="Google Shape;152;g31fef00ada2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fef00ada2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8" name="Google Shape;158;g31fef00ada2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1feea4d993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4" name="Google Shape;164;g31feea4d993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fef00ada2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1" name="Google Shape;171;g31fef00ada2_0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1fef00ada2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6" name="Google Shape;176;g31fef00ada2_0_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fef00ada2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1" name="Google Shape;181;g31fef00ada2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1fef00ada2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8" name="Google Shape;188;g31fef00ada2_0_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1fef00ada2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3" name="Google Shape;193;g31fef00ada2_0_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1fef00ada2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8" name="Google Shape;198;g31fef00ada2_0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1fef00ada2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5" name="Google Shape;205;g31fef00ada2_0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1fef00ada2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1" name="Google Shape;211;g31fef00ada2_0_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fef00ada2_0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7" name="Google Shape;217;g31fef00ada2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1fef00ada2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4" name="Google Shape;224;g31fef00ada2_0_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1fef00ada2_0_1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0" name="Google Shape;230;g31fef00ada2_0_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6" name="Google Shape;236;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3" name="Google Shape;243;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43a3cdda7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0" name="Google Shape;250;g3243a3cdda7_0_8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243a3cdda7_0_8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7" name="Google Shape;257;g3243a3cdda7_0_8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43a3cdda7_0_8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4" name="Google Shape;264;g3243a3cdda7_0_8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4" name="Shape 44"/>
        <p:cNvGrpSpPr/>
        <p:nvPr/>
      </p:nvGrpSpPr>
      <p:grpSpPr>
        <a:xfrm>
          <a:off x="0" y="0"/>
          <a:ext cx="0" cy="0"/>
          <a:chOff x="0" y="0"/>
          <a:chExt cx="0" cy="0"/>
        </a:xfrm>
      </p:grpSpPr>
      <p:sp>
        <p:nvSpPr>
          <p:cNvPr id="45" name="Google Shape;45;g31fef00ada2_0_12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6" name="Google Shape;46;g31fef00ada2_0_12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7" name="Google Shape;47;g31fef00ada2_0_1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8" name="Google Shape;48;g31fef00ada2_0_1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9" name="Google Shape;49;g31fef00ada2_0_1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8" name="Google Shape;58;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9" name="Google Shape;59;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2" name="Google Shape;62;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64" name="Shape 6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 name="Shape 65"/>
        <p:cNvGrpSpPr/>
        <p:nvPr/>
      </p:nvGrpSpPr>
      <p:grpSpPr>
        <a:xfrm>
          <a:off x="0" y="0"/>
          <a:ext cx="0" cy="0"/>
          <a:chOff x="0" y="0"/>
          <a:chExt cx="0" cy="0"/>
        </a:xfrm>
      </p:grpSpPr>
      <p:sp>
        <p:nvSpPr>
          <p:cNvPr id="66" name="Google Shape;66;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7" name="Google Shape;67;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 name="Google Shape;70;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 name="Shape 71"/>
        <p:cNvGrpSpPr/>
        <p:nvPr/>
      </p:nvGrpSpPr>
      <p:grpSpPr>
        <a:xfrm>
          <a:off x="0" y="0"/>
          <a:ext cx="0" cy="0"/>
          <a:chOff x="0" y="0"/>
          <a:chExt cx="0" cy="0"/>
        </a:xfrm>
      </p:grpSpPr>
      <p:sp>
        <p:nvSpPr>
          <p:cNvPr id="72" name="Google Shape;72;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3" name="Google Shape;73;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74" name="Google Shape;74;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 name="Shape 75"/>
        <p:cNvGrpSpPr/>
        <p:nvPr/>
      </p:nvGrpSpPr>
      <p:grpSpPr>
        <a:xfrm>
          <a:off x="0" y="0"/>
          <a:ext cx="0" cy="0"/>
          <a:chOff x="0" y="0"/>
          <a:chExt cx="0" cy="0"/>
        </a:xfrm>
      </p:grpSpPr>
      <p:sp>
        <p:nvSpPr>
          <p:cNvPr id="76" name="Google Shape;76;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7" name="Google Shape;77;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 name="Shape 78"/>
        <p:cNvGrpSpPr/>
        <p:nvPr/>
      </p:nvGrpSpPr>
      <p:grpSpPr>
        <a:xfrm>
          <a:off x="0" y="0"/>
          <a:ext cx="0" cy="0"/>
          <a:chOff x="0" y="0"/>
          <a:chExt cx="0" cy="0"/>
        </a:xfrm>
      </p:grpSpPr>
      <p:sp>
        <p:nvSpPr>
          <p:cNvPr id="79" name="Google Shape;79;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80" name="Google Shape;80;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1" name="Google Shape;81;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 name="Google Shape;82;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3" name="Google Shape;83;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6" name="Google Shape;86;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sp>
        <p:nvSpPr>
          <p:cNvPr id="88" name="Google Shape;88;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9" name="Google Shape;89;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0" name="Google Shape;90;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theme" Target="../theme/theme2.xml"/><Relationship Id="rId12" Type="http://schemas.openxmlformats.org/officeDocument/2006/relationships/slideLayout" Target="../slideLayouts/slideLayout21.xml"/><Relationship Id="rId1" Type="http://schemas.openxmlformats.org/officeDocument/2006/relationships/image" Target="../media/image2.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7.png"/><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9.png"/><Relationship Id="rId4" Type="http://schemas.openxmlformats.org/officeDocument/2006/relationships/hyperlink" Target="https://learn.codemithra.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1.jp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8" name="Google Shape;98;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9" name="Google Shape;99;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101" name="Google Shape;101;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7" name="Google Shape;10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8" name="Google Shape;108;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9" name="Google Shape;109;p3"/>
          <p:cNvSpPr txBox="1"/>
          <p:nvPr/>
        </p:nvSpPr>
        <p:spPr>
          <a:xfrm>
            <a:off x="140951" y="2260382"/>
            <a:ext cx="46908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2600" u="none" cap="none" strike="noStrike">
                <a:solidFill>
                  <a:schemeClr val="lt1"/>
                </a:solidFill>
                <a:latin typeface="Consolas"/>
                <a:ea typeface="Consolas"/>
                <a:cs typeface="Consolas"/>
                <a:sym typeface="Consolas"/>
              </a:rPr>
              <a:t>VIEWS OF TREE</a:t>
            </a:r>
            <a:endParaRPr b="1" i="0" sz="2600" u="none" cap="none" strike="noStrike">
              <a:solidFill>
                <a:schemeClr val="lt1"/>
              </a:solidFill>
              <a:latin typeface="Consolas"/>
              <a:ea typeface="Consolas"/>
              <a:cs typeface="Consolas"/>
              <a:sym typeface="Consola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4337fc5d25_0_21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
        <p:nvSpPr>
          <p:cNvPr id="115" name="Google Shape;115;g14337fc5d25_0_2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 a binary tree, a "view" refers to a specific perspective or representation of the tree's nodes. Different views highlight different aspects of the tree's structure or content, such as nodes visible from the top, bottom, left, or right. These views help analyze and understand the tree's characteristics from various angles.</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16" name="Google Shape;116;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1fef00ada2_0_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
        <p:nvSpPr>
          <p:cNvPr id="122" name="Google Shape;122;g31fef00ada2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Types of View in Binary Tree are :</a:t>
            </a:r>
            <a:endParaRPr b="0" i="0" sz="1600" u="none" cap="none" strike="noStrike">
              <a:solidFill>
                <a:schemeClr val="dk1"/>
              </a:solidFill>
              <a:latin typeface="Arial"/>
              <a:ea typeface="Arial"/>
              <a:cs typeface="Arial"/>
              <a:sym typeface="Arial"/>
            </a:endParaRPr>
          </a:p>
          <a:p>
            <a:pPr indent="-171450" lvl="0" marL="285750" marR="0" rtl="0" algn="l">
              <a:lnSpc>
                <a:spcPct val="150000"/>
              </a:lnSpc>
              <a:spcBef>
                <a:spcPts val="0"/>
              </a:spcBef>
              <a:spcAft>
                <a:spcPts val="0"/>
              </a:spcAft>
              <a:buClr>
                <a:schemeClr val="dk1"/>
              </a:buClr>
              <a:buSzPts val="1800"/>
              <a:buFont typeface="Noto Sans Symbols"/>
              <a:buNone/>
            </a:pPr>
            <a:r>
              <a:t/>
            </a:r>
            <a:endParaRPr b="0" i="0" sz="1600" u="none" cap="none" strike="noStrike">
              <a:solidFill>
                <a:schemeClr val="dk1"/>
              </a:solidFill>
              <a:latin typeface="Consolas"/>
              <a:ea typeface="Consolas"/>
              <a:cs typeface="Consolas"/>
              <a:sym typeface="Consolas"/>
            </a:endParaRPr>
          </a:p>
          <a:p>
            <a:pPr indent="-273050" lvl="0" marL="2857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Horizontal View</a:t>
            </a:r>
            <a:endParaRPr b="0" i="0" sz="1600" u="none" cap="none" strike="noStrike">
              <a:solidFill>
                <a:schemeClr val="dk1"/>
              </a:solidFill>
              <a:latin typeface="Arial"/>
              <a:ea typeface="Arial"/>
              <a:cs typeface="Arial"/>
              <a:sym typeface="Arial"/>
            </a:endParaRPr>
          </a:p>
          <a:p>
            <a:pPr indent="-273050" lvl="0" marL="2857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Vertical View</a:t>
            </a:r>
            <a:endParaRPr b="0" i="0" sz="1600" u="none" cap="none" strike="noStrike">
              <a:solidFill>
                <a:schemeClr val="dk1"/>
              </a:solidFill>
              <a:latin typeface="Arial"/>
              <a:ea typeface="Arial"/>
              <a:cs typeface="Arial"/>
              <a:sym typeface="Arial"/>
            </a:endParaRPr>
          </a:p>
          <a:p>
            <a:pPr indent="-273050" lvl="0" marL="2857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Left View</a:t>
            </a:r>
            <a:endParaRPr b="0" i="0" sz="1600" u="none" cap="none" strike="noStrike">
              <a:solidFill>
                <a:schemeClr val="dk1"/>
              </a:solidFill>
              <a:latin typeface="Arial"/>
              <a:ea typeface="Arial"/>
              <a:cs typeface="Arial"/>
              <a:sym typeface="Arial"/>
            </a:endParaRPr>
          </a:p>
          <a:p>
            <a:pPr indent="-273050" lvl="0" marL="2857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Right View</a:t>
            </a:r>
            <a:endParaRPr b="0" i="0" sz="1600" u="none" cap="none" strike="noStrike">
              <a:solidFill>
                <a:schemeClr val="dk1"/>
              </a:solidFill>
              <a:latin typeface="Arial"/>
              <a:ea typeface="Arial"/>
              <a:cs typeface="Arial"/>
              <a:sym typeface="Arial"/>
            </a:endParaRPr>
          </a:p>
          <a:p>
            <a:pPr indent="-273050" lvl="0" marL="2857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Top View</a:t>
            </a:r>
            <a:endParaRPr b="0" i="0" sz="1600" u="none" cap="none" strike="noStrike">
              <a:solidFill>
                <a:schemeClr val="dk1"/>
              </a:solidFill>
              <a:latin typeface="Arial"/>
              <a:ea typeface="Arial"/>
              <a:cs typeface="Arial"/>
              <a:sym typeface="Arial"/>
            </a:endParaRPr>
          </a:p>
          <a:p>
            <a:pPr indent="-273050" lvl="0" marL="285750" marR="0" rtl="0" algn="l">
              <a:lnSpc>
                <a:spcPct val="15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Bottom View</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23" name="Google Shape;123;g31fef00ada2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1fef00ada2_0_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
        <p:nvSpPr>
          <p:cNvPr id="129" name="Google Shape;129;g31fef00ada2_0_6"/>
          <p:cNvSpPr txBox="1"/>
          <p:nvPr/>
        </p:nvSpPr>
        <p:spPr>
          <a:xfrm>
            <a:off x="390825" y="1471675"/>
            <a:ext cx="8358600" cy="13305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The horizontal view of a binary tree shows the nodes from left to right at each level. Nodes at the same level are listed in the order of their appearance, from left to right. </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Example:</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A</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B   C</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 \ / \</a:t>
            </a:r>
            <a:endParaRPr b="0" i="0" sz="1600" u="none" cap="none" strike="noStrike">
              <a:solidFill>
                <a:schemeClr val="dk1"/>
              </a:solidFill>
              <a:latin typeface="Arial"/>
              <a:ea typeface="Arial"/>
              <a:cs typeface="Arial"/>
              <a:sym typeface="Arial"/>
            </a:endParaRPr>
          </a:p>
          <a:p>
            <a:pPr indent="0" lvl="8" marL="3657600" marR="0" rtl="0" algn="l">
              <a:lnSpc>
                <a:spcPct val="115000"/>
              </a:lnSpc>
              <a:spcBef>
                <a:spcPts val="0"/>
              </a:spcBef>
              <a:spcAft>
                <a:spcPts val="0"/>
              </a:spcAft>
              <a:buClr>
                <a:schemeClr val="dk1"/>
              </a:buClr>
              <a:buSzPts val="1800"/>
              <a:buFont typeface="Arial"/>
              <a:buNone/>
            </a:pPr>
            <a:r>
              <a:rPr b="0" i="0" lang="en-GB" sz="1600" u="none" cap="none" strike="noStrike">
                <a:solidFill>
                  <a:srgbClr val="FF0000"/>
                </a:solidFill>
                <a:latin typeface="Consolas"/>
                <a:ea typeface="Consolas"/>
                <a:cs typeface="Consolas"/>
                <a:sym typeface="Consolas"/>
              </a:rPr>
              <a:t>     D  E F  G</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0" i="0" lang="en-GB" sz="1600" u="none" cap="none" strike="noStrike">
                <a:solidFill>
                  <a:srgbClr val="FF0000"/>
                </a:solidFill>
                <a:latin typeface="Consolas"/>
                <a:ea typeface="Consolas"/>
                <a:cs typeface="Consolas"/>
                <a:sym typeface="Consolas"/>
              </a:rPr>
              <a:t>     </a:t>
            </a:r>
            <a:r>
              <a:rPr b="0" i="0" lang="en-GB" sz="1600" u="none" cap="none" strike="noStrike">
                <a:solidFill>
                  <a:schemeClr val="dk1"/>
                </a:solidFill>
                <a:latin typeface="Consolas"/>
                <a:ea typeface="Consolas"/>
                <a:cs typeface="Consolas"/>
                <a:sym typeface="Consolas"/>
              </a:rPr>
              <a:t>Horizontal View:A B C D E F G</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30" name="Google Shape;130;g31fef00ada2_0_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HORIZONTAL VIEW</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graphicFrame>
        <p:nvGraphicFramePr>
          <p:cNvPr id="135" name="Google Shape;135;g31fe56d80bc_0_106"/>
          <p:cNvGraphicFramePr/>
          <p:nvPr/>
        </p:nvGraphicFramePr>
        <p:xfrm>
          <a:off x="202600" y="7234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TreeNode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TreeNode(char 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this.val =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left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right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Function to obtain the Horizontal View of a binary tree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List&lt;Character&gt; horizontalView(TreeNode root)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List&lt;Character&gt; horizontalView = new ArrayList&lt;&gt;();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(root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horizontalView;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Queue&lt;TreeNode&gt; queue = new LinkedList&lt;&gt;();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queue.offer(root);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while (!queue.isEmpty())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levelSize = queue.size();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0; i &lt; levelSize; i++)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node = queue.poll();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horizontalView.add(node.val);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(node.left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queue.offer(node.left);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(node.right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queue.offer(node.right);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36" name="Google Shape;136;g31fe56d80bc_0_10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aphicFrame>
        <p:nvGraphicFramePr>
          <p:cNvPr id="141" name="Google Shape;141;g31fef00ada2_0_12"/>
          <p:cNvGraphicFramePr/>
          <p:nvPr/>
        </p:nvGraphicFramePr>
        <p:xfrm>
          <a:off x="208325" y="1139188"/>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return horizontalView;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static void main(String[] args)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Sample binary tree input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root = new TreeNode('A');</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root.left = new TreeNode('B');</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 = new TreeNode('C');</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root.left.left = new TreeNode('D');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root.left.right = new TreeNode('E');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root.right.left = new TreeNode('F');</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root.right.right = new TreeNode('G');</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List&lt;Character&gt; horizontalViewResult = horizontalView(root);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Printing the Horizontal 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System.out.print("Horizontal View: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for (char node : horizontalViewResult)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System.out.print(node + "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System.out.println();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42" name="Google Shape;142;g31fef00ada2_0_1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1feea4d993_0_48"/>
          <p:cNvSpPr txBox="1"/>
          <p:nvPr/>
        </p:nvSpPr>
        <p:spPr>
          <a:xfrm>
            <a:off x="172449" y="901575"/>
            <a:ext cx="5337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rgbClr val="7030A0"/>
                </a:solidFill>
                <a:latin typeface="Consolas"/>
                <a:ea typeface="Consolas"/>
                <a:cs typeface="Consolas"/>
                <a:sym typeface="Consolas"/>
              </a:rPr>
              <a:t>Vertical View:</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148" name="Google Shape;148;g31feea4d993_0_48"/>
          <p:cNvSpPr txBox="1"/>
          <p:nvPr/>
        </p:nvSpPr>
        <p:spPr>
          <a:xfrm>
            <a:off x="439864" y="1227338"/>
            <a:ext cx="116835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The Vertical View displays nodes at the same vertical level.</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It shows the tree's structure from top to bottom.</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Example:</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A</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B   C</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 \</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D   E   F</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Vertical View:</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D B A E C F</a:t>
            </a:r>
            <a:endParaRPr b="0" i="0" sz="1600" u="none" cap="none" strike="noStrike">
              <a:solidFill>
                <a:srgbClr val="000000"/>
              </a:solidFill>
              <a:latin typeface="Consolas"/>
              <a:ea typeface="Consolas"/>
              <a:cs typeface="Consolas"/>
              <a:sym typeface="Consolas"/>
            </a:endParaRPr>
          </a:p>
        </p:txBody>
      </p:sp>
      <p:sp>
        <p:nvSpPr>
          <p:cNvPr id="149" name="Google Shape;149;g31feea4d993_0_48"/>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aphicFrame>
        <p:nvGraphicFramePr>
          <p:cNvPr id="154" name="Google Shape;154;g31fef00ada2_0_18"/>
          <p:cNvGraphicFramePr/>
          <p:nvPr/>
        </p:nvGraphicFramePr>
        <p:xfrm>
          <a:off x="202600" y="7234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TreeNode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TreeNode(char 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this.val =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left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right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Function to obtain the Vertical View of a binary tree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List&lt;Character&gt; verticalView(TreeNode root)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List&lt;Character&gt; verticalView = new ArrayList&lt;&gt;();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if (root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verticalView;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Map&lt;Integer, List&lt;Character&gt;&gt; verticalMap = new TreeMap&lt;&gt;();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Queue&lt;TreeNode&gt; nodeQueue = new LinkedList&lt;&gt;();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Queue&lt;Integer&gt; hdQueue = new LinkedList&lt;&gt;();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nodeQueue.offer(root);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hdQueue.offer(0);</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while (!nodeQueue.isEmpty())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node = nodeQueue.poll();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hd = hdQueue.poll();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verticalMap.computeIfAbsent(hd, k -&gt; new ArrayList&lt;&gt;()).add(node.val);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(node.left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nodeQueue.offer(node.left);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hdQueue.offer(hd - 1);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55" name="Google Shape;155;g31fef00ada2_0_18"/>
          <p:cNvSpPr txBox="1"/>
          <p:nvPr/>
        </p:nvSpPr>
        <p:spPr>
          <a:xfrm>
            <a:off x="720725" y="3694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WILDCARD MATCHING</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aphicFrame>
        <p:nvGraphicFramePr>
          <p:cNvPr id="160" name="Google Shape;160;g31fef00ada2_0_23"/>
          <p:cNvGraphicFramePr/>
          <p:nvPr/>
        </p:nvGraphicFramePr>
        <p:xfrm>
          <a:off x="202600" y="9520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if (node.right != null)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nodeQueue.offer(node.right);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hdQueue.offer(hd + 1);</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for (List&lt;Character&gt; values : verticalMap.values())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verticalView.addAll(values);</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return verticalView;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static void main(String[] args)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Sample binary tree input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root = new TreeNode('A');</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root.left = new TreeNode('B');</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 = new TreeNode('C');</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root.left.left = new TreeNode('D');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root.right.left = new TreeNode('E');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root.right.right = new TreeNode('F');</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List&lt;Character&gt; verticalViewResult = verticalView(root);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Printing the Vertical 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System.out.print("Vertical View: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for (char node : verticalViewResult)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System.out.print(node + "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System.out.println();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161" name="Google Shape;161;g31fef00ada2_0_23"/>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1feea4d993_0_54"/>
          <p:cNvSpPr txBox="1"/>
          <p:nvPr/>
        </p:nvSpPr>
        <p:spPr>
          <a:xfrm>
            <a:off x="172449" y="1053975"/>
            <a:ext cx="5337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rgbClr val="002060"/>
                </a:solidFill>
                <a:latin typeface="Consolas"/>
                <a:ea typeface="Consolas"/>
                <a:cs typeface="Consolas"/>
                <a:sym typeface="Consolas"/>
              </a:rPr>
              <a:t>left view:</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167" name="Google Shape;167;g31feea4d993_0_5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
        <p:nvSpPr>
          <p:cNvPr id="168" name="Google Shape;168;g31feea4d993_0_54"/>
          <p:cNvSpPr txBox="1"/>
          <p:nvPr/>
        </p:nvSpPr>
        <p:spPr>
          <a:xfrm>
            <a:off x="439871" y="1444400"/>
            <a:ext cx="7704300" cy="3453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The Left View provides a view of the nodes seen from the left side of the tree.</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It includes the leftmost node at each level.</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Example:</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A</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B   C</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 / \</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D  E F  G</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Left View: A B D</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aphicFrame>
        <p:nvGraphicFramePr>
          <p:cNvPr id="173" name="Google Shape;173;g31fef00ada2_0_142"/>
          <p:cNvGraphicFramePr/>
          <p:nvPr/>
        </p:nvGraphicFramePr>
        <p:xfrm>
          <a:off x="202600" y="7234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TreeNode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TreeNode(char 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this.val =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left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right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Function to obtain the Left View of a binary tree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List&lt;Character&gt; leftView(TreeNode root)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List&lt;Character&gt; leftView = new ArrayList&lt;&gt;();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if (root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leftView;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Queue&lt;TreeNode&gt; nodeQueue = new LinkedList&lt;&gt;();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nodeQueue.offer(root);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while (!nodeQueue.isEmpty())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levelSize = nodeQueue.size();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0; i &lt; levelSize; i++)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node = nodeQueue.poll();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Add the leftmost node at each level to the leftView list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(i == 0)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leftView.add(node.val);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(node.left != null) {                        nodeQueue.offer(node.left);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graphicFrame>
        <p:nvGraphicFramePr>
          <p:cNvPr id="178" name="Google Shape;178;g31fef00ada2_0_147"/>
          <p:cNvGraphicFramePr/>
          <p:nvPr/>
        </p:nvGraphicFramePr>
        <p:xfrm>
          <a:off x="202600" y="7234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if (node.right != null)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nodeQueue.offer(node.right);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return leftView;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static void main(String[] args)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Sample binary tree input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root = new TreeNode('A');</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root.left = new TreeNode('B');</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 = new TreeNode('C');</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root.left.left = new TreeNode('D');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root.left.right = new TreeNode('E');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root.right.left = new TreeNode('F');</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root.right.right = new TreeNode('G');</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List&lt;Character&gt; leftViewResult = leftView(root);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Printing the Left 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System.out.print("Left View: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for (char node : leftViewResult)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System.out.print(node + "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System.out.println();</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1fef00ada2_0_135"/>
          <p:cNvSpPr txBox="1"/>
          <p:nvPr/>
        </p:nvSpPr>
        <p:spPr>
          <a:xfrm>
            <a:off x="172449" y="1053975"/>
            <a:ext cx="5337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rgbClr val="002060"/>
                </a:solidFill>
                <a:latin typeface="Consolas"/>
                <a:ea typeface="Consolas"/>
                <a:cs typeface="Consolas"/>
                <a:sym typeface="Consolas"/>
              </a:rPr>
              <a:t>right view:</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184" name="Google Shape;184;g31fef00ada2_0_135"/>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
        <p:nvSpPr>
          <p:cNvPr id="185" name="Google Shape;185;g31fef00ada2_0_135"/>
          <p:cNvSpPr txBox="1"/>
          <p:nvPr/>
        </p:nvSpPr>
        <p:spPr>
          <a:xfrm>
            <a:off x="439871" y="1444400"/>
            <a:ext cx="7528200" cy="304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The Right View offers a view of the nodes seen from the right side of the tree.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It includes the rightmost node at each level.</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Example: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A</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B   C</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 / \</a:t>
            </a:r>
            <a:endParaRPr b="0" i="0" sz="1600" u="none" cap="none" strike="noStrike">
              <a:solidFill>
                <a:srgbClr val="000000"/>
              </a:solidFill>
              <a:latin typeface="Arial"/>
              <a:ea typeface="Arial"/>
              <a:cs typeface="Arial"/>
              <a:sym typeface="Arial"/>
            </a:endParaRPr>
          </a:p>
          <a:p>
            <a:pPr indent="0" lvl="8" marL="3657600" marR="0" rtl="0" algn="l">
              <a:lnSpc>
                <a:spcPct val="100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D  E F  G</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Right View: A C G</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g31fef00ada2_0_159"/>
          <p:cNvGraphicFramePr/>
          <p:nvPr/>
        </p:nvGraphicFramePr>
        <p:xfrm>
          <a:off x="202600" y="7234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TreeNode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TreeNode(char 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this.val =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left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right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Function to obtain the Right View of a binary tree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List&lt;Character&gt; rightView(TreeNode root)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List&lt;Character&gt; rightView = new ArrayList&lt;&gt;();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(root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rightView;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Queue&lt;TreeNode&gt; queue = new LinkedList&lt;&gt;();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queue.offer(root);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while (!queue.isEmpty())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levelSize = queue.size();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(int i = 0; i &lt; levelSize; i++)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node = queue.poll();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Add the rightmost node at each level to the result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(i == levelSize - 1)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rightView.add(node.val);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3" marL="137160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if (node.left != null) </a:t>
                      </a:r>
                      <a:endParaRPr sz="1300" u="none" cap="none" strike="noStrike"/>
                    </a:p>
                    <a:p>
                      <a:pPr indent="0" lvl="3" marL="137160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3" marL="137160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queue.offer(node.left);</a:t>
                      </a:r>
                      <a:endParaRPr sz="1300" u="none" cap="none" strike="noStrike"/>
                    </a:p>
                    <a:p>
                      <a:pPr indent="0" lvl="3" marL="137160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aphicFrame>
        <p:nvGraphicFramePr>
          <p:cNvPr id="195" name="Google Shape;195;g31fef00ada2_0_164"/>
          <p:cNvGraphicFramePr/>
          <p:nvPr/>
        </p:nvGraphicFramePr>
        <p:xfrm>
          <a:off x="202600" y="11806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if (node.right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queue.offer(node.right);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rightView;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void main(String[] args)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Sample binary tree input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root = new TreeNode('A');</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root.left = new TreeNode('B');</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 = new TreeNode('C');</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root.left.left = new TreeNode('D');</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root.left.right = new TreeNode('E');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root.right.left = new TreeNode('F');</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root.right.right = new TreeNode('G');</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List&lt;Character&gt; rightViewResult = rightView(root);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Printing the Right 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System.out.print("Right View: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(char node : rightViewResult)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System.out.print(node + "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1fef00ada2_0_152"/>
          <p:cNvSpPr txBox="1"/>
          <p:nvPr/>
        </p:nvSpPr>
        <p:spPr>
          <a:xfrm>
            <a:off x="172449" y="1053975"/>
            <a:ext cx="5337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rgbClr val="002060"/>
                </a:solidFill>
                <a:latin typeface="Consolas"/>
                <a:ea typeface="Consolas"/>
                <a:cs typeface="Consolas"/>
                <a:sym typeface="Consolas"/>
              </a:rPr>
              <a:t>Top view:</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201" name="Google Shape;201;g31fef00ada2_0_152"/>
          <p:cNvSpPr txBox="1"/>
          <p:nvPr/>
        </p:nvSpPr>
        <p:spPr>
          <a:xfrm>
            <a:off x="439871" y="1444400"/>
            <a:ext cx="7845300" cy="3453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The Top View displays nodes visible from the top of the tree when viewed from above.</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It shows the outermost nodes at each vertical level.</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Example:</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A</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B   C</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   / \</a:t>
            </a:r>
            <a:endParaRPr b="0" i="0" sz="1600" u="none" cap="none" strike="noStrike">
              <a:solidFill>
                <a:srgbClr val="000000"/>
              </a:solidFill>
              <a:latin typeface="Arial"/>
              <a:ea typeface="Arial"/>
              <a:cs typeface="Arial"/>
              <a:sym typeface="Arial"/>
            </a:endParaRPr>
          </a:p>
          <a:p>
            <a:pPr indent="0" lvl="8" marL="3657600" marR="0" rtl="0" algn="l">
              <a:lnSpc>
                <a:spcPct val="115000"/>
              </a:lnSpc>
              <a:spcBef>
                <a:spcPts val="0"/>
              </a:spcBef>
              <a:spcAft>
                <a:spcPts val="0"/>
              </a:spcAft>
              <a:buClr>
                <a:srgbClr val="000000"/>
              </a:buClr>
              <a:buSzPts val="1800"/>
              <a:buFont typeface="Arial"/>
              <a:buNone/>
            </a:pPr>
            <a:r>
              <a:rPr b="0" i="0" lang="en-GB" sz="1600" u="none" cap="none" strike="noStrike">
                <a:solidFill>
                  <a:srgbClr val="FF0000"/>
                </a:solidFill>
                <a:latin typeface="Consolas"/>
                <a:ea typeface="Consolas"/>
                <a:cs typeface="Consolas"/>
                <a:sym typeface="Consolas"/>
              </a:rPr>
              <a:t>     D   E   F</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Top View: D B A C F</a:t>
            </a:r>
            <a:endParaRPr b="0" i="0" sz="1600" u="none" cap="none" strike="noStrike">
              <a:solidFill>
                <a:srgbClr val="000000"/>
              </a:solidFill>
              <a:latin typeface="Consolas"/>
              <a:ea typeface="Consolas"/>
              <a:cs typeface="Consolas"/>
              <a:sym typeface="Consolas"/>
            </a:endParaRPr>
          </a:p>
        </p:txBody>
      </p:sp>
      <p:sp>
        <p:nvSpPr>
          <p:cNvPr id="202" name="Google Shape;202;g31fef00ada2_0_15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graphicFrame>
        <p:nvGraphicFramePr>
          <p:cNvPr id="207" name="Google Shape;207;g31fef00ada2_0_34"/>
          <p:cNvGraphicFramePr/>
          <p:nvPr/>
        </p:nvGraphicFramePr>
        <p:xfrm>
          <a:off x="202600" y="7234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import java.util.*;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class TreeNode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char val;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left;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right;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TreeNode(char val)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this.val = val;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left = null;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right = null;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class Pair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node;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int hd;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Pair(TreeNode node, int hd)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this.node = node;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this.hd = hd;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public class Main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Function to obtain the Top View of a binary tree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static List&lt;Character&gt; topView(TreeNode root)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List&lt;Character&gt; topView = new ArrayList&lt;&gt;();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if (root == null)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return topView;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Map&lt;Integer, Character&gt; verticalMap = new TreeMap&lt;&gt;();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Queue&lt;Pair&gt; queue = new LinkedList&lt;&gt;();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queue.offer(new Pair(root, 0));</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while (!queue.isEmpty())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Pair pair = queue.poll();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node = pair.node;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208" name="Google Shape;208;g31fef00ada2_0_34"/>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graphicFrame>
        <p:nvGraphicFramePr>
          <p:cNvPr id="213" name="Google Shape;213;g31fef00ada2_0_170"/>
          <p:cNvGraphicFramePr/>
          <p:nvPr/>
        </p:nvGraphicFramePr>
        <p:xfrm>
          <a:off x="202600" y="7996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int hd = pair.hd;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(!verticalMap.containsKey(hd))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verticalMap.put(hd, 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(node.left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queue.offer(new Pair(node.left, hd - 1));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(node.right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queue.offer(new Pair(node.right, hd + 1));</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(char nodeVal : verticalMap.values())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topView.add(nodeVal);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topView;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void main(String[] args)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Sample binary tree input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root = new TreeNode('A');</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root.left = new TreeNode('B');</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 = new TreeNode('C');</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root.left.left = new TreeNode('D');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root.right.left = new TreeNode('E');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root.right.right = new TreeNode('F');</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List&lt;Character&gt; topViewResult = topView(root);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Printing the Top 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System.out.print("Top View: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for (char node : topViewResult)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System.out.print(node + "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System.out.println();</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214" name="Google Shape;214;g31fef00ada2_0_170"/>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1fef00ada2_0_175"/>
          <p:cNvSpPr txBox="1"/>
          <p:nvPr/>
        </p:nvSpPr>
        <p:spPr>
          <a:xfrm>
            <a:off x="172449" y="825375"/>
            <a:ext cx="5337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rgbClr val="002060"/>
                </a:solidFill>
                <a:latin typeface="Consolas"/>
                <a:ea typeface="Consolas"/>
                <a:cs typeface="Consolas"/>
                <a:sym typeface="Consolas"/>
              </a:rPr>
              <a:t>Bottom view:</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sp>
        <p:nvSpPr>
          <p:cNvPr id="220" name="Google Shape;220;g31fef00ada2_0_175"/>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
        <p:nvSpPr>
          <p:cNvPr id="221" name="Google Shape;221;g31fef00ada2_0_175"/>
          <p:cNvSpPr txBox="1"/>
          <p:nvPr/>
        </p:nvSpPr>
        <p:spPr>
          <a:xfrm>
            <a:off x="439871" y="1297950"/>
            <a:ext cx="7625100" cy="354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The Bottom View showcases nodes visible from the bottom of the tree when viewed from below.</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It shows the nodes at the lowest vertical level.</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Example: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B   C</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   /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D   E   F</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G</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600" u="none" cap="none" strike="noStrike">
                <a:solidFill>
                  <a:srgbClr val="000000"/>
                </a:solidFill>
                <a:latin typeface="Consolas"/>
                <a:ea typeface="Consolas"/>
                <a:cs typeface="Consolas"/>
                <a:sym typeface="Consolas"/>
              </a:rPr>
              <a:t>     Bottom View: D E G F</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graphicFrame>
        <p:nvGraphicFramePr>
          <p:cNvPr id="226" name="Google Shape;226;g31fef00ada2_0_182"/>
          <p:cNvGraphicFramePr/>
          <p:nvPr/>
        </p:nvGraphicFramePr>
        <p:xfrm>
          <a:off x="202600" y="7234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import java.util.*;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class TreeNode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char val;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left;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right;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TreeNode(char val)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this.val = val;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left = null;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right = null;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class Pair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node;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int hd;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Pair(TreeNode node, int hd)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this.node = node;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this.hd = hd;</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b="0" sz="14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public class Main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 Function to obtain the Top View of a binary tree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public static List&lt;Character&gt; topView(TreeNode root)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List&lt;Character&gt; topView = new ArrayList&lt;&gt;();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if (root == null)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return topView;</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Map&lt;Integer, Character&gt; verticalMap = new TreeMap&lt;&gt;();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Queue&lt;Pair&gt; queue = new LinkedList&lt;&gt;();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queue.offer(new Pair(root, 0));</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while (!queue.isEmpty())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Pair pair = queue.poll();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TreeNode node = pair.node;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0" lang="en-GB" sz="1400" u="none" cap="none" strike="noStrike">
                          <a:solidFill>
                            <a:srgbClr val="000000"/>
                          </a:solidFill>
                          <a:latin typeface="Consolas"/>
                          <a:ea typeface="Consolas"/>
                          <a:cs typeface="Consolas"/>
                          <a:sym typeface="Consolas"/>
                        </a:rPr>
                        <a:t>            </a:t>
                      </a:r>
                      <a:endParaRPr sz="14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227" name="Google Shape;227;g31fef00ada2_0_182"/>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graphicFrame>
        <p:nvGraphicFramePr>
          <p:cNvPr id="232" name="Google Shape;232;g31fef00ada2_0_187"/>
          <p:cNvGraphicFramePr/>
          <p:nvPr/>
        </p:nvGraphicFramePr>
        <p:xfrm>
          <a:off x="202600" y="875800"/>
          <a:ext cx="3000000" cy="3000000"/>
        </p:xfrm>
        <a:graphic>
          <a:graphicData uri="http://schemas.openxmlformats.org/drawingml/2006/table">
            <a:tbl>
              <a:tblPr>
                <a:noFill/>
                <a:tableStyleId>{B31064A6-1E2B-4619-90D5-089ADFEF5521}</a:tableStyleId>
              </a:tblPr>
              <a:tblGrid>
                <a:gridCol w="4481650"/>
                <a:gridCol w="4257150"/>
              </a:tblGrid>
              <a:tr h="381000">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import java.util.*;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TreeNode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char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left;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right;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TreeNode(char val)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this.val = val;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left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right = null;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class NodeInfo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TreeNode 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int hd;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NodeInfo(TreeNode node, int hd)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this.node = node;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this.hd = hd;</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a:t>
                      </a:r>
                      <a:endParaRPr sz="13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public class Main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 Function to obtain the Bottom View of a binary tree</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public static List&lt;Character&gt; bottomView(TreeNode root)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List&lt;Character&gt; bottomView = new ArrayList&lt;&gt;();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if (root == null)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return bottomView;</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Map&lt;Integer, Character&gt; bottomMap = new TreeMap&lt;&gt;();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Queue&lt;NodeInfo&gt; nodeQueue = new LinkedList&lt;&gt;();</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nodeQueue.offer(new NodeInfo(root, 0));</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while (!nodeQueue.isEmpty()) {</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rPr b="0" lang="en-GB" sz="1300" u="none" cap="none" strike="noStrike">
                          <a:solidFill>
                            <a:srgbClr val="000000"/>
                          </a:solidFill>
                          <a:latin typeface="Consolas"/>
                          <a:ea typeface="Consolas"/>
                          <a:cs typeface="Consolas"/>
                          <a:sym typeface="Consolas"/>
                        </a:rPr>
                        <a:t>            NodeInfo info = nodeQueue.poll();</a:t>
                      </a:r>
                      <a:endParaRPr sz="13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3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
        <p:nvSpPr>
          <p:cNvPr id="233" name="Google Shape;233;g31fef00ada2_0_187"/>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b="0" i="0" lang="en-GB" sz="1700" u="none" cap="none" strike="noStrike">
                <a:solidFill>
                  <a:srgbClr val="8182EF"/>
                </a:solidFill>
                <a:latin typeface="Roboto Black"/>
                <a:ea typeface="Roboto Black"/>
                <a:cs typeface="Roboto Black"/>
                <a:sym typeface="Roboto Black"/>
              </a:rPr>
              <a:t>VIEWS OF TREE</a:t>
            </a:r>
            <a:endParaRPr b="0" i="0" sz="1700" u="none" cap="none" strike="noStrike">
              <a:solidFill>
                <a:srgbClr val="6D9EEB"/>
              </a:solidFill>
              <a:latin typeface="Roboto Black"/>
              <a:ea typeface="Roboto Black"/>
              <a:cs typeface="Roboto Black"/>
              <a:sym typeface="Roboto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39" name="Google Shape;239;g31fdec52c72_0_308"/>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1.What is the significance of the "Left View" of a Binary Tree?</a:t>
            </a:r>
            <a:endParaRPr b="0" i="0" sz="1600" u="none" cap="none" strike="noStrike">
              <a:solidFill>
                <a:srgbClr val="000000"/>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40" name="Google Shape;240;g31fdec52c72_0_308"/>
          <p:cNvSpPr txBox="1"/>
          <p:nvPr/>
        </p:nvSpPr>
        <p:spPr>
          <a:xfrm>
            <a:off x="436323" y="177990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Left View displays the leftmost nodes at each level, providing a perspective of nodes seen from the left side of the tree.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46" name="Google Shape;246;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2.How is the "Bottom View" of a Binary Tree determined?</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47" name="Google Shape;247;g3243a3cdda7_0_819"/>
          <p:cNvSpPr txBox="1"/>
          <p:nvPr/>
        </p:nvSpPr>
        <p:spPr>
          <a:xfrm>
            <a:off x="418725" y="1779900"/>
            <a:ext cx="80868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Bottom View shows nodes at the lowest vertical level when viewed from below the tree, including the nodes that would be visible from the bottom.</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243a3cdda7_0_825"/>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53" name="Google Shape;253;g3243a3cdda7_0_825"/>
          <p:cNvSpPr txBox="1"/>
          <p:nvPr/>
        </p:nvSpPr>
        <p:spPr>
          <a:xfrm>
            <a:off x="0" y="1170000"/>
            <a:ext cx="8263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3.In the "Top View" of a Binary Tree, what does the outermost node at each vertical level represent?</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54" name="Google Shape;254;g3243a3cdda7_0_825"/>
          <p:cNvSpPr txBox="1"/>
          <p:nvPr/>
        </p:nvSpPr>
        <p:spPr>
          <a:xfrm>
            <a:off x="436323" y="1779900"/>
            <a:ext cx="7492200" cy="8310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Answer: The outermost node in the Top View represents the nodes visible from the top when viewed from above the tree.</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243a3cdda7_0_831"/>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60" name="Google Shape;260;g3243a3cdda7_0_831"/>
          <p:cNvSpPr txBox="1"/>
          <p:nvPr/>
        </p:nvSpPr>
        <p:spPr>
          <a:xfrm>
            <a:off x="1" y="1170007"/>
            <a:ext cx="10515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4.What is the primary use of the "Horizontal View" of a Binary Tree?</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6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61" name="Google Shape;261;g3243a3cdda7_0_831"/>
          <p:cNvSpPr txBox="1"/>
          <p:nvPr/>
        </p:nvSpPr>
        <p:spPr>
          <a:xfrm>
            <a:off x="436323" y="1779900"/>
            <a:ext cx="7492200" cy="18162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2000"/>
              <a:buFont typeface="Arial"/>
              <a:buNone/>
            </a:pPr>
            <a:r>
              <a:rPr b="0" i="0" lang="en-GB" sz="1600" u="none" cap="none" strike="noStrike">
                <a:solidFill>
                  <a:schemeClr val="dk1"/>
                </a:solidFill>
                <a:latin typeface="Consolas"/>
                <a:ea typeface="Consolas"/>
                <a:cs typeface="Consolas"/>
                <a:sym typeface="Consolas"/>
              </a:rPr>
              <a:t>	Answer: The Horizontal View helps visualize the tree's structure from left to right, emphasizing nodes at the same horizontal distance from the root.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243a3cdda7_0_837"/>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67" name="Google Shape;267;g3243a3cdda7_0_837"/>
          <p:cNvSpPr txBox="1"/>
          <p:nvPr/>
        </p:nvSpPr>
        <p:spPr>
          <a:xfrm>
            <a:off x="0" y="1170000"/>
            <a:ext cx="84702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1600" u="none" cap="none" strike="noStrike">
                <a:solidFill>
                  <a:srgbClr val="FF0000"/>
                </a:solidFill>
                <a:latin typeface="Consolas"/>
                <a:ea typeface="Consolas"/>
                <a:cs typeface="Consolas"/>
                <a:sym typeface="Consolas"/>
              </a:rPr>
              <a:t>5.How can the "Vertical View" of a Binary Tree be described?</a:t>
            </a:r>
            <a:endParaRPr b="0" i="0" sz="1600" u="none" cap="none" strike="noStrike">
              <a:solidFill>
                <a:schemeClr val="dk1"/>
              </a:solidFill>
              <a:latin typeface="Calibri"/>
              <a:ea typeface="Calibri"/>
              <a:cs typeface="Calibri"/>
              <a:sym typeface="Calibri"/>
            </a:endParaRPr>
          </a:p>
          <a:p>
            <a:pPr indent="0" lvl="0" marL="0" marR="0" rtl="0" algn="l">
              <a:lnSpc>
                <a:spcPct val="150000"/>
              </a:lnSpc>
              <a:spcBef>
                <a:spcPts val="0"/>
              </a:spcBef>
              <a:spcAft>
                <a:spcPts val="0"/>
              </a:spcAft>
              <a:buClr>
                <a:srgbClr val="FF0000"/>
              </a:buClr>
              <a:buSzPts val="20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500"/>
              <a:buFont typeface="Arial"/>
              <a:buNone/>
            </a:pPr>
            <a:r>
              <a:t/>
            </a:r>
            <a:endParaRPr b="0" i="1" sz="1600" u="none" cap="none" strike="noStrike">
              <a:solidFill>
                <a:srgbClr val="FF0000"/>
              </a:solidFill>
              <a:latin typeface="Consolas"/>
              <a:ea typeface="Consolas"/>
              <a:cs typeface="Consolas"/>
              <a:sym typeface="Consolas"/>
            </a:endParaRPr>
          </a:p>
          <a:p>
            <a:pPr indent="0" lvl="0" marL="0" marR="0" rtl="0" algn="l">
              <a:lnSpc>
                <a:spcPct val="150000"/>
              </a:lnSpc>
              <a:spcBef>
                <a:spcPts val="1000"/>
              </a:spcBef>
              <a:spcAft>
                <a:spcPts val="0"/>
              </a:spcAft>
              <a:buClr>
                <a:srgbClr val="000000"/>
              </a:buClr>
              <a:buSzPts val="1500"/>
              <a:buFont typeface="Arial"/>
              <a:buNone/>
            </a:pPr>
            <a:r>
              <a:rPr b="0" i="1" lang="en-GB" sz="1600" u="none" cap="none" strike="noStrike">
                <a:solidFill>
                  <a:srgbClr val="FF0000"/>
                </a:solidFill>
                <a:latin typeface="Consolas"/>
                <a:ea typeface="Consolas"/>
                <a:cs typeface="Consolas"/>
                <a:sym typeface="Consolas"/>
              </a:rPr>
              <a:t> </a:t>
            </a:r>
            <a:endParaRPr b="0" i="0" sz="1600" u="none" cap="none" strike="noStrike">
              <a:solidFill>
                <a:srgbClr val="000000"/>
              </a:solidFill>
              <a:latin typeface="Calibri"/>
              <a:ea typeface="Calibri"/>
              <a:cs typeface="Calibri"/>
              <a:sym typeface="Calibri"/>
            </a:endParaRPr>
          </a:p>
        </p:txBody>
      </p:sp>
      <p:sp>
        <p:nvSpPr>
          <p:cNvPr id="268" name="Google Shape;268;g3243a3cdda7_0_837"/>
          <p:cNvSpPr txBox="1"/>
          <p:nvPr/>
        </p:nvSpPr>
        <p:spPr>
          <a:xfrm>
            <a:off x="436323" y="1779900"/>
            <a:ext cx="7492200" cy="21858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200000"/>
              </a:lnSpc>
              <a:spcBef>
                <a:spcPts val="0"/>
              </a:spcBef>
              <a:spcAft>
                <a:spcPts val="0"/>
              </a:spcAft>
              <a:buClr>
                <a:schemeClr val="dk1"/>
              </a:buClr>
              <a:buSzPts val="1600"/>
              <a:buFont typeface="Noto Sans Symbols"/>
              <a:buChar char="⮚"/>
            </a:pPr>
            <a:r>
              <a:rPr b="0" i="0" lang="en-GB" sz="1600" u="none" cap="none" strike="noStrike">
                <a:solidFill>
                  <a:schemeClr val="dk1"/>
                </a:solidFill>
                <a:latin typeface="Consolas"/>
                <a:ea typeface="Consolas"/>
                <a:cs typeface="Consolas"/>
                <a:sym typeface="Consolas"/>
              </a:rPr>
              <a:t>Answer: The Vertical View displays nodes at the same vertical level, providing a perspective of the tree's structure from top to bottom.</a:t>
            </a:r>
            <a:endParaRPr b="0" i="0" sz="1600" u="none" cap="none" strike="noStrike">
              <a:solidFill>
                <a:schemeClr val="dk1"/>
              </a:solidFill>
              <a:latin typeface="Consolas"/>
              <a:ea typeface="Consolas"/>
              <a:cs typeface="Consolas"/>
              <a:sym typeface="Consolas"/>
            </a:endParaRPr>
          </a:p>
          <a:p>
            <a:pPr indent="-317500" lvl="0" marL="342900" marR="0" rtl="0" algn="l">
              <a:lnSpc>
                <a:spcPct val="150000"/>
              </a:lnSpc>
              <a:spcBef>
                <a:spcPts val="0"/>
              </a:spcBef>
              <a:spcAft>
                <a:spcPts val="0"/>
              </a:spcAft>
              <a:buClr>
                <a:schemeClr val="dk1"/>
              </a:buClr>
              <a:buSzPts val="1600"/>
              <a:buFont typeface="Consolas"/>
              <a:buChar char="⮚"/>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74" name="Google Shape;274;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75" name="Google Shape;275;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81" name="Google Shape;281;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82" name="Google Shape;282;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83" name="Google Shape;283;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84" name="Google Shape;284;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85" name="Google Shape;285;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86" name="Google Shape;286;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87" name="Google Shape;287;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88" name="Google Shape;288;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89" name="Google Shape;289;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90" name="Google Shape;290;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91" name="Google Shape;291;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