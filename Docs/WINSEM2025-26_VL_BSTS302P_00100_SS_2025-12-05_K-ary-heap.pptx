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Roboto Black"/>
      <p:bold r:id="rId29"/>
      <p:boldItalic r:id="rId30"/>
    </p:embeddedFon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  <p15:guide id="7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h0dm1fNR0neTb7VdGLY5eZwB1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6E576E-29B3-4BAB-B16B-F73CD213EDF8}">
  <a:tblStyle styleId="{296E576E-29B3-4BAB-B16B-F73CD213EDF8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  <p:guide pos="17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Black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regular.fntdata"/><Relationship Id="rId30" Type="http://schemas.openxmlformats.org/officeDocument/2006/relationships/font" Target="fonts/RobotoBlack-boldItalic.fntdata"/><Relationship Id="rId11" Type="http://schemas.openxmlformats.org/officeDocument/2006/relationships/slide" Target="slides/slide4.xml"/><Relationship Id="rId33" Type="http://schemas.openxmlformats.org/officeDocument/2006/relationships/font" Target="fonts/Roboto-italic.fntdata"/><Relationship Id="rId10" Type="http://schemas.openxmlformats.org/officeDocument/2006/relationships/slide" Target="slides/slide3.xml"/><Relationship Id="rId32" Type="http://schemas.openxmlformats.org/officeDocument/2006/relationships/font" Target="fonts/Roboto-bold.fntdata"/><Relationship Id="rId13" Type="http://schemas.openxmlformats.org/officeDocument/2006/relationships/slide" Target="slides/slide6.xml"/><Relationship Id="rId35" Type="http://customschemas.google.com/relationships/presentationmetadata" Target="metadata"/><Relationship Id="rId12" Type="http://schemas.openxmlformats.org/officeDocument/2006/relationships/slide" Target="slides/slide5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041119a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2041119a6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08b1f40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3208b1f408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08a057f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3208a057f74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08a057f7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g3208a057f74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08a057f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208a057f74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08a057f7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g3208a057f74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08a057f7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g3208a057f74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08a057f7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g3208a057f74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08a65c9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208a65c9f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08b1f408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g3208b1f4082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08b1f40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g3208b1f4082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08a057f7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208a057f74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fdec52c7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31fdec52c72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43a3cdda7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g3243a3cdda7_0_8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43a3cdda7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3243a3cdda7_0_8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43a3cdda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g3243a3cdda7_0_8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04327b39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g3204327b395_0_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fef00ada2_0_1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g31fef00ada2_0_1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g31fef00ada2_0_1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1fef00ada2_0_1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1fef00ada2_0_1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" name="Google Shape;58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3" name="Google Shape;73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6" name="Google Shape;86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4" name="Google Shape;54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hyperlink" Target="https://learn.codemithra.com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40951" y="2260382"/>
            <a:ext cx="4690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GB" sz="33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K-ARRAY HEAP</a:t>
            </a:r>
            <a:endParaRPr b="1" i="0" sz="3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041119a69_0_0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" name="Google Shape;115;g32041119a69_0_0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2041119a69_0_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d-ary heap or d-heap or k-ary heap is a priority queue data structure, a generalization of the binary heap in which the nodes have d children instead of 2.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08b1f4082_0_0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2" name="Google Shape;122;g3208b1f4082_0_0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208b1f4082_0_0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Properties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Nearly complete binary tree, with all levels having maximum number of nodes except the last, which is filled in left to right manner.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 can be divided into two categories: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(a) Max k-ary heap: Key at root is greater than all descendants and same is recursively true for all nodes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5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(b) Min k-ary heap: Key at root is lesser than all descendants and same is recursively true for all nodes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08a057f74_0_6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9" name="Google Shape;129;g3208a057f74_0_6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g3208a057f7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454" y="3019966"/>
            <a:ext cx="3314700" cy="146685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pic>
        <p:nvPicPr>
          <p:cNvPr id="131" name="Google Shape;131;g3208a057f74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0900" y="2523500"/>
            <a:ext cx="5412301" cy="20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208a057f74_0_6"/>
          <p:cNvSpPr txBox="1"/>
          <p:nvPr/>
        </p:nvSpPr>
        <p:spPr>
          <a:xfrm>
            <a:off x="1006002" y="1587251"/>
            <a:ext cx="10551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3-ary max heap				             5-ary min heap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08a057f74_0_15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8" name="Google Shape;138;g3208a057f74_0_15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208a057f74_0_15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Assuming 0 based indexing of array, an array represents a K-ary heap such that for any node we consider: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Parent of the node at index i (except root node) is located at index (i-1)/k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Children of the node at index i are at indices (k*i)+1 , (k*i)+2 …. (k*i)+k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last non-leaf node of a heap of size n is located at index (n-2)/k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08a057f74_0_21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45" name="Google Shape;145;g3208a057f74_0_21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208a057f74_0_21"/>
          <p:cNvSpPr txBox="1"/>
          <p:nvPr/>
        </p:nvSpPr>
        <p:spPr>
          <a:xfrm>
            <a:off x="390825" y="1471675"/>
            <a:ext cx="8358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insert() : Inserting a node into the heap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nsert into a Binary Search Tree – Code World Technology" id="147" name="Google Shape;147;g3208a057f74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186" y="2145327"/>
            <a:ext cx="5982478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08a057f74_0_27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53" name="Google Shape;153;g3208a057f74_0_27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208a057f74_0_27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buildHeap() : Builds a heap from an input array.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5" name="Google Shape;155;g3208a057f74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4766" y="2002431"/>
            <a:ext cx="5511160" cy="2371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08a057f74_0_33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1" name="Google Shape;161;g3208a057f74_0_33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208a057f74_0_33"/>
          <p:cNvSpPr txBox="1"/>
          <p:nvPr/>
        </p:nvSpPr>
        <p:spPr>
          <a:xfrm>
            <a:off x="390825" y="1471675"/>
            <a:ext cx="83586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restoreDown() /maxHeapify() : Used to maintain heap property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Heap Sort - javatpoint" id="163" name="Google Shape;163;g3208a057f74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0748" y="2161540"/>
            <a:ext cx="523875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08a057f74_0_39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9" name="Google Shape;169;g3208a057f74_0_39"/>
          <p:cNvSpPr txBox="1"/>
          <p:nvPr/>
        </p:nvSpPr>
        <p:spPr>
          <a:xfrm>
            <a:off x="172449" y="901575"/>
            <a:ext cx="54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IMPLEMENTATION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208a057f74_0_39"/>
          <p:cNvSpPr txBox="1"/>
          <p:nvPr/>
        </p:nvSpPr>
        <p:spPr>
          <a:xfrm>
            <a:off x="390826" y="14716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extractMax() : Extacting the root node. 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08a65c9fe_0_0"/>
          <p:cNvSpPr txBox="1"/>
          <p:nvPr/>
        </p:nvSpPr>
        <p:spPr>
          <a:xfrm>
            <a:off x="1922421" y="228600"/>
            <a:ext cx="489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5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76" name="Google Shape;176;g3208a65c9fe_0_0"/>
          <p:cNvGraphicFramePr/>
          <p:nvPr/>
        </p:nvGraphicFramePr>
        <p:xfrm>
          <a:off x="4" y="510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{296E576E-29B3-4BAB-B16B-F73CD213EDF8}</a:tableStyleId>
              </a:tblPr>
              <a:tblGrid>
                <a:gridCol w="4819050"/>
                <a:gridCol w="4324950"/>
              </a:tblGrid>
              <a:tr h="423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java.util.Scanner;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java.util.Arrays;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java.util.NoSuchElementException;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DaryHeap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 d;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 heapSize;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int[] heap;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DaryHeap(int capacity, int numChild)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heapSize = 0;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d = numChild;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 = new int[capacity + 1];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Arrays.fill(heap, -1);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boolean isEmpty(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heapSize == 0;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boolean isFull(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heapSize == heap.length;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void clear(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heapSize = 0; }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private int parent(int i)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(i - 1)/d;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 kthChild(int i, int k)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d * i + k;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void insert(int x)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if (isFull( )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throw new NoSuchElementException("Overflow Exception");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heap[heapSize++] = x;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heapifyUp(heapSize - 1);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int findMin(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if (isEmpty()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throw new NoSuchElementException("Underflow Exception");   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heap[0];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public int delete(int ind)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08b1f4082_0_9"/>
          <p:cNvSpPr txBox="1"/>
          <p:nvPr/>
        </p:nvSpPr>
        <p:spPr>
          <a:xfrm>
            <a:off x="1922421" y="228600"/>
            <a:ext cx="489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5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82" name="Google Shape;182;g3208b1f4082_0_9"/>
          <p:cNvGraphicFramePr/>
          <p:nvPr/>
        </p:nvGraphicFramePr>
        <p:xfrm>
          <a:off x="4" y="510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{296E576E-29B3-4BAB-B16B-F73CD213EDF8}</a:tableStyleId>
              </a:tblPr>
              <a:tblGrid>
                <a:gridCol w="4819050"/>
                <a:gridCol w="4324950"/>
              </a:tblGrid>
              <a:tr h="423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(isEmpty() 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throw new NoSuchElementException("Underflow Exception");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keyItem = heap[ind];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heap[ind] = heap[heapSize - 1];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heapSize--;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heapifyDown(ind);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keyItem;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void heapifyUp(int childInd)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tmp = heap[childInd];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while (childInd &gt; 0 &amp;&amp; tmp &lt; heap[parent(childInd)])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heap[childInd] = heap[ parent(childInd) 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childInd = parent(childInd);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           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heap[childInd] = tmp;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void heapifyDown(int ind)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child;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tmp = heap[ ind 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(kthChild(ind, 1) &lt; heapSize)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child = minChild(ind);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if (heap[child] &lt; tmp)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heap[ind] = heap[child];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else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ind = child;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heap[ind] = tmp;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 minChild(int ind)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bestChild = kthChild(ind, 1);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k = 2;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pos = kthChild(ind, k);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while ((k &lt;= d) &amp;&amp; (pos &lt; heapSize))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if (heap[pos] &lt; heap[bestChild])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bestChild = pos;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pos = kthChild(ind, k++);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return bestChild;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208b1f4082_0_14"/>
          <p:cNvSpPr txBox="1"/>
          <p:nvPr/>
        </p:nvSpPr>
        <p:spPr>
          <a:xfrm>
            <a:off x="1922421" y="228600"/>
            <a:ext cx="489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5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5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88" name="Google Shape;188;g3208b1f4082_0_14"/>
          <p:cNvGraphicFramePr/>
          <p:nvPr/>
        </p:nvGraphicFramePr>
        <p:xfrm>
          <a:off x="4" y="5105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{296E576E-29B3-4BAB-B16B-F73CD213EDF8}</a:tableStyleId>
              </a:tblPr>
              <a:tblGrid>
                <a:gridCol w="4819050"/>
                <a:gridCol w="4324950"/>
              </a:tblGrid>
              <a:tr h="463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void printHeap()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System.out.print("\nHeap = 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(int i = 0; i &lt; heapSize; i++)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System.out.print(heap[i] +" 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System.out.println();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DaryHeapTest</a:t>
                      </a:r>
                      <a:endParaRPr b="0" sz="11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static void main(String[] args)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Scanner scan = new Scanner(System.in);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System.out.println("Enter size and D of D-ary Heap");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DaryHeap dh = new DaryHeap(scan.nextInt(), scan.nextInt() 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char ch;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do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{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System.out.println("\nD-ary Heap Operations\n");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System.out.println("1. insert 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System.out.println("2. delete");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System.out.println("3. check full");    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System.out.println("4. check empty");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System.out.println("5. clear");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boolean chk;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int choice = scan.nextInt();    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switch (choice)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case 1 :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try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System.out.println("Enter integer element to insert");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dh.insert( scan.nextInt() );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catch (Exception e)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System.out.println(e.getMessage() 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                         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case 2 :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try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{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System.out.println("Enter delete position");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dh.delete(scan.nextInt() - 1); 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15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}</a:t>
                      </a:r>
                      <a:endParaRPr sz="115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15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08a057f74_0_59"/>
          <p:cNvSpPr txBox="1"/>
          <p:nvPr/>
        </p:nvSpPr>
        <p:spPr>
          <a:xfrm>
            <a:off x="1922421" y="445600"/>
            <a:ext cx="4891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7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K-ARRAY HEAP</a:t>
            </a:r>
            <a:endParaRPr b="0" i="0" sz="17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194" name="Google Shape;194;g3208a057f74_0_59"/>
          <p:cNvGraphicFramePr/>
          <p:nvPr/>
        </p:nvGraphicFramePr>
        <p:xfrm>
          <a:off x="4" y="815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{296E576E-29B3-4BAB-B16B-F73CD213EDF8}</a:tableStyleId>
              </a:tblPr>
              <a:tblGrid>
                <a:gridCol w="4575675"/>
                <a:gridCol w="4568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catch (Exception e)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{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System.out.println(e.getMessage() 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}               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                                    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case 3 :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System.out.println("Full status = "+ dh.isFull());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                                 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case 4 :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System.out.println("Empty status = "+ dh.isEmpty());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case 5 :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dh.clear();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System.out.println("Heap Cleared\n");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       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default :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System.out.println("Wrong Entry \n ");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break; 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/** Display heap **/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dh.printHeap();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System.out.println("\nDo you want to continue (Type y or n) \n");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ch = scan.next().charAt(0);                      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 while (ch == 'Y'|| ch == 'y');  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GB" sz="13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fdec52c72_0_308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0" name="Google Shape;200;g31fdec52c72_0_308"/>
          <p:cNvSpPr txBox="1"/>
          <p:nvPr/>
        </p:nvSpPr>
        <p:spPr>
          <a:xfrm>
            <a:off x="1" y="1170007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1.What is a K-array Heap?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1fdec52c72_0_308"/>
          <p:cNvSpPr txBox="1"/>
          <p:nvPr/>
        </p:nvSpPr>
        <p:spPr>
          <a:xfrm>
            <a:off x="436323" y="1779900"/>
            <a:ext cx="7492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A K-array is an array data structure where each element can have up to K distinct values.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43a3cdda7_0_819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7" name="Google Shape;207;g3243a3cdda7_0_819"/>
          <p:cNvSpPr txBox="1"/>
          <p:nvPr/>
        </p:nvSpPr>
        <p:spPr>
          <a:xfrm>
            <a:off x="0" y="1170000"/>
            <a:ext cx="80868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2. How is a K-ary Heap different from a Binary Heap?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243a3cdda7_0_819"/>
          <p:cNvSpPr txBox="1"/>
          <p:nvPr/>
        </p:nvSpPr>
        <p:spPr>
          <a:xfrm>
            <a:off x="418725" y="1932300"/>
            <a:ext cx="8086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In a Binary Heap, each node has at most two children (left and right), while in a K-ary Heap, each node can have up to K children.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43a3cdda7_0_825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14" name="Google Shape;214;g3243a3cdda7_0_825"/>
          <p:cNvSpPr txBox="1"/>
          <p:nvPr/>
        </p:nvSpPr>
        <p:spPr>
          <a:xfrm>
            <a:off x="0" y="1170000"/>
            <a:ext cx="8263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3. What is the advantage of using a K-ary Heap over a Binary Heap?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243a3cdda7_0_825"/>
          <p:cNvSpPr txBox="1"/>
          <p:nvPr/>
        </p:nvSpPr>
        <p:spPr>
          <a:xfrm>
            <a:off x="436323" y="2008500"/>
            <a:ext cx="7492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K-ary Heaps can be more space-efficient than Binary Heaps in certain situations since each node has more children, reducing the overall height of the tree.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43a3cdda7_0_831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1" name="Google Shape;221;g3243a3cdda7_0_831"/>
          <p:cNvSpPr txBox="1"/>
          <p:nvPr/>
        </p:nvSpPr>
        <p:spPr>
          <a:xfrm>
            <a:off x="0" y="1170000"/>
            <a:ext cx="79284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4. Explain the operations of insertion and deletion in a K-ary Heap.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243a3cdda7_0_831"/>
          <p:cNvSpPr txBox="1"/>
          <p:nvPr/>
        </p:nvSpPr>
        <p:spPr>
          <a:xfrm>
            <a:off x="436323" y="1932300"/>
            <a:ext cx="74922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Insertion involves adding a new element to the heap and then restoring the heap property by performing the "heapify-up" operation. Deletion involves removing the root element, replacing it with the last element, and then restoring the heap property by performing the "heapify-down" operation.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04327b395_0_94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GB" sz="1800" u="none" cap="none" strike="noStrike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8" name="Google Shape;228;g3204327b395_0_94"/>
          <p:cNvSpPr txBox="1"/>
          <p:nvPr/>
        </p:nvSpPr>
        <p:spPr>
          <a:xfrm>
            <a:off x="0" y="1170000"/>
            <a:ext cx="79284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5. How do you represent a K-ary Heap in an array?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GB" sz="16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204327b395_0_94"/>
          <p:cNvSpPr txBox="1"/>
          <p:nvPr/>
        </p:nvSpPr>
        <p:spPr>
          <a:xfrm>
            <a:off x="436323" y="1932300"/>
            <a:ext cx="7492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Answer: In a K-ary Heap, if a node is at index i, its children are at indices Ki + 1, Ki + 2, ..., K*i + K.</a:t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5" name="Google Shape;2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3" name="Google Shape;2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" name="Google Shape;2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" name="Google Shape;248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2" name="Google Shape;252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