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Black"/>
      <p:bold r:id="rId26"/>
      <p:boldItalic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32" roundtripDataSignature="AMtx7mgL/FNuGGLAGNf3xgP9BbYicHU8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8C6129-FD67-46C3-A479-2CC1A46B3779}">
  <a:tblStyle styleId="{558C6129-FD67-46C3-A479-2CC1A46B3779}"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 styleId="{31A571A7-2552-47BB-BAE6-1C4950F55BE3}"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lack-bold.fntdata"/><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font" Target="fonts/RobotoBlack-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10" Type="http://schemas.openxmlformats.org/officeDocument/2006/relationships/slide" Target="slides/slide3.xml"/><Relationship Id="rId32"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9373db84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a9373db8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9373db84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a9373db84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f8d5686a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31f8d5686a5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f8d5686a5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1f8d5686a5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f8d5686a5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1f8d5686a5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f8d5686a5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7" name="Google Shape;127;g31f8d5686a5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f8d5686a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4" name="Google Shape;134;g31f8d5686a5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f8d5686a5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0" name="Google Shape;140;g31f8d5686a5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f8d5686a5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6" name="Google Shape;146;g31f8d5686a5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f8d5686a5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3" name="Google Shape;153;g31f8d5686a5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f8d5686a5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31f8d5686a5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f8d5686a5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7" name="Google Shape;167;g31f8d5686a5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f8d5686a5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4" name="Google Shape;174;g31f8d5686a5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f8d5686a5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1" name="Google Shape;181;g31f8d5686a5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f8d5686a5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8" name="Google Shape;188;g31f8d5686a5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f8d5686a5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5" name="Google Shape;195;g31f8d5686a5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3" name="Google Shape;13;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6" name="Google Shape;16;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3.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a9373db84c_0_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g3a9373db84c_0_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g3a9373db84c_0_0"/>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g3a9373db84c_0_0"/>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g3a9373db84c_0_0"/>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a9373db84c_0_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g3a9373db84c_0_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g3a9373db84c_0_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g3a9373db84c_0_8"/>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lang="en-GB" sz="3200">
                <a:solidFill>
                  <a:schemeClr val="lt1"/>
                </a:solidFill>
                <a:latin typeface="Roboto"/>
                <a:ea typeface="Roboto"/>
                <a:cs typeface="Roboto"/>
                <a:sym typeface="Roboto"/>
              </a:rPr>
              <a:t>BELLMAN FORD ALGORITHM </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1f8d5686a5_0_18"/>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sp>
        <p:nvSpPr>
          <p:cNvPr id="109" name="Google Shape;109;g31f8d5686a5_0_18"/>
          <p:cNvSpPr/>
          <p:nvPr/>
        </p:nvSpPr>
        <p:spPr>
          <a:xfrm>
            <a:off x="419874" y="1356125"/>
            <a:ext cx="8494500" cy="3385500"/>
          </a:xfrm>
          <a:prstGeom prst="rect">
            <a:avLst/>
          </a:prstGeom>
          <a:noFill/>
          <a:ln>
            <a:noFill/>
          </a:ln>
        </p:spPr>
        <p:txBody>
          <a:bodyPr anchorCtr="0" anchor="t" bIns="60925" lIns="121900" spcFirstLastPara="1" rIns="121900" wrap="square" tIns="60925">
            <a:noAutofit/>
          </a:bodyPr>
          <a:lstStyle/>
          <a:p>
            <a:pPr indent="-355600" lvl="0" marL="457200" marR="0" rtl="0" algn="l">
              <a:lnSpc>
                <a:spcPct val="200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The Bellman-Ford algorithm works for weighted, directed graphs, including those with negative weight edges, and it can detect negative weight cycles.</a:t>
            </a:r>
            <a:endParaRPr b="0" i="0" sz="1800" u="none" cap="none" strike="noStrike">
              <a:solidFill>
                <a:schemeClr val="dk1"/>
              </a:solidFill>
              <a:latin typeface="Consolas"/>
              <a:ea typeface="Consolas"/>
              <a:cs typeface="Consolas"/>
              <a:sym typeface="Consolas"/>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273239"/>
              </a:solidFill>
              <a:highlight>
                <a:srgbClr val="FFFFFF"/>
              </a:highlight>
              <a:latin typeface="Consolas"/>
              <a:ea typeface="Consolas"/>
              <a:cs typeface="Consolas"/>
              <a:sym typeface="Consolas"/>
            </a:endParaRPr>
          </a:p>
          <a:p>
            <a:pPr indent="0" lvl="0" marL="457200" marR="0" rtl="0" algn="l">
              <a:lnSpc>
                <a:spcPct val="115000"/>
              </a:lnSpc>
              <a:spcBef>
                <a:spcPts val="80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184150" lvl="0" marL="285750" marR="0" rtl="0" algn="l">
              <a:lnSpc>
                <a:spcPct val="115000"/>
              </a:lnSpc>
              <a:spcBef>
                <a:spcPts val="0"/>
              </a:spcBef>
              <a:spcAft>
                <a:spcPts val="0"/>
              </a:spcAft>
              <a:buClr>
                <a:srgbClr val="000000"/>
              </a:buClr>
              <a:buSzPts val="1600"/>
              <a:buFont typeface="Noto Sans Symbols"/>
              <a:buNone/>
            </a:pPr>
            <a:r>
              <a:t/>
            </a:r>
            <a:endParaRPr b="0" i="0" sz="1800" u="none" cap="none" strike="noStrike">
              <a:solidFill>
                <a:srgbClr val="000000"/>
              </a:solidFill>
              <a:latin typeface="Consolas"/>
              <a:ea typeface="Consolas"/>
              <a:cs typeface="Consolas"/>
              <a:sym typeface="Consolas"/>
            </a:endParaRPr>
          </a:p>
        </p:txBody>
      </p:sp>
      <p:sp>
        <p:nvSpPr>
          <p:cNvPr id="110" name="Google Shape;110;g31f8d5686a5_0_18"/>
          <p:cNvSpPr txBox="1"/>
          <p:nvPr/>
        </p:nvSpPr>
        <p:spPr>
          <a:xfrm>
            <a:off x="345232" y="948287"/>
            <a:ext cx="2827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2060"/>
                </a:solidFill>
                <a:latin typeface="Consolas"/>
                <a:ea typeface="Consolas"/>
                <a:cs typeface="Consolas"/>
                <a:sym typeface="Consolas"/>
              </a:rPr>
              <a:t>WHERE IT WORKS</a:t>
            </a:r>
            <a:endParaRPr b="1" i="0" sz="2000" u="none" cap="none" strike="noStrike">
              <a:solidFill>
                <a:srgbClr val="002060"/>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1f8d5686a5_0_24"/>
          <p:cNvSpPr txBox="1"/>
          <p:nvPr/>
        </p:nvSpPr>
        <p:spPr>
          <a:xfrm>
            <a:off x="511075" y="939275"/>
            <a:ext cx="47028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002060"/>
                </a:solidFill>
                <a:latin typeface="Consolas"/>
                <a:ea typeface="Consolas"/>
                <a:cs typeface="Consolas"/>
                <a:sym typeface="Consolas"/>
              </a:rPr>
              <a:t>IMPORTANT TERMINOLOGY</a:t>
            </a:r>
            <a:endParaRPr b="1" i="0" sz="2000" u="none" cap="none" strike="noStrike">
              <a:solidFill>
                <a:srgbClr val="00206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16" name="Google Shape;116;g31f8d5686a5_0_24"/>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sp>
        <p:nvSpPr>
          <p:cNvPr id="117" name="Google Shape;117;g31f8d5686a5_0_24"/>
          <p:cNvSpPr/>
          <p:nvPr/>
        </p:nvSpPr>
        <p:spPr>
          <a:xfrm>
            <a:off x="419874" y="1356125"/>
            <a:ext cx="8494500" cy="3385500"/>
          </a:xfrm>
          <a:prstGeom prst="rect">
            <a:avLst/>
          </a:prstGeom>
          <a:noFill/>
          <a:ln>
            <a:noFill/>
          </a:ln>
        </p:spPr>
        <p:txBody>
          <a:bodyPr anchorCtr="0" anchor="t" bIns="60925" lIns="121900" spcFirstLastPara="1" rIns="121900" wrap="square" tIns="60925">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`V`: The number of vertices in the graph.</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`E`: The number of edges in the graph.</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`dist[]`: An array to store the shortest distances from the source vertex to all other vertices.</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Consolas"/>
                <a:ea typeface="Consolas"/>
                <a:cs typeface="Consolas"/>
                <a:sym typeface="Consolas"/>
              </a:rPr>
              <a:t>`CreateEdge`: A class representing an edge with source, destination, and weight.</a:t>
            </a:r>
            <a:endParaRPr b="0" i="0" sz="1800" u="none" cap="none" strike="noStrike">
              <a:solidFill>
                <a:schemeClr val="dk1"/>
              </a:solidFill>
              <a:latin typeface="Consolas"/>
              <a:ea typeface="Consolas"/>
              <a:cs typeface="Consolas"/>
              <a:sym typeface="Consolas"/>
            </a:endParaRPr>
          </a:p>
          <a:p>
            <a:pPr indent="0" lvl="0" marL="457200" marR="0" rtl="0" algn="l">
              <a:lnSpc>
                <a:spcPct val="150000"/>
              </a:lnSpc>
              <a:spcBef>
                <a:spcPts val="80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184150" lvl="0" marL="285750" marR="0" rtl="0" algn="l">
              <a:lnSpc>
                <a:spcPct val="150000"/>
              </a:lnSpc>
              <a:spcBef>
                <a:spcPts val="0"/>
              </a:spcBef>
              <a:spcAft>
                <a:spcPts val="0"/>
              </a:spcAft>
              <a:buClr>
                <a:srgbClr val="000000"/>
              </a:buClr>
              <a:buSzPts val="1600"/>
              <a:buFont typeface="Noto Sans Symbols"/>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1f8d5686a5_0_30"/>
          <p:cNvSpPr txBox="1"/>
          <p:nvPr/>
        </p:nvSpPr>
        <p:spPr>
          <a:xfrm>
            <a:off x="511080" y="710682"/>
            <a:ext cx="39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23" name="Google Shape;123;g31f8d5686a5_0_30"/>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sp>
        <p:nvSpPr>
          <p:cNvPr id="124" name="Google Shape;124;g31f8d5686a5_0_30"/>
          <p:cNvSpPr/>
          <p:nvPr/>
        </p:nvSpPr>
        <p:spPr>
          <a:xfrm>
            <a:off x="419874" y="1127525"/>
            <a:ext cx="8494500" cy="3385500"/>
          </a:xfrm>
          <a:prstGeom prst="rect">
            <a:avLst/>
          </a:prstGeom>
          <a:noFill/>
          <a:ln>
            <a:noFill/>
          </a:ln>
        </p:spPr>
        <p:txBody>
          <a:bodyPr anchorCtr="0" anchor="t" bIns="60925" lIns="121900" spcFirstLastPara="1" rIns="121900" wrap="square" tIns="60925">
            <a:noAutofit/>
          </a:bodyPr>
          <a:lstStyle/>
          <a:p>
            <a:pPr indent="-355600" lvl="0" marL="457200" marR="0" rtl="0" algn="l">
              <a:lnSpc>
                <a:spcPct val="115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Initialize the `dist` array, setting the distance to the source vertex as 0 and all other distances as infinity.</a:t>
            </a:r>
            <a:endParaRPr b="0" i="0" sz="14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Repeat the following V-1 times (V is the number of vertices):</a:t>
            </a:r>
            <a:endParaRPr b="0" i="0" sz="14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Consolas"/>
                <a:ea typeface="Consolas"/>
                <a:cs typeface="Consolas"/>
                <a:sym typeface="Consolas"/>
              </a:rPr>
              <a:t> For each edge (u, v) with weight w, if `dist[u] + w` is smaller than `dist[v]`, update `dist[v]` to `dist[u] + w`.</a:t>
            </a:r>
            <a:endParaRPr b="0" i="0" sz="14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Check for negative weight cycles by iterating through all edges and performing the same relaxation step. If any `dist[u] + w` is smaller than `dist[v`, a negative weight cycle exists.</a:t>
            </a:r>
            <a:endParaRPr b="0" i="0" sz="14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If no negative weight cycle is found, print the shortest distances from the source vertex to all other vertices.</a:t>
            </a:r>
            <a:endParaRPr b="0" i="0" sz="1800" u="none" cap="none" strike="noStrike">
              <a:solidFill>
                <a:schemeClr val="dk1"/>
              </a:solidFill>
              <a:latin typeface="Consolas"/>
              <a:ea typeface="Consolas"/>
              <a:cs typeface="Consolas"/>
              <a:sym typeface="Consolas"/>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273239"/>
              </a:solidFill>
              <a:highlight>
                <a:srgbClr val="FFFFFF"/>
              </a:highlight>
              <a:latin typeface="Consolas"/>
              <a:ea typeface="Consolas"/>
              <a:cs typeface="Consolas"/>
              <a:sym typeface="Consolas"/>
            </a:endParaRPr>
          </a:p>
          <a:p>
            <a:pPr indent="0" lvl="0" marL="457200" marR="0" rtl="0" algn="l">
              <a:lnSpc>
                <a:spcPct val="115000"/>
              </a:lnSpc>
              <a:spcBef>
                <a:spcPts val="80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184150" lvl="0" marL="285750" marR="0" rtl="0" algn="l">
              <a:lnSpc>
                <a:spcPct val="115000"/>
              </a:lnSpc>
              <a:spcBef>
                <a:spcPts val="0"/>
              </a:spcBef>
              <a:spcAft>
                <a:spcPts val="0"/>
              </a:spcAft>
              <a:buClr>
                <a:srgbClr val="000000"/>
              </a:buClr>
              <a:buSzPts val="1600"/>
              <a:buFont typeface="Noto Sans Symbols"/>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1f8d5686a5_0_36"/>
          <p:cNvSpPr txBox="1"/>
          <p:nvPr/>
        </p:nvSpPr>
        <p:spPr>
          <a:xfrm>
            <a:off x="511080" y="710682"/>
            <a:ext cx="3972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lang="en-GB" sz="2000">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30" name="Google Shape;130;g31f8d5686a5_0_36"/>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sp>
        <p:nvSpPr>
          <p:cNvPr id="131" name="Google Shape;131;g31f8d5686a5_0_36"/>
          <p:cNvSpPr/>
          <p:nvPr/>
        </p:nvSpPr>
        <p:spPr>
          <a:xfrm>
            <a:off x="511074" y="1110875"/>
            <a:ext cx="8494500" cy="3385500"/>
          </a:xfrm>
          <a:prstGeom prst="rect">
            <a:avLst/>
          </a:prstGeom>
          <a:noFill/>
          <a:ln>
            <a:noFill/>
          </a:ln>
        </p:spPr>
        <p:txBody>
          <a:bodyPr anchorCtr="0" anchor="t" bIns="60925" lIns="121900" spcFirstLastPara="1" rIns="121900" wrap="square" tIns="60925">
            <a:noAutofit/>
          </a:bodyPr>
          <a:lstStyle/>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BellmanFord(graph, source):</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Initialize dist[] with infinity values</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Set dist[source] to 0</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Repeat V-1 times:</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For each edge (u, v) with weight w:</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if dist[u] + w &lt; dist[v]:</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dist[v] = dist[u] + w</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Check for negative weight cycles:</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For each edge (u, v) with weight w:</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if dist[u] + w &lt; dist[v]:</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Print "Graph contains negative weight cycle"</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return</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500" u="none" cap="none" strike="noStrike">
                <a:solidFill>
                  <a:schemeClr val="dk1"/>
                </a:solidFill>
                <a:latin typeface="Consolas"/>
                <a:ea typeface="Consolas"/>
                <a:cs typeface="Consolas"/>
                <a:sym typeface="Consolas"/>
              </a:rPr>
              <a:t>    Print the shortest distances from the source vertex to all other vertices</a:t>
            </a:r>
            <a:endParaRPr b="0" i="0" sz="1500" u="none" cap="none" strike="noStrike">
              <a:solidFill>
                <a:schemeClr val="dk1"/>
              </a:solidFill>
              <a:latin typeface="Consolas"/>
              <a:ea typeface="Consolas"/>
              <a:cs typeface="Consolas"/>
              <a:sym typeface="Consolas"/>
            </a:endParaRPr>
          </a:p>
          <a:p>
            <a:pPr indent="0" lvl="0" marL="457200" marR="0" rtl="0" algn="l">
              <a:lnSpc>
                <a:spcPct val="115000"/>
              </a:lnSpc>
              <a:spcBef>
                <a:spcPts val="0"/>
              </a:spcBef>
              <a:spcAft>
                <a:spcPts val="0"/>
              </a:spcAft>
              <a:buClr>
                <a:srgbClr val="000000"/>
              </a:buClr>
              <a:buSzPts val="1800"/>
              <a:buFont typeface="Arial"/>
              <a:buNone/>
            </a:pPr>
            <a:r>
              <a:t/>
            </a:r>
            <a:endParaRPr b="0" i="0" sz="1500" u="none" cap="none" strike="noStrike">
              <a:solidFill>
                <a:srgbClr val="273239"/>
              </a:solidFill>
              <a:highlight>
                <a:srgbClr val="FFFFFF"/>
              </a:highlight>
              <a:latin typeface="Consolas"/>
              <a:ea typeface="Consolas"/>
              <a:cs typeface="Consolas"/>
              <a:sym typeface="Consolas"/>
            </a:endParaRPr>
          </a:p>
          <a:p>
            <a:pPr indent="0" lvl="0" marL="457200" marR="0" rtl="0" algn="l">
              <a:lnSpc>
                <a:spcPct val="115000"/>
              </a:lnSpc>
              <a:spcBef>
                <a:spcPts val="800"/>
              </a:spcBef>
              <a:spcAft>
                <a:spcPts val="0"/>
              </a:spcAft>
              <a:buClr>
                <a:srgbClr val="000000"/>
              </a:buClr>
              <a:buSzPts val="1800"/>
              <a:buFont typeface="Arial"/>
              <a:buNone/>
            </a:pPr>
            <a:r>
              <a:t/>
            </a:r>
            <a:endParaRPr b="0" i="0" sz="1500" u="none" cap="none" strike="noStrike">
              <a:solidFill>
                <a:srgbClr val="000000"/>
              </a:solidFill>
              <a:latin typeface="Consolas"/>
              <a:ea typeface="Consolas"/>
              <a:cs typeface="Consolas"/>
              <a:sym typeface="Consolas"/>
            </a:endParaRPr>
          </a:p>
          <a:p>
            <a:pPr indent="-184150" lvl="0" marL="285750" marR="0" rtl="0" algn="l">
              <a:lnSpc>
                <a:spcPct val="115000"/>
              </a:lnSpc>
              <a:spcBef>
                <a:spcPts val="0"/>
              </a:spcBef>
              <a:spcAft>
                <a:spcPts val="0"/>
              </a:spcAft>
              <a:buClr>
                <a:srgbClr val="000000"/>
              </a:buClr>
              <a:buSzPts val="1600"/>
              <a:buFont typeface="Noto Sans Symbols"/>
              <a:buNone/>
            </a:pPr>
            <a:r>
              <a:t/>
            </a:r>
            <a:endParaRPr b="0" i="0" sz="1500" u="none" cap="none" strike="noStrike">
              <a:solidFill>
                <a:srgbClr val="000000"/>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1f8d5686a5_0_42"/>
          <p:cNvSpPr txBox="1"/>
          <p:nvPr/>
        </p:nvSpPr>
        <p:spPr>
          <a:xfrm>
            <a:off x="3118475" y="2932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graphicFrame>
        <p:nvGraphicFramePr>
          <p:cNvPr id="137" name="Google Shape;137;g31f8d5686a5_0_42"/>
          <p:cNvGraphicFramePr/>
          <p:nvPr/>
        </p:nvGraphicFramePr>
        <p:xfrm>
          <a:off x="330556" y="773864"/>
          <a:ext cx="3000000" cy="3000000"/>
        </p:xfrm>
        <a:graphic>
          <a:graphicData uri="http://schemas.openxmlformats.org/drawingml/2006/table">
            <a:tbl>
              <a:tblPr bandRow="1" firstRow="1">
                <a:noFill/>
                <a:tableStyleId>{558C6129-FD67-46C3-A479-2CC1A46B3779}</a:tableStyleId>
              </a:tblPr>
              <a:tblGrid>
                <a:gridCol w="4253875"/>
                <a:gridCol w="42290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class CreateGraph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class CreateEdge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src, dest, weight;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CreateEdge(int src, int dest, int weight)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this.src = src;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this.dest = dest;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this.weight = weight;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V, 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CreateEdge edge[];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CreateGraph(int v, int 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V = v;</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E = 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edge = new CreateEdge[e];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void BellmanFord(int src)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dist[] = new int[V];</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0; i &lt; V; ++i)</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dist[i] = Integer.MAX_VALUE;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dist[src] = 0;</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1; i &lt; V;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j = 0; j &lt; E; ++j)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u = edge[j].src;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v = edge[j].dest;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w = edge[j].weight;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(dist[u] != Integer.MAX_VALUE &amp;&amp; dist[u] + w &lt; dist[v])</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dist[v] = dist[u] + 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j = 0; j &lt; E; ++j)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u = edge[j].src;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v = edge[j].dest;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1f8d5686a5_0_48"/>
          <p:cNvSpPr txBox="1"/>
          <p:nvPr/>
        </p:nvSpPr>
        <p:spPr>
          <a:xfrm>
            <a:off x="3118475" y="2932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graphicFrame>
        <p:nvGraphicFramePr>
          <p:cNvPr id="143" name="Google Shape;143;g31f8d5686a5_0_48"/>
          <p:cNvGraphicFramePr/>
          <p:nvPr/>
        </p:nvGraphicFramePr>
        <p:xfrm>
          <a:off x="11" y="854526"/>
          <a:ext cx="3000000" cy="3000000"/>
        </p:xfrm>
        <a:graphic>
          <a:graphicData uri="http://schemas.openxmlformats.org/drawingml/2006/table">
            <a:tbl>
              <a:tblPr bandRow="1" firstRow="1">
                <a:noFill/>
                <a:tableStyleId>{558C6129-FD67-46C3-A479-2CC1A46B3779}</a:tableStyleId>
              </a:tblPr>
              <a:tblGrid>
                <a:gridCol w="4438525"/>
                <a:gridCol w="4705475"/>
              </a:tblGrid>
              <a:tr h="3893500">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int w = edge[j].weight;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if (dist[u] != Integer.MAX_VALUE &amp;&amp; dist[u] + w &lt; dist[v]) {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System.out.println("Graph contains negative weight cycle");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return;</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printSolution(dist);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void printSolution(int dist[])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System.out.println("Vertex Distance from Source");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for (int i = 0; i &lt; V; ++i)</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System.out.println(i + "\t\t" + dist[i]);</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public static void main(String[] args)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int V = 5;</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int E = 7; </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CreateGraph graph = new CreateGraph(V, E);</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graph.edge[0] = graph.new CreateEdge(0, 1, 5);</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graph.edge[1] = graph.new CreateEdge(0, 2, 4);</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graph.edge[2] = graph.new CreateEdge(1, 3, 3);</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graph.edge[3] = graph.new CreateEdge(2, 1, 6);</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graph.edge[4] = graph.new CreateEdge(3, 2, 2);</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graph.edge[5] = graph.new CreateEdge(1, 4, -4);</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graph.edge[6] = graph.new CreateEdge(4, 2, 2);</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graph.BellmanFord(0); // 0 is the source vertex</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1f8d5686a5_0_57"/>
          <p:cNvSpPr txBox="1"/>
          <p:nvPr/>
        </p:nvSpPr>
        <p:spPr>
          <a:xfrm>
            <a:off x="511075" y="939275"/>
            <a:ext cx="42426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002060"/>
                </a:solidFill>
                <a:latin typeface="Consolas"/>
                <a:ea typeface="Consolas"/>
                <a:cs typeface="Consolas"/>
                <a:sym typeface="Consolas"/>
              </a:rPr>
              <a:t>TIME AND SPACE COMPLEXITY</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49" name="Google Shape;149;g31f8d5686a5_0_57"/>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sp>
        <p:nvSpPr>
          <p:cNvPr id="150" name="Google Shape;150;g31f8d5686a5_0_57"/>
          <p:cNvSpPr/>
          <p:nvPr/>
        </p:nvSpPr>
        <p:spPr>
          <a:xfrm>
            <a:off x="419874" y="1356125"/>
            <a:ext cx="8494500" cy="3385500"/>
          </a:xfrm>
          <a:prstGeom prst="rect">
            <a:avLst/>
          </a:prstGeom>
          <a:noFill/>
          <a:ln>
            <a:noFill/>
          </a:ln>
        </p:spPr>
        <p:txBody>
          <a:bodyPr anchorCtr="0" anchor="t" bIns="60925" lIns="121900" spcFirstLastPara="1" rIns="121900" wrap="square" tIns="60925">
            <a:noAutofit/>
          </a:bodyPr>
          <a:lstStyle/>
          <a:p>
            <a:pPr indent="-355600" lvl="0" marL="457200" marR="0" rtl="0" algn="l">
              <a:lnSpc>
                <a:spcPct val="150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Time Complexity: O(VE) where V is the number of vertices and E is the number of edges.</a:t>
            </a:r>
            <a:endParaRPr b="0" i="0" sz="1400" u="none" cap="none" strike="noStrike">
              <a:solidFill>
                <a:schemeClr val="dk1"/>
              </a:solidFill>
              <a:latin typeface="Arial"/>
              <a:ea typeface="Arial"/>
              <a:cs typeface="Arial"/>
              <a:sym typeface="Arial"/>
            </a:endParaRPr>
          </a:p>
          <a:p>
            <a:pPr indent="-355600" lvl="0" marL="457200" marR="0" rtl="0" algn="l">
              <a:lnSpc>
                <a:spcPct val="150000"/>
              </a:lnSpc>
              <a:spcBef>
                <a:spcPts val="0"/>
              </a:spcBef>
              <a:spcAft>
                <a:spcPts val="0"/>
              </a:spcAft>
              <a:buClr>
                <a:srgbClr val="000000"/>
              </a:buClr>
              <a:buSzPts val="2000"/>
              <a:buFont typeface="Noto Sans Symbols"/>
              <a:buChar char="⮚"/>
            </a:pPr>
            <a:r>
              <a:rPr b="0" i="0" lang="en-GB" sz="1800" u="none" cap="none" strike="noStrike">
                <a:solidFill>
                  <a:schemeClr val="dk1"/>
                </a:solidFill>
                <a:latin typeface="Consolas"/>
                <a:ea typeface="Consolas"/>
                <a:cs typeface="Consolas"/>
                <a:sym typeface="Consolas"/>
              </a:rPr>
              <a:t>Space Complexity: O(V) for the `dist` array.</a:t>
            </a:r>
            <a:endParaRPr b="0" i="0" sz="1800" u="none" cap="none" strike="noStrike">
              <a:solidFill>
                <a:schemeClr val="dk1"/>
              </a:solidFill>
              <a:latin typeface="Consolas"/>
              <a:ea typeface="Consolas"/>
              <a:cs typeface="Consolas"/>
              <a:sym typeface="Consolas"/>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273239"/>
              </a:solidFill>
              <a:highlight>
                <a:srgbClr val="FFFFFF"/>
              </a:highlight>
              <a:latin typeface="Consolas"/>
              <a:ea typeface="Consolas"/>
              <a:cs typeface="Consolas"/>
              <a:sym typeface="Consolas"/>
            </a:endParaRPr>
          </a:p>
          <a:p>
            <a:pPr indent="0" lvl="0" marL="457200" marR="0" rtl="0" algn="l">
              <a:lnSpc>
                <a:spcPct val="115000"/>
              </a:lnSpc>
              <a:spcBef>
                <a:spcPts val="80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184150" lvl="0" marL="285750" marR="0" rtl="0" algn="l">
              <a:lnSpc>
                <a:spcPct val="115000"/>
              </a:lnSpc>
              <a:spcBef>
                <a:spcPts val="0"/>
              </a:spcBef>
              <a:spcAft>
                <a:spcPts val="0"/>
              </a:spcAft>
              <a:buClr>
                <a:srgbClr val="000000"/>
              </a:buClr>
              <a:buSzPts val="1600"/>
              <a:buFont typeface="Noto Sans Symbols"/>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1f8d5686a5_0_63"/>
          <p:cNvSpPr txBox="1"/>
          <p:nvPr/>
        </p:nvSpPr>
        <p:spPr>
          <a:xfrm>
            <a:off x="282471" y="558275"/>
            <a:ext cx="74169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002060"/>
                </a:solidFill>
                <a:latin typeface="Consolas"/>
                <a:ea typeface="Consolas"/>
                <a:cs typeface="Consolas"/>
                <a:sym typeface="Consolas"/>
              </a:rPr>
              <a:t>DIJKSTRA’S ALGORITHM VS BELLMAN FORD ALGORITHM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56" name="Google Shape;156;g31f8d5686a5_0_63"/>
          <p:cNvSpPr txBox="1"/>
          <p:nvPr/>
        </p:nvSpPr>
        <p:spPr>
          <a:xfrm>
            <a:off x="3118475" y="2932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BELLMAN-FORD ALGORITHM</a:t>
            </a:r>
            <a:endParaRPr b="0" i="0" sz="1800" u="none" cap="none" strike="noStrike">
              <a:solidFill>
                <a:srgbClr val="6D9EEB"/>
              </a:solidFill>
              <a:latin typeface="Roboto Black"/>
              <a:ea typeface="Roboto Black"/>
              <a:cs typeface="Roboto Black"/>
              <a:sym typeface="Roboto Black"/>
            </a:endParaRPr>
          </a:p>
        </p:txBody>
      </p:sp>
      <p:graphicFrame>
        <p:nvGraphicFramePr>
          <p:cNvPr id="157" name="Google Shape;157;g31f8d5686a5_0_63"/>
          <p:cNvGraphicFramePr/>
          <p:nvPr/>
        </p:nvGraphicFramePr>
        <p:xfrm>
          <a:off x="0" y="955875"/>
          <a:ext cx="3000000" cy="3000000"/>
        </p:xfrm>
        <a:graphic>
          <a:graphicData uri="http://schemas.openxmlformats.org/drawingml/2006/table">
            <a:tbl>
              <a:tblPr>
                <a:noFill/>
                <a:tableStyleId>{31A571A7-2552-47BB-BAE6-1C4950F55BE3}</a:tableStyleId>
              </a:tblPr>
              <a:tblGrid>
                <a:gridCol w="1911800"/>
                <a:gridCol w="4141400"/>
                <a:gridCol w="3026625"/>
              </a:tblGrid>
              <a:tr h="381000">
                <a:tc>
                  <a:txBody>
                    <a:bodyPr/>
                    <a:lstStyle/>
                    <a:p>
                      <a:pPr indent="0" lvl="0" marL="0" marR="0" rtl="0" algn="ctr">
                        <a:lnSpc>
                          <a:spcPct val="115000"/>
                        </a:lnSpc>
                        <a:spcBef>
                          <a:spcPts val="0"/>
                        </a:spcBef>
                        <a:spcAft>
                          <a:spcPts val="0"/>
                        </a:spcAft>
                        <a:buClr>
                          <a:srgbClr val="000000"/>
                        </a:buClr>
                        <a:buSzPts val="1600"/>
                        <a:buFont typeface="Arial"/>
                        <a:buNone/>
                      </a:pPr>
                      <a:r>
                        <a:rPr lang="en-GB" sz="1300" u="none" cap="none" strike="noStrike">
                          <a:solidFill>
                            <a:srgbClr val="FF0000"/>
                          </a:solidFill>
                          <a:latin typeface="Consolas"/>
                          <a:ea typeface="Consolas"/>
                          <a:cs typeface="Consolas"/>
                          <a:sym typeface="Consolas"/>
                        </a:rPr>
                        <a:t>Aspect</a:t>
                      </a:r>
                      <a:endParaRPr sz="1300" u="none" cap="none" strike="noStrike">
                        <a:solidFill>
                          <a:srgbClr val="FF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n-GB" sz="1300" u="none" cap="none" strike="noStrike">
                          <a:solidFill>
                            <a:srgbClr val="FF0000"/>
                          </a:solidFill>
                          <a:latin typeface="Consolas"/>
                          <a:ea typeface="Consolas"/>
                          <a:cs typeface="Consolas"/>
                          <a:sym typeface="Consolas"/>
                        </a:rPr>
                        <a:t>Dijkstra's Algorithm</a:t>
                      </a:r>
                      <a:endParaRPr sz="1300" u="none" cap="none" strike="noStrike">
                        <a:solidFill>
                          <a:srgbClr val="FF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n-GB" sz="1300" u="none" cap="none" strike="noStrike">
                          <a:solidFill>
                            <a:srgbClr val="FF0000"/>
                          </a:solidFill>
                          <a:latin typeface="Consolas"/>
                          <a:ea typeface="Consolas"/>
                          <a:cs typeface="Consolas"/>
                          <a:sym typeface="Consolas"/>
                        </a:rPr>
                        <a:t>Bellman-Ford Algorithm</a:t>
                      </a:r>
                      <a:endParaRPr sz="1300" u="none" cap="none" strike="noStrike">
                        <a:solidFill>
                          <a:srgbClr val="FF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600"/>
                        <a:buFont typeface="Arial"/>
                        <a:buNone/>
                      </a:pPr>
                      <a:r>
                        <a:rPr b="1" lang="en-GB" sz="1300" u="none" cap="none" strike="noStrike">
                          <a:solidFill>
                            <a:srgbClr val="FF00FF"/>
                          </a:solidFill>
                          <a:latin typeface="Consolas"/>
                          <a:ea typeface="Consolas"/>
                          <a:cs typeface="Consolas"/>
                          <a:sym typeface="Consolas"/>
                        </a:rPr>
                        <a:t>Edge Weight</a:t>
                      </a:r>
                      <a:endParaRPr b="1" sz="1300" u="none" cap="none" strike="noStrike">
                        <a:solidFill>
                          <a:srgbClr val="FF00FF"/>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Non-negative edge weights</a:t>
                      </a:r>
                      <a:endParaRPr sz="1300" u="none" cap="none" strike="noStrike">
                        <a:solidFill>
                          <a:srgbClr val="00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Negative edge weights are allowed</a:t>
                      </a:r>
                      <a:endParaRPr sz="1300" u="none" cap="none" strike="noStrike">
                        <a:solidFill>
                          <a:srgbClr val="00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600"/>
                        <a:buFont typeface="Arial"/>
                        <a:buNone/>
                      </a:pPr>
                      <a:r>
                        <a:rPr b="1" lang="en-GB" sz="1300" u="none" cap="none" strike="noStrike">
                          <a:solidFill>
                            <a:srgbClr val="FF00FF"/>
                          </a:solidFill>
                          <a:latin typeface="Consolas"/>
                          <a:ea typeface="Consolas"/>
                          <a:cs typeface="Consolas"/>
                          <a:sym typeface="Consolas"/>
                        </a:rPr>
                        <a:t>Optimality</a:t>
                      </a:r>
                      <a:endParaRPr b="1" sz="1300" u="none" cap="none" strike="noStrike">
                        <a:solidFill>
                          <a:srgbClr val="FF00FF"/>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Provides shortest paths with non-negative edge weights</a:t>
                      </a:r>
                      <a:endParaRPr sz="1300" u="none" cap="none" strike="noStrike">
                        <a:solidFill>
                          <a:srgbClr val="00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Can handle negative edge weights and detect negative weight cycles</a:t>
                      </a:r>
                      <a:endParaRPr sz="1300" u="none" cap="none" strike="noStrike">
                        <a:solidFill>
                          <a:srgbClr val="00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600"/>
                        <a:buFont typeface="Arial"/>
                        <a:buNone/>
                      </a:pPr>
                      <a:r>
                        <a:rPr b="1" lang="en-GB" sz="1300" u="none" cap="none" strike="noStrike">
                          <a:solidFill>
                            <a:srgbClr val="FF00FF"/>
                          </a:solidFill>
                          <a:latin typeface="Consolas"/>
                          <a:ea typeface="Consolas"/>
                          <a:cs typeface="Consolas"/>
                          <a:sym typeface="Consolas"/>
                        </a:rPr>
                        <a:t>Data Structures</a:t>
                      </a:r>
                      <a:endParaRPr b="1" sz="1300" u="none" cap="none" strike="noStrike">
                        <a:solidFill>
                          <a:srgbClr val="FF00FF"/>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Typically uses priority queue with a minimum key</a:t>
                      </a:r>
                      <a:endParaRPr sz="1300" u="none" cap="none" strike="noStrike">
                        <a:solidFill>
                          <a:srgbClr val="00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Uses an array to store distances</a:t>
                      </a:r>
                      <a:endParaRPr sz="1300" u="none" cap="none" strike="noStrike">
                        <a:solidFill>
                          <a:srgbClr val="00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600"/>
                        <a:buFont typeface="Arial"/>
                        <a:buNone/>
                      </a:pPr>
                      <a:r>
                        <a:rPr b="1" lang="en-GB" sz="1300" u="none" cap="none" strike="noStrike">
                          <a:solidFill>
                            <a:srgbClr val="FF00FF"/>
                          </a:solidFill>
                          <a:latin typeface="Consolas"/>
                          <a:ea typeface="Consolas"/>
                          <a:cs typeface="Consolas"/>
                          <a:sym typeface="Consolas"/>
                        </a:rPr>
                        <a:t>Suitable For</a:t>
                      </a:r>
                      <a:endParaRPr b="1" sz="1300" u="none" cap="none" strike="noStrike">
                        <a:solidFill>
                          <a:srgbClr val="FF00FF"/>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Suitable for graphs with non-negative edge weights</a:t>
                      </a:r>
                      <a:endParaRPr sz="1300" u="none" cap="none" strike="noStrike">
                        <a:solidFill>
                          <a:srgbClr val="000000"/>
                        </a:solidFill>
                        <a:latin typeface="Consolas"/>
                        <a:ea typeface="Consolas"/>
                        <a:cs typeface="Consolas"/>
                        <a:sym typeface="Consolas"/>
                      </a:endParaRPr>
                    </a:p>
                  </a:txBody>
                  <a:tcPr marT="91425" marB="91425" marR="28575" marL="2857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Suitable for graphs with negative edge weights or cycles</a:t>
                      </a:r>
                      <a:endParaRPr sz="1300" u="none" cap="none" strike="noStrike">
                        <a:solidFill>
                          <a:srgbClr val="00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600"/>
                        <a:buFont typeface="Arial"/>
                        <a:buNone/>
                      </a:pPr>
                      <a:r>
                        <a:rPr b="1" lang="en-GB" sz="1300" u="none" cap="none" strike="noStrike">
                          <a:solidFill>
                            <a:srgbClr val="FF00FF"/>
                          </a:solidFill>
                          <a:latin typeface="Consolas"/>
                          <a:ea typeface="Consolas"/>
                          <a:cs typeface="Consolas"/>
                          <a:sym typeface="Consolas"/>
                        </a:rPr>
                        <a:t>Common Usage</a:t>
                      </a:r>
                      <a:endParaRPr b="1" sz="1300" u="none" cap="none" strike="noStrike">
                        <a:solidFill>
                          <a:srgbClr val="FF00FF"/>
                        </a:solidFill>
                        <a:latin typeface="Consolas"/>
                        <a:ea typeface="Consolas"/>
                        <a:cs typeface="Consolas"/>
                        <a:sym typeface="Consolas"/>
                      </a:endParaRPr>
                    </a:p>
                  </a:txBody>
                  <a:tcPr marT="91425" marB="91425" marR="28575" marL="28575" anchor="ctr">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Used for finding shortest paths in non-negative weighted graphs, e.g., road networks</a:t>
                      </a:r>
                      <a:endParaRPr sz="1300" u="none" cap="none" strike="noStrike">
                        <a:solidFill>
                          <a:srgbClr val="000000"/>
                        </a:solidFill>
                        <a:latin typeface="Consolas"/>
                        <a:ea typeface="Consolas"/>
                        <a:cs typeface="Consolas"/>
                        <a:sym typeface="Consolas"/>
                      </a:endParaRPr>
                    </a:p>
                  </a:txBody>
                  <a:tcPr marT="91425" marB="91425" marR="28575" marL="28575" anchor="ctr">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600"/>
                        <a:buFont typeface="Arial"/>
                        <a:buNone/>
                      </a:pPr>
                      <a:r>
                        <a:rPr lang="en-GB" sz="1300" u="none" cap="none" strike="noStrike">
                          <a:solidFill>
                            <a:srgbClr val="000000"/>
                          </a:solidFill>
                          <a:latin typeface="Consolas"/>
                          <a:ea typeface="Consolas"/>
                          <a:cs typeface="Consolas"/>
                          <a:sym typeface="Consolas"/>
                        </a:rPr>
                        <a:t>Used when negative weights or cycles may be present, e.g., network routing with possible packet delays</a:t>
                      </a:r>
                      <a:endParaRPr sz="1300" u="none" cap="none" strike="noStrike">
                        <a:solidFill>
                          <a:srgbClr val="000000"/>
                        </a:solidFill>
                        <a:latin typeface="Consolas"/>
                        <a:ea typeface="Consolas"/>
                        <a:cs typeface="Consolas"/>
                        <a:sym typeface="Consolas"/>
                      </a:endParaRPr>
                    </a:p>
                  </a:txBody>
                  <a:tcPr marT="91425" marB="91425" marR="91425" marL="91425" anchor="b">
                    <a:lnL cap="flat" cmpd="sng" w="28575">
                      <a:solidFill>
                        <a:srgbClr val="0000FF"/>
                      </a:solidFill>
                      <a:prstDash val="solid"/>
                      <a:round/>
                      <a:headEnd len="sm" w="sm" type="none"/>
                      <a:tailEnd len="sm" w="sm" type="none"/>
                    </a:lnL>
                    <a:lnR cap="flat" cmpd="sng" w="28575">
                      <a:solidFill>
                        <a:srgbClr val="0000FF"/>
                      </a:solidFill>
                      <a:prstDash val="solid"/>
                      <a:round/>
                      <a:headEnd len="sm" w="sm" type="none"/>
                      <a:tailEnd len="sm" w="sm" type="none"/>
                    </a:lnR>
                    <a:lnT cap="flat" cmpd="sng" w="28575">
                      <a:solidFill>
                        <a:srgbClr val="0000FF"/>
                      </a:solidFill>
                      <a:prstDash val="solid"/>
                      <a:round/>
                      <a:headEnd len="sm" w="sm" type="none"/>
                      <a:tailEnd len="sm" w="sm" type="none"/>
                    </a:lnT>
                    <a:lnB cap="flat" cmpd="sng" w="28575">
                      <a:solidFill>
                        <a:srgbClr val="0000F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1f8d5686a5_0_75"/>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63" name="Google Shape;163;g31f8d5686a5_0_75"/>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2000"/>
              <a:buFont typeface="Arial"/>
              <a:buNone/>
            </a:pPr>
            <a:r>
              <a:rPr b="0" i="1" lang="en-GB" sz="2000" u="none" cap="none" strike="noStrike">
                <a:solidFill>
                  <a:srgbClr val="FF0000"/>
                </a:solidFill>
                <a:latin typeface="Consolas"/>
                <a:ea typeface="Consolas"/>
                <a:cs typeface="Consolas"/>
                <a:sym typeface="Consolas"/>
              </a:rPr>
              <a:t>1. What is the Bellman-Ford algorithm, and in what type of graphs is it typically used?</a:t>
            </a:r>
            <a:endParaRPr b="0" i="0" sz="28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64" name="Google Shape;164;g31f8d5686a5_0_75"/>
          <p:cNvSpPr txBox="1"/>
          <p:nvPr/>
        </p:nvSpPr>
        <p:spPr>
          <a:xfrm>
            <a:off x="417523" y="1828550"/>
            <a:ext cx="8157900" cy="217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000"/>
              <a:buFont typeface="Arial"/>
              <a:buNone/>
            </a:pPr>
            <a:r>
              <a:rPr b="0" i="0" lang="en-GB" sz="2000" u="none" cap="none" strike="noStrike">
                <a:solidFill>
                  <a:srgbClr val="000000"/>
                </a:solidFill>
                <a:latin typeface="Consolas"/>
                <a:ea typeface="Consolas"/>
                <a:cs typeface="Consolas"/>
                <a:sym typeface="Consolas"/>
              </a:rPr>
              <a:t>Answer: The Bellman-Ford algorithm is used to find the shortest paths from a single source vertex to all other vertices in a weighted, directed graph. It can handle graphs with negative edge weights and detect negative weight cycles. It is typically used in scenarios where negative weights or cycles may be present in the graph.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1f8d5686a5_0_85"/>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70" name="Google Shape;170;g31f8d5686a5_0_85"/>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2. Can you explain the basic idea behind the Bellman-Ford algorithm?</a:t>
            </a:r>
            <a:endParaRPr b="0" i="0" sz="28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71" name="Google Shape;171;g31f8d5686a5_0_85"/>
          <p:cNvSpPr txBox="1"/>
          <p:nvPr/>
        </p:nvSpPr>
        <p:spPr>
          <a:xfrm>
            <a:off x="417523" y="1676150"/>
            <a:ext cx="81579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The Bellman-Ford algorithm uses a dynamic programming approach. It iteratively relaxes the estimated shortest distances to vertices, repeating this process for V-1 times (where V is the number of vertices). In each iteration, it considers all edges in the graph and updates the distance if a shorter path is found. This process continues until no further improvements can be made, or a negative weight cycle is detected.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1f8d5686a5_0_91"/>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77" name="Google Shape;177;g31f8d5686a5_0_91"/>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3. What is the purpose of the V-1 iterations in the Bellman-Ford algorithm?</a:t>
            </a:r>
            <a:endParaRPr b="0" i="0" sz="28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78" name="Google Shape;178;g31f8d5686a5_0_91"/>
          <p:cNvSpPr txBox="1"/>
          <p:nvPr/>
        </p:nvSpPr>
        <p:spPr>
          <a:xfrm>
            <a:off x="417523" y="1828550"/>
            <a:ext cx="8157900" cy="217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The V-1 iterations in the Bellman-Ford algorithm ensure that the shortest paths are found in the majority of cases, assuming there are no negative weight cycles. In a graph with V vertices, the longest possible path between two vertices is V-1 edges. Therefore, V-1 iterations are sufficient to find the shortest paths.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f8d5686a5_0_97"/>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84" name="Google Shape;184;g31f8d5686a5_0_97"/>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4. How does the Bellman-Ford algorithm detect the presence of a negative weight cycle in a graph?</a:t>
            </a:r>
            <a:endParaRPr b="0" i="0" sz="28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85" name="Google Shape;185;g31f8d5686a5_0_97"/>
          <p:cNvSpPr txBox="1"/>
          <p:nvPr/>
        </p:nvSpPr>
        <p:spPr>
          <a:xfrm>
            <a:off x="417523" y="1828550"/>
            <a:ext cx="8157900" cy="252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000"/>
              <a:buFont typeface="Arial"/>
              <a:buNone/>
            </a:pPr>
            <a:r>
              <a:rPr b="0" i="0" lang="en-GB" sz="2000" u="none" cap="none" strike="noStrike">
                <a:solidFill>
                  <a:schemeClr val="dk1"/>
                </a:solidFill>
                <a:latin typeface="Consolas"/>
                <a:ea typeface="Consolas"/>
                <a:cs typeface="Consolas"/>
                <a:sym typeface="Consolas"/>
              </a:rPr>
              <a:t>Answer: After the V-1 iterations, the Bellman-Ford algorithm checks all edges one more time. If it finds any further improvements in distances, it indicates the presence of a negative weight cycle. If a vertex's distance can be reduced during this additional iteration, it implies that the graph contains a negative weight cycle.</a:t>
            </a:r>
            <a:r>
              <a:rPr b="0" i="0" lang="en-GB" sz="20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1f8d5686a5_0_103"/>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91" name="Google Shape;191;g31f8d5686a5_0_103"/>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5.Can you provide an example scenario where the Bellman-Ford algorithm would be a better choice than Dijkstra's algorithm?</a:t>
            </a:r>
            <a:endParaRPr b="0" i="0" sz="2800" u="none" cap="none" strike="noStrike">
              <a:solidFill>
                <a:srgbClr val="000000"/>
              </a:solidFill>
              <a:latin typeface="Calibri"/>
              <a:ea typeface="Calibri"/>
              <a:cs typeface="Calibri"/>
              <a:sym typeface="Calibri"/>
            </a:endParaRPr>
          </a:p>
          <a:p>
            <a:pPr indent="0" lvl="0" marL="0" marR="0" rtl="0" algn="l">
              <a:lnSpc>
                <a:spcPct val="115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92" name="Google Shape;192;g31f8d5686a5_0_103"/>
          <p:cNvSpPr txBox="1"/>
          <p:nvPr/>
        </p:nvSpPr>
        <p:spPr>
          <a:xfrm>
            <a:off x="417523" y="1828550"/>
            <a:ext cx="8157900" cy="2524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The Bellman-Ford algorithm is a better choice when working with network routing problems in scenarios where negative delays, costs, or congestion can occur. For example, in a communication network, packet delays can sometimes be negative (indicating faster routing). Bellman-Ford can accurately model such scenarios, while Dijkstra's algorithm cannot handle negative weights.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f8d5686a5_0_109"/>
          <p:cNvSpPr txBox="1"/>
          <p:nvPr/>
        </p:nvSpPr>
        <p:spPr>
          <a:xfrm>
            <a:off x="3118475" y="445600"/>
            <a:ext cx="33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a:t>
            </a:r>
            <a:endParaRPr b="0" i="0" sz="1800" u="none" cap="none" strike="noStrike">
              <a:solidFill>
                <a:srgbClr val="6D9EEB"/>
              </a:solidFill>
              <a:latin typeface="Roboto Black"/>
              <a:ea typeface="Roboto Black"/>
              <a:cs typeface="Roboto Black"/>
              <a:sym typeface="Roboto Black"/>
            </a:endParaRPr>
          </a:p>
        </p:txBody>
      </p:sp>
      <p:sp>
        <p:nvSpPr>
          <p:cNvPr id="198" name="Google Shape;198;g31f8d5686a5_0_109"/>
          <p:cNvSpPr txBox="1"/>
          <p:nvPr/>
        </p:nvSpPr>
        <p:spPr>
          <a:xfrm>
            <a:off x="404325" y="855600"/>
            <a:ext cx="83607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6.What distinguishes the Bellman-Ford algorithm from Dijkstra's algorithm?</a:t>
            </a:r>
            <a:endParaRPr b="0" i="0" sz="28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2000"/>
              <a:buFont typeface="Arial"/>
              <a:buNone/>
            </a:pPr>
            <a:r>
              <a:t/>
            </a:r>
            <a:endParaRPr b="0" i="1" sz="2000" u="none" cap="none" strike="noStrike">
              <a:solidFill>
                <a:srgbClr val="FF0000"/>
              </a:solidFill>
              <a:latin typeface="Consolas"/>
              <a:ea typeface="Consolas"/>
              <a:cs typeface="Consolas"/>
              <a:sym typeface="Consolas"/>
            </a:endParaRPr>
          </a:p>
        </p:txBody>
      </p:sp>
      <p:sp>
        <p:nvSpPr>
          <p:cNvPr id="199" name="Google Shape;199;g31f8d5686a5_0_109"/>
          <p:cNvSpPr txBox="1"/>
          <p:nvPr/>
        </p:nvSpPr>
        <p:spPr>
          <a:xfrm>
            <a:off x="417523" y="1676150"/>
            <a:ext cx="81579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1. Edge Weights: Bellman-Ford can handle negative edge weights, while Dijkstra's algorithm works with non-negative weights.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2. Negative Cycle Detection: Bellman-Ford can detect negative weight cycles, which Dijkstra's algorithm cannot.</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3. Use Cases: Use Bellman-Ford when dealing with negative weights or cycle detection; choose Dijkstra for non-negative weights in the graph.</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05" name="Google Shape;205;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06" name="Google Shape;206;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2" name="Google Shape;21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13" name="Google Shape;213;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4" name="Google Shape;214;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15" name="Google Shape;215;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16" name="Google Shape;216;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17" name="Google Shape;217;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18" name="Google Shape;218;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19" name="Google Shape;219;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20" name="Google Shape;220;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1" name="Google Shape;221;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22" name="Google Shape;222;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