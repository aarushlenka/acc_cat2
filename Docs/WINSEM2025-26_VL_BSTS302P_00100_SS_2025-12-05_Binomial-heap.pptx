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Roboto Black"/>
      <p:bold r:id="rId43"/>
      <p:boldItalic r:id="rId44"/>
    </p:embeddedFont>
    <p:embeddedFont>
      <p:font typeface="Robot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9" roundtripDataSignature="AMtx7mjFq8UKevWKl0bUTSbFxtyA2RFj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D941D8-2A7E-4F2F-8F1A-386D8461219D}">
  <a:tblStyle styleId="{06D941D8-2A7E-4F2F-8F1A-386D8461219D}"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RobotoBlack-boldItalic.fntdata"/><Relationship Id="rId43" Type="http://schemas.openxmlformats.org/officeDocument/2006/relationships/font" Target="fonts/RobotoBlack-bold.fntdata"/><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boldItalic.fntdata"/><Relationship Id="rId47" Type="http://schemas.openxmlformats.org/officeDocument/2006/relationships/font" Target="fonts/Roboto-italic.fntdata"/><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06" name="Google Shape;106;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1f9056ea57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3" name="Google Shape;113;g31f9056ea57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f9056ea57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1" name="Google Shape;121;g31f9056ea57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1f9056ea57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8" name="Google Shape;128;g31f9056ea57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1f9056ea57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6" name="Google Shape;136;g31f9056ea57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f9056ea57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4" name="Google Shape;144;g31f9056ea57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f9056ea57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1" name="Google Shape;151;g31f9056ea57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1f9056ea57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8" name="Google Shape;158;g31f9056ea57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1f9056ea57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5" name="Google Shape;165;g31f9056ea57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1f9056ea57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2" name="Google Shape;172;g31f9056ea57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1f9056ea57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9" name="Google Shape;179;g31f9056ea57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f9056ea57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6" name="Google Shape;186;g31f9056ea57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1f9056ea57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3" name="Google Shape;193;g31f9056ea57_0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1f9056ea57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0" name="Google Shape;200;g31f9056ea57_0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1f9056ea57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6" name="Google Shape;206;g31f9056ea57_0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1f9056ea57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2" name="Google Shape;212;g31f9056ea57_0_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1f9056ea57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8" name="Google Shape;218;g31f9056ea57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1f9056ea57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4" name="Google Shape;224;g31f9056ea57_0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1f9056ea57_0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0" name="Google Shape;230;g31f9056ea57_0_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1f9056ea57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6" name="Google Shape;236;g31f9056ea57_0_2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1f9056ea57_0_2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2" name="Google Shape;242;g31f9056ea57_0_2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1f9056ea57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8" name="Google Shape;248;g31f9056ea57_0_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1f9056ea57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4" name="Google Shape;254;g31f9056ea57_0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1f9056ea57_0_2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61" name="Google Shape;261;g31f9056ea57_0_2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1f9056ea57_0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68" name="Google Shape;268;g31f9056ea57_0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1f9056ea57_0_2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75" name="Google Shape;275;g31f9056ea57_0_2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1f9056ea57_0_2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82" name="Google Shape;282;g31f9056ea57_0_2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1f9056ea57_0_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89" name="Google Shape;289;g31f9056ea57_0_2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1f9056ea57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96" name="Google Shape;296;g31f9056ea57_0_3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1f9056ea57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03" name="Google Shape;303;g31f9056ea57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1f9056ea57_0_3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10" name="Google Shape;310;g31f9056ea57_0_3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2" name="Google Shape;52;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3" name="Google Shape;53;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58" name="Shape 5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 name="Google Shape;61;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8" name="Google Shape;68;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1" name="Google Shape;71;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4" name="Google Shape;74;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5" name="Google Shape;75;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6" name="Google Shape;76;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7" name="Google Shape;77;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0" name="Google Shape;80;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3" name="Google Shape;83;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4" name="Google Shape;84;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1.xml"/><Relationship Id="rId12" Type="http://schemas.openxmlformats.org/officeDocument/2006/relationships/slideLayout" Target="../slideLayouts/slideLayout20.xml"/><Relationship Id="rId1" Type="http://schemas.openxmlformats.org/officeDocument/2006/relationships/image" Target="../media/image1.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4" name="Shape 44"/>
        <p:cNvGrpSpPr/>
        <p:nvPr/>
      </p:nvGrpSpPr>
      <p:grpSpPr>
        <a:xfrm>
          <a:off x="0" y="0"/>
          <a:ext cx="0" cy="0"/>
          <a:chOff x="0" y="0"/>
          <a:chExt cx="0" cy="0"/>
        </a:xfrm>
      </p:grpSpPr>
      <p:sp>
        <p:nvSpPr>
          <p:cNvPr id="45" name="Google Shape;45;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 Id="rId3" Type="http://schemas.openxmlformats.org/officeDocument/2006/relationships/image" Target="../media/image17.png"/><Relationship Id="rId4" Type="http://schemas.openxmlformats.org/officeDocument/2006/relationships/hyperlink" Target="https://learn.codemithra.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15.jp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2" name="Google Shape;9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3" name="Google Shape;93;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4" name="Google Shape;94;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95" name="Google Shape;95;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1" name="Google Shape;10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2" name="Google Shape;10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3" name="Google Shape;103;p3"/>
          <p:cNvSpPr txBox="1"/>
          <p:nvPr/>
        </p:nvSpPr>
        <p:spPr>
          <a:xfrm>
            <a:off x="178001" y="2109682"/>
            <a:ext cx="4690800" cy="6771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GB" sz="3200" u="none" cap="none" strike="noStrike">
                <a:solidFill>
                  <a:schemeClr val="lt1"/>
                </a:solidFill>
                <a:latin typeface="Roboto"/>
                <a:ea typeface="Roboto"/>
                <a:cs typeface="Roboto"/>
                <a:sym typeface="Roboto"/>
              </a:rPr>
              <a:t>B</a:t>
            </a:r>
            <a:r>
              <a:rPr b="1" lang="en-GB" sz="3200">
                <a:solidFill>
                  <a:schemeClr val="lt1"/>
                </a:solidFill>
                <a:latin typeface="Roboto"/>
                <a:ea typeface="Roboto"/>
                <a:cs typeface="Roboto"/>
                <a:sym typeface="Roboto"/>
              </a:rPr>
              <a:t>INOMIAL HEAP</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14337fc5d25_0_216"/>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09" name="Google Shape;109;g14337fc5d25_0_216"/>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10" name="Google Shape;110;g14337fc5d25_0_216"/>
          <p:cNvSpPr txBox="1"/>
          <p:nvPr/>
        </p:nvSpPr>
        <p:spPr>
          <a:xfrm>
            <a:off x="436300" y="1211275"/>
            <a:ext cx="7932900" cy="3201600"/>
          </a:xfrm>
          <a:prstGeom prst="rect">
            <a:avLst/>
          </a:prstGeom>
          <a:noFill/>
          <a:ln>
            <a:noFill/>
          </a:ln>
        </p:spPr>
        <p:txBody>
          <a:bodyPr anchorCtr="0" anchor="t" bIns="45700" lIns="91425" spcFirstLastPara="1" rIns="91425" wrap="square" tIns="45700">
            <a:spAutoFit/>
          </a:bodyPr>
          <a:lstStyle/>
          <a:p>
            <a:pPr indent="-215900" lvl="0" marL="3429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Consolas"/>
              <a:ea typeface="Consolas"/>
              <a:cs typeface="Consolas"/>
              <a:sym typeface="Consolas"/>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GB" sz="1800" u="none" cap="none" strike="noStrike">
                <a:solidFill>
                  <a:srgbClr val="000000"/>
                </a:solidFill>
                <a:latin typeface="Consolas"/>
                <a:ea typeface="Consolas"/>
                <a:cs typeface="Consolas"/>
                <a:sym typeface="Consolas"/>
              </a:rPr>
              <a:t>Binomial Heap is an extension of Binary Heap </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Consolas"/>
              <a:ea typeface="Consolas"/>
              <a:cs typeface="Consolas"/>
              <a:sym typeface="Consolas"/>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GB" sz="1800" u="none" cap="none" strike="noStrike">
                <a:solidFill>
                  <a:srgbClr val="000000"/>
                </a:solidFill>
                <a:latin typeface="Consolas"/>
                <a:ea typeface="Consolas"/>
                <a:cs typeface="Consolas"/>
                <a:sym typeface="Consolas"/>
              </a:rPr>
              <a:t>It provides faster union or merge operation together with other operations provided by Binary Heap.</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Consolas"/>
              <a:ea typeface="Consolas"/>
              <a:cs typeface="Consolas"/>
              <a:sym typeface="Consolas"/>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GB" sz="1800" u="none" cap="none" strike="noStrike">
                <a:solidFill>
                  <a:srgbClr val="000000"/>
                </a:solidFill>
                <a:latin typeface="Consolas"/>
                <a:ea typeface="Consolas"/>
                <a:cs typeface="Consolas"/>
                <a:sym typeface="Consolas"/>
              </a:rPr>
              <a:t>Binary heap is used to implement priority queue, as seen in the previous sections</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800"/>
              <a:buFont typeface="Arial"/>
              <a:buNone/>
            </a:pPr>
            <a:r>
              <a:rPr b="1" i="1" lang="en-GB" sz="1800" u="none" cap="none" strike="noStrike">
                <a:solidFill>
                  <a:srgbClr val="000000"/>
                </a:solidFill>
                <a:latin typeface="Consolas"/>
                <a:ea typeface="Consolas"/>
                <a:cs typeface="Consolas"/>
                <a:sym typeface="Consolas"/>
              </a:rPr>
              <a:t>“A Binomial Heap is a collection of Binomial Trees” </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1f9056ea57_0_2"/>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16" name="Google Shape;116;g31f9056ea57_0_2"/>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17" name="Google Shape;117;g31f9056ea57_0_2"/>
          <p:cNvSpPr txBox="1"/>
          <p:nvPr/>
        </p:nvSpPr>
        <p:spPr>
          <a:xfrm>
            <a:off x="363675" y="1347225"/>
            <a:ext cx="6468900" cy="3237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5000"/>
              </a:lnSpc>
              <a:spcBef>
                <a:spcPts val="0"/>
              </a:spcBef>
              <a:spcAft>
                <a:spcPts val="0"/>
              </a:spcAft>
              <a:buClr>
                <a:srgbClr val="000000"/>
              </a:buClr>
              <a:buSzPts val="1800"/>
              <a:buFont typeface="Noto Sans Symbols"/>
              <a:buChar char="⮚"/>
            </a:pPr>
            <a:r>
              <a:rPr b="0" i="0" lang="en-GB" sz="1800" u="none" cap="none" strike="noStrike">
                <a:solidFill>
                  <a:srgbClr val="000000"/>
                </a:solidFill>
                <a:latin typeface="Consolas"/>
                <a:ea typeface="Consolas"/>
                <a:cs typeface="Consolas"/>
                <a:sym typeface="Consolas"/>
              </a:rPr>
              <a:t>A binomial Heap is a collection of Binomial Trees.</a:t>
            </a:r>
            <a:endParaRPr b="0" i="0" sz="1400" u="none" cap="none" strike="noStrike">
              <a:solidFill>
                <a:srgbClr val="000000"/>
              </a:solidFill>
              <a:latin typeface="Arial"/>
              <a:ea typeface="Arial"/>
              <a:cs typeface="Arial"/>
              <a:sym typeface="Arial"/>
            </a:endParaRPr>
          </a:p>
          <a:p>
            <a:pPr indent="-285750" lvl="0" marL="285750" marR="0" rtl="0" algn="l">
              <a:lnSpc>
                <a:spcPct val="115000"/>
              </a:lnSpc>
              <a:spcBef>
                <a:spcPts val="0"/>
              </a:spcBef>
              <a:spcAft>
                <a:spcPts val="0"/>
              </a:spcAft>
              <a:buClr>
                <a:srgbClr val="000000"/>
              </a:buClr>
              <a:buSzPts val="1800"/>
              <a:buFont typeface="Noto Sans Symbols"/>
              <a:buChar char="⮚"/>
            </a:pPr>
            <a:r>
              <a:rPr b="0" i="0" lang="en-GB" sz="1800" u="none" cap="none" strike="noStrike">
                <a:solidFill>
                  <a:srgbClr val="000000"/>
                </a:solidFill>
                <a:latin typeface="Consolas"/>
                <a:ea typeface="Consolas"/>
                <a:cs typeface="Consolas"/>
                <a:sym typeface="Consolas"/>
              </a:rPr>
              <a:t>A binomial tree Bk is an ordered tree defined recursively. </a:t>
            </a:r>
            <a:endParaRPr b="0" i="0" sz="1400" u="none" cap="none" strike="noStrike">
              <a:solidFill>
                <a:srgbClr val="000000"/>
              </a:solidFill>
              <a:latin typeface="Arial"/>
              <a:ea typeface="Arial"/>
              <a:cs typeface="Arial"/>
              <a:sym typeface="Arial"/>
            </a:endParaRPr>
          </a:p>
          <a:p>
            <a:pPr indent="-285750" lvl="0" marL="285750" marR="0" rtl="0" algn="l">
              <a:lnSpc>
                <a:spcPct val="115000"/>
              </a:lnSpc>
              <a:spcBef>
                <a:spcPts val="0"/>
              </a:spcBef>
              <a:spcAft>
                <a:spcPts val="0"/>
              </a:spcAft>
              <a:buClr>
                <a:srgbClr val="000000"/>
              </a:buClr>
              <a:buSzPts val="1800"/>
              <a:buFont typeface="Noto Sans Symbols"/>
              <a:buChar char="⮚"/>
            </a:pPr>
            <a:r>
              <a:rPr b="0" i="0" lang="en-GB" sz="1800" u="none" cap="none" strike="noStrike">
                <a:solidFill>
                  <a:srgbClr val="000000"/>
                </a:solidFill>
                <a:latin typeface="Consolas"/>
                <a:ea typeface="Consolas"/>
                <a:cs typeface="Consolas"/>
                <a:sym typeface="Consolas"/>
              </a:rPr>
              <a:t>A binomial Tree B0 is consists of a single node.</a:t>
            </a:r>
            <a:endParaRPr b="0" i="0" sz="1400" u="none" cap="none" strike="noStrike">
              <a:solidFill>
                <a:srgbClr val="000000"/>
              </a:solidFill>
              <a:latin typeface="Arial"/>
              <a:ea typeface="Arial"/>
              <a:cs typeface="Arial"/>
              <a:sym typeface="Arial"/>
            </a:endParaRPr>
          </a:p>
          <a:p>
            <a:pPr indent="-285750" lvl="0" marL="285750" marR="0" rtl="0" algn="l">
              <a:lnSpc>
                <a:spcPct val="115000"/>
              </a:lnSpc>
              <a:spcBef>
                <a:spcPts val="0"/>
              </a:spcBef>
              <a:spcAft>
                <a:spcPts val="0"/>
              </a:spcAft>
              <a:buClr>
                <a:srgbClr val="000000"/>
              </a:buClr>
              <a:buSzPts val="1800"/>
              <a:buFont typeface="Noto Sans Symbols"/>
              <a:buChar char="⮚"/>
            </a:pPr>
            <a:r>
              <a:rPr b="0" i="0" lang="en-GB" sz="1800" u="none" cap="none" strike="noStrike">
                <a:solidFill>
                  <a:srgbClr val="000000"/>
                </a:solidFill>
                <a:latin typeface="Consolas"/>
                <a:ea typeface="Consolas"/>
                <a:cs typeface="Consolas"/>
                <a:sym typeface="Consolas"/>
              </a:rPr>
              <a:t>A binomial tree Bk is consisting of k binomial trees Bk-1 that are linked together</a:t>
            </a:r>
            <a:endParaRPr b="0" i="0" sz="1400" u="none" cap="none" strike="noStrike">
              <a:solidFill>
                <a:srgbClr val="000000"/>
              </a:solidFill>
              <a:latin typeface="Arial"/>
              <a:ea typeface="Arial"/>
              <a:cs typeface="Arial"/>
              <a:sym typeface="Arial"/>
            </a:endParaRPr>
          </a:p>
          <a:p>
            <a:pPr indent="-285750" lvl="0" marL="285750" marR="0" rtl="0" algn="l">
              <a:lnSpc>
                <a:spcPct val="115000"/>
              </a:lnSpc>
              <a:spcBef>
                <a:spcPts val="0"/>
              </a:spcBef>
              <a:spcAft>
                <a:spcPts val="0"/>
              </a:spcAft>
              <a:buClr>
                <a:srgbClr val="000000"/>
              </a:buClr>
              <a:buSzPts val="1800"/>
              <a:buFont typeface="Noto Sans Symbols"/>
              <a:buChar char="⮚"/>
            </a:pPr>
            <a:r>
              <a:rPr b="0" i="0" lang="en-GB" sz="1800" u="none" cap="none" strike="noStrike">
                <a:solidFill>
                  <a:srgbClr val="000000"/>
                </a:solidFill>
                <a:latin typeface="Consolas"/>
                <a:ea typeface="Consolas"/>
                <a:cs typeface="Consolas"/>
                <a:sym typeface="Consolas"/>
              </a:rPr>
              <a:t>The root of one is the left most child of the root of the other				</a:t>
            </a:r>
            <a:endParaRPr b="0" i="0" sz="1800" u="none" cap="none" strike="noStrike">
              <a:solidFill>
                <a:srgbClr val="000000"/>
              </a:solidFill>
              <a:latin typeface="Consolas"/>
              <a:ea typeface="Consolas"/>
              <a:cs typeface="Consolas"/>
              <a:sym typeface="Consolas"/>
            </a:endParaRPr>
          </a:p>
        </p:txBody>
      </p:sp>
      <p:pic>
        <p:nvPicPr>
          <p:cNvPr id="118" name="Google Shape;118;g31f9056ea57_0_2"/>
          <p:cNvPicPr preferRelativeResize="0"/>
          <p:nvPr/>
        </p:nvPicPr>
        <p:blipFill rotWithShape="1">
          <a:blip r:embed="rId3">
            <a:alphaModFix/>
          </a:blip>
          <a:srcRect b="0" l="0" r="0" t="0"/>
          <a:stretch/>
        </p:blipFill>
        <p:spPr>
          <a:xfrm>
            <a:off x="6566777" y="1581301"/>
            <a:ext cx="2401575" cy="2202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1f9056ea57_0_8"/>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24" name="Google Shape;124;g31f9056ea57_0_8"/>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PROPERTIES</a:t>
            </a:r>
            <a:endParaRPr b="0" i="0" sz="1400" u="none" cap="none" strike="noStrike">
              <a:solidFill>
                <a:srgbClr val="000000"/>
              </a:solidFill>
              <a:latin typeface="Arial"/>
              <a:ea typeface="Arial"/>
              <a:cs typeface="Arial"/>
              <a:sym typeface="Arial"/>
            </a:endParaRPr>
          </a:p>
        </p:txBody>
      </p:sp>
      <p:sp>
        <p:nvSpPr>
          <p:cNvPr id="125" name="Google Shape;125;g31f9056ea57_0_8"/>
          <p:cNvSpPr txBox="1"/>
          <p:nvPr/>
        </p:nvSpPr>
        <p:spPr>
          <a:xfrm>
            <a:off x="293778" y="1233475"/>
            <a:ext cx="7781400" cy="32784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50000"/>
              </a:lnSpc>
              <a:spcBef>
                <a:spcPts val="0"/>
              </a:spcBef>
              <a:spcAft>
                <a:spcPts val="0"/>
              </a:spcAft>
              <a:buClr>
                <a:srgbClr val="000000"/>
              </a:buClr>
              <a:buSzPts val="1800"/>
              <a:buFont typeface="Consolas"/>
              <a:buChar char="➢"/>
            </a:pPr>
            <a:r>
              <a:rPr b="0" i="0" lang="en-GB" sz="1800" u="none" cap="none" strike="noStrike">
                <a:solidFill>
                  <a:srgbClr val="000000"/>
                </a:solidFill>
                <a:latin typeface="Consolas"/>
                <a:ea typeface="Consolas"/>
                <a:cs typeface="Consolas"/>
                <a:sym typeface="Consolas"/>
              </a:rPr>
              <a:t>A Binomial Heap is a set of Binomial Trees where each Binomial Tree follows Min Heap property</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000000"/>
              </a:buClr>
              <a:buSzPts val="1800"/>
              <a:buFont typeface="Consolas"/>
              <a:buChar char="➢"/>
            </a:pPr>
            <a:r>
              <a:rPr b="0" i="0" lang="en-GB" sz="1800" u="none" cap="none" strike="noStrike">
                <a:solidFill>
                  <a:srgbClr val="000000"/>
                </a:solidFill>
                <a:latin typeface="Consolas"/>
                <a:ea typeface="Consolas"/>
                <a:cs typeface="Consolas"/>
                <a:sym typeface="Consolas"/>
              </a:rPr>
              <a:t>There can be at most one Binomial Tree of any degree. </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000000"/>
              </a:buClr>
              <a:buSzPts val="1800"/>
              <a:buFont typeface="Consolas"/>
              <a:buChar char="➢"/>
            </a:pPr>
            <a:r>
              <a:rPr b="0" i="0" lang="en-GB" sz="1800" u="none" cap="none" strike="noStrike">
                <a:solidFill>
                  <a:srgbClr val="000000"/>
                </a:solidFill>
                <a:latin typeface="Consolas"/>
                <a:ea typeface="Consolas"/>
                <a:cs typeface="Consolas"/>
                <a:sym typeface="Consolas"/>
              </a:rPr>
              <a:t>Properties Each binomial tree in H is heap-ordered. </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000000"/>
              </a:buClr>
              <a:buSzPts val="1800"/>
              <a:buFont typeface="Consolas"/>
              <a:buChar char="➢"/>
            </a:pPr>
            <a:r>
              <a:rPr b="0" i="0" lang="en-GB" sz="1800" u="none" cap="none" strike="noStrike">
                <a:solidFill>
                  <a:srgbClr val="000000"/>
                </a:solidFill>
                <a:latin typeface="Consolas"/>
                <a:ea typeface="Consolas"/>
                <a:cs typeface="Consolas"/>
                <a:sym typeface="Consolas"/>
              </a:rPr>
              <a:t>So the key of a node is greater than or equal to the key of its parent.</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000000"/>
              </a:buClr>
              <a:buSzPts val="1800"/>
              <a:buFont typeface="Consolas"/>
              <a:buChar char="➢"/>
            </a:pPr>
            <a:r>
              <a:rPr b="0" i="0" lang="en-GB" sz="1800" u="none" cap="none" strike="noStrike">
                <a:solidFill>
                  <a:srgbClr val="000000"/>
                </a:solidFill>
                <a:latin typeface="Consolas"/>
                <a:ea typeface="Consolas"/>
                <a:cs typeface="Consolas"/>
                <a:sym typeface="Consolas"/>
              </a:rPr>
              <a:t>There is at most one binomial tree in H, whose root has a given degree.</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1f9056ea57_0_29"/>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31" name="Google Shape;131;g31f9056ea57_0_29"/>
          <p:cNvSpPr txBox="1"/>
          <p:nvPr/>
        </p:nvSpPr>
        <p:spPr>
          <a:xfrm>
            <a:off x="293780" y="829775"/>
            <a:ext cx="4044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PROPERTIES AND EXAMPLE</a:t>
            </a:r>
            <a:endParaRPr b="0" i="0" sz="1400" u="none" cap="none" strike="noStrike">
              <a:solidFill>
                <a:srgbClr val="000000"/>
              </a:solidFill>
              <a:latin typeface="Arial"/>
              <a:ea typeface="Arial"/>
              <a:cs typeface="Arial"/>
              <a:sym typeface="Arial"/>
            </a:endParaRPr>
          </a:p>
        </p:txBody>
      </p:sp>
      <p:sp>
        <p:nvSpPr>
          <p:cNvPr id="132" name="Google Shape;132;g31f9056ea57_0_29"/>
          <p:cNvSpPr txBox="1"/>
          <p:nvPr/>
        </p:nvSpPr>
        <p:spPr>
          <a:xfrm>
            <a:off x="293775" y="1233475"/>
            <a:ext cx="6335400" cy="32784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A Binomial Tree of order k has following properties. </a:t>
            </a:r>
            <a:endParaRPr>
              <a:solidFill>
                <a:schemeClr val="dk1"/>
              </a:solidFill>
            </a:endParaRPr>
          </a:p>
          <a:p>
            <a:pPr indent="-285750" lvl="0" marL="285750" rtl="0" algn="l">
              <a:lnSpc>
                <a:spcPct val="150000"/>
              </a:lnSpc>
              <a:spcBef>
                <a:spcPts val="0"/>
              </a:spcBef>
              <a:spcAft>
                <a:spcPts val="0"/>
              </a:spcAft>
              <a:buClr>
                <a:schemeClr val="dk1"/>
              </a:buClr>
              <a:buSzPts val="1800"/>
              <a:buFont typeface="Noto Sans Symbols"/>
              <a:buChar char="⮚"/>
            </a:pPr>
            <a:r>
              <a:rPr lang="en-GB" sz="1800">
                <a:solidFill>
                  <a:schemeClr val="dk1"/>
                </a:solidFill>
                <a:latin typeface="Consolas"/>
                <a:ea typeface="Consolas"/>
                <a:cs typeface="Consolas"/>
                <a:sym typeface="Consolas"/>
              </a:rPr>
              <a:t>It has exactly 2^k nodes. It has depth as k. </a:t>
            </a:r>
            <a:endParaRPr>
              <a:solidFill>
                <a:schemeClr val="dk1"/>
              </a:solidFill>
            </a:endParaRPr>
          </a:p>
          <a:p>
            <a:pPr indent="-285750" lvl="0" marL="285750" rtl="0" algn="l">
              <a:lnSpc>
                <a:spcPct val="150000"/>
              </a:lnSpc>
              <a:spcBef>
                <a:spcPts val="0"/>
              </a:spcBef>
              <a:spcAft>
                <a:spcPts val="0"/>
              </a:spcAft>
              <a:buClr>
                <a:schemeClr val="dk1"/>
              </a:buClr>
              <a:buSzPts val="1800"/>
              <a:buFont typeface="Noto Sans Symbols"/>
              <a:buChar char="⮚"/>
            </a:pPr>
            <a:r>
              <a:rPr lang="en-GB" sz="1800">
                <a:solidFill>
                  <a:schemeClr val="dk1"/>
                </a:solidFill>
                <a:latin typeface="Consolas"/>
                <a:ea typeface="Consolas"/>
                <a:cs typeface="Consolas"/>
                <a:sym typeface="Consolas"/>
              </a:rPr>
              <a:t>There are exactly nodes at depth i for i = 0, 1, . . . , k. </a:t>
            </a:r>
            <a:endParaRPr>
              <a:solidFill>
                <a:schemeClr val="dk1"/>
              </a:solidFill>
            </a:endParaRPr>
          </a:p>
          <a:p>
            <a:pPr indent="-285750" lvl="0" marL="285750" rtl="0" algn="l">
              <a:lnSpc>
                <a:spcPct val="150000"/>
              </a:lnSpc>
              <a:spcBef>
                <a:spcPts val="0"/>
              </a:spcBef>
              <a:spcAft>
                <a:spcPts val="0"/>
              </a:spcAft>
              <a:buClr>
                <a:schemeClr val="dk1"/>
              </a:buClr>
              <a:buSzPts val="1800"/>
              <a:buFont typeface="Noto Sans Symbols"/>
              <a:buChar char="⮚"/>
            </a:pPr>
            <a:r>
              <a:rPr lang="en-GB" sz="1800">
                <a:solidFill>
                  <a:schemeClr val="dk1"/>
                </a:solidFill>
                <a:latin typeface="Consolas"/>
                <a:ea typeface="Consolas"/>
                <a:cs typeface="Consolas"/>
                <a:sym typeface="Consolas"/>
              </a:rPr>
              <a:t>The root has degree k and children of root are themselves Binomial Trees with order k-1, k-2,.. 0 from left to right.</a:t>
            </a:r>
            <a:endParaRPr sz="1800">
              <a:latin typeface="Consolas"/>
              <a:ea typeface="Consolas"/>
              <a:cs typeface="Consolas"/>
              <a:sym typeface="Consolas"/>
            </a:endParaRPr>
          </a:p>
        </p:txBody>
      </p:sp>
      <p:pic>
        <p:nvPicPr>
          <p:cNvPr id="133" name="Google Shape;133;g31f9056ea57_0_29"/>
          <p:cNvPicPr preferRelativeResize="0"/>
          <p:nvPr/>
        </p:nvPicPr>
        <p:blipFill rotWithShape="1">
          <a:blip r:embed="rId3">
            <a:alphaModFix/>
          </a:blip>
          <a:srcRect b="0" l="0" r="0" t="0"/>
          <a:stretch/>
        </p:blipFill>
        <p:spPr>
          <a:xfrm>
            <a:off x="6527250" y="1612650"/>
            <a:ext cx="2616751" cy="2644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1f9056ea57_0_14"/>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39" name="Google Shape;139;g31f9056ea57_0_14"/>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a:t>
            </a:r>
            <a:r>
              <a:rPr b="1" lang="en-GB" sz="1800">
                <a:solidFill>
                  <a:srgbClr val="002060"/>
                </a:solidFill>
                <a:latin typeface="Consolas"/>
                <a:ea typeface="Consolas"/>
                <a:cs typeface="Consolas"/>
                <a:sym typeface="Consolas"/>
              </a:rPr>
              <a:t>AMPLE</a:t>
            </a:r>
            <a:endParaRPr b="0" i="0" sz="1400" u="none" cap="none" strike="noStrike">
              <a:solidFill>
                <a:srgbClr val="000000"/>
              </a:solidFill>
              <a:latin typeface="Arial"/>
              <a:ea typeface="Arial"/>
              <a:cs typeface="Arial"/>
              <a:sym typeface="Arial"/>
            </a:endParaRPr>
          </a:p>
        </p:txBody>
      </p:sp>
      <p:sp>
        <p:nvSpPr>
          <p:cNvPr id="140" name="Google Shape;140;g31f9056ea57_0_14"/>
          <p:cNvSpPr txBox="1"/>
          <p:nvPr/>
        </p:nvSpPr>
        <p:spPr>
          <a:xfrm>
            <a:off x="293770" y="1355047"/>
            <a:ext cx="6111600" cy="31401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This binomial Heap H consists of binomial trees B0, B2 and B3.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They have 1, 4 and 8 nodes respectively.In total n = 13 nodes.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The root of binomial trees are linked by a linked list in order of increasing degree</a:t>
            </a:r>
            <a:endParaRPr b="0" i="0" sz="1800" u="none" cap="none" strike="noStrike">
              <a:solidFill>
                <a:srgbClr val="000000"/>
              </a:solidFill>
              <a:latin typeface="Consolas"/>
              <a:ea typeface="Consolas"/>
              <a:cs typeface="Consolas"/>
              <a:sym typeface="Consolas"/>
            </a:endParaRPr>
          </a:p>
        </p:txBody>
      </p:sp>
      <p:pic>
        <p:nvPicPr>
          <p:cNvPr id="141" name="Google Shape;141;g31f9056ea57_0_14"/>
          <p:cNvPicPr preferRelativeResize="0"/>
          <p:nvPr/>
        </p:nvPicPr>
        <p:blipFill rotWithShape="1">
          <a:blip r:embed="rId3">
            <a:alphaModFix/>
          </a:blip>
          <a:srcRect b="0" l="0" r="0" t="0"/>
          <a:stretch/>
        </p:blipFill>
        <p:spPr>
          <a:xfrm>
            <a:off x="5780800" y="2014825"/>
            <a:ext cx="3121525" cy="1820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1f9056ea57_0_20"/>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47" name="Google Shape;147;g31f9056ea57_0_20"/>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OPERATION</a:t>
            </a:r>
            <a:endParaRPr b="0" i="0" sz="1400" u="none" cap="none" strike="noStrike">
              <a:solidFill>
                <a:srgbClr val="000000"/>
              </a:solidFill>
              <a:latin typeface="Arial"/>
              <a:ea typeface="Arial"/>
              <a:cs typeface="Arial"/>
              <a:sym typeface="Arial"/>
            </a:endParaRPr>
          </a:p>
        </p:txBody>
      </p:sp>
      <p:sp>
        <p:nvSpPr>
          <p:cNvPr id="148" name="Google Shape;148;g31f9056ea57_0_20"/>
          <p:cNvSpPr txBox="1"/>
          <p:nvPr/>
        </p:nvSpPr>
        <p:spPr>
          <a:xfrm>
            <a:off x="622024" y="1439875"/>
            <a:ext cx="75099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The main operation in Binomial Heap is union()</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All other operations mainly use this operation.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The union() operation is to combine two Binomial Heaps into one</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1f9056ea57_0_43"/>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54" name="Google Shape;154;g31f9056ea57_0_43"/>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OPERATION</a:t>
            </a:r>
            <a:endParaRPr b="0" i="0" sz="1400" u="none" cap="none" strike="noStrike">
              <a:solidFill>
                <a:srgbClr val="000000"/>
              </a:solidFill>
              <a:latin typeface="Arial"/>
              <a:ea typeface="Arial"/>
              <a:cs typeface="Arial"/>
              <a:sym typeface="Arial"/>
            </a:endParaRPr>
          </a:p>
        </p:txBody>
      </p:sp>
      <p:sp>
        <p:nvSpPr>
          <p:cNvPr id="155" name="Google Shape;155;g31f9056ea57_0_43"/>
          <p:cNvSpPr txBox="1"/>
          <p:nvPr/>
        </p:nvSpPr>
        <p:spPr>
          <a:xfrm>
            <a:off x="622024" y="1439875"/>
            <a:ext cx="7509900" cy="24474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insert(H, k): Inserts a key ‘k’ to Binomial Heap ‘H’. This operation first creates a Binomial Heap with single key ‘k’, then calls union on H and the new Binomial heap. </a:t>
            </a:r>
            <a:endParaRPr>
              <a:solidFill>
                <a:schemeClr val="dk1"/>
              </a:solidFill>
            </a:endParaRPr>
          </a:p>
          <a:p>
            <a:pPr indent="0" lvl="0" marL="0" rtl="0" algn="l">
              <a:lnSpc>
                <a:spcPct val="150000"/>
              </a:lnSpc>
              <a:spcBef>
                <a:spcPts val="0"/>
              </a:spcBef>
              <a:spcAft>
                <a:spcPts val="0"/>
              </a:spcAft>
              <a:buClr>
                <a:schemeClr val="dk1"/>
              </a:buClr>
              <a:buSzPts val="1800"/>
              <a:buFont typeface="Arial"/>
              <a:buNone/>
            </a:pPr>
            <a:r>
              <a:t/>
            </a:r>
            <a:endParaRPr sz="18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getMin(H): A simple way to getMin() is to traverse the list of root of Binomial Trees and return the minimum key. </a:t>
            </a:r>
            <a:endParaRPr sz="1800">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1f9056ea57_0_49"/>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61" name="Google Shape;161;g31f9056ea57_0_49"/>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OPERATION</a:t>
            </a:r>
            <a:endParaRPr b="0" i="0" sz="1400" u="none" cap="none" strike="noStrike">
              <a:solidFill>
                <a:srgbClr val="000000"/>
              </a:solidFill>
              <a:latin typeface="Arial"/>
              <a:ea typeface="Arial"/>
              <a:cs typeface="Arial"/>
              <a:sym typeface="Arial"/>
            </a:endParaRPr>
          </a:p>
        </p:txBody>
      </p:sp>
      <p:sp>
        <p:nvSpPr>
          <p:cNvPr id="162" name="Google Shape;162;g31f9056ea57_0_49"/>
          <p:cNvSpPr txBox="1"/>
          <p:nvPr/>
        </p:nvSpPr>
        <p:spPr>
          <a:xfrm>
            <a:off x="622024" y="1439875"/>
            <a:ext cx="7509900" cy="25860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extractMin(H): We first call getMin() to find the minimum key Binomial Tree, then we remove the node and create a new Binomial Heap by connecting all subtrees of the removed minimum node. </a:t>
            </a:r>
            <a:endParaRPr>
              <a:solidFill>
                <a:schemeClr val="dk1"/>
              </a:solidFill>
            </a:endParaRPr>
          </a:p>
          <a:p>
            <a:pPr indent="0" lvl="0" marL="0" marR="0" rtl="0" algn="l">
              <a:lnSpc>
                <a:spcPct val="200000"/>
              </a:lnSpc>
              <a:spcBef>
                <a:spcPts val="0"/>
              </a:spcBef>
              <a:spcAft>
                <a:spcPts val="0"/>
              </a:spcAft>
              <a:buClr>
                <a:srgbClr val="000000"/>
              </a:buClr>
              <a:buSzPts val="1800"/>
              <a:buFont typeface="Arial"/>
              <a:buNone/>
            </a:pPr>
            <a:r>
              <a:t/>
            </a:r>
            <a:endParaRPr sz="1800">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1f9056ea57_0_55"/>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68" name="Google Shape;168;g31f9056ea57_0_55"/>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OPERATION</a:t>
            </a:r>
            <a:endParaRPr b="0" i="0" sz="1400" u="none" cap="none" strike="noStrike">
              <a:solidFill>
                <a:srgbClr val="000000"/>
              </a:solidFill>
              <a:latin typeface="Arial"/>
              <a:ea typeface="Arial"/>
              <a:cs typeface="Arial"/>
              <a:sym typeface="Arial"/>
            </a:endParaRPr>
          </a:p>
        </p:txBody>
      </p:sp>
      <p:sp>
        <p:nvSpPr>
          <p:cNvPr id="169" name="Google Shape;169;g31f9056ea57_0_55"/>
          <p:cNvSpPr txBox="1"/>
          <p:nvPr/>
        </p:nvSpPr>
        <p:spPr>
          <a:xfrm>
            <a:off x="622025" y="1439875"/>
            <a:ext cx="7907100" cy="32784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Finally, we call union() on H and the newly created Binomial Heap. delete(H): Like Binary Heap, delete operation first reduces the key to minus infinite, then calls extractMin(). decreaseKey(H): decreaseKey() is also similar to Binary Heap. We compare the decreases key with it parent and if parent’s key is more, we swap keys and recur for the parent. We stop when we either reach a node whose parent has a smaller key or we hit the root node. </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1f9056ea57_0_61"/>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75" name="Google Shape;175;g31f9056ea57_0_61"/>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OPERATION</a:t>
            </a:r>
            <a:endParaRPr b="0" i="0" sz="1400" u="none" cap="none" strike="noStrike">
              <a:solidFill>
                <a:srgbClr val="000000"/>
              </a:solidFill>
              <a:latin typeface="Arial"/>
              <a:ea typeface="Arial"/>
              <a:cs typeface="Arial"/>
              <a:sym typeface="Arial"/>
            </a:endParaRPr>
          </a:p>
        </p:txBody>
      </p:sp>
      <p:sp>
        <p:nvSpPr>
          <p:cNvPr id="176" name="Google Shape;176;g31f9056ea57_0_61"/>
          <p:cNvSpPr txBox="1"/>
          <p:nvPr/>
        </p:nvSpPr>
        <p:spPr>
          <a:xfrm>
            <a:off x="622025" y="1439875"/>
            <a:ext cx="7873200" cy="3250800"/>
          </a:xfrm>
          <a:prstGeom prst="rect">
            <a:avLst/>
          </a:prstGeom>
          <a:noFill/>
          <a:ln>
            <a:noFill/>
          </a:ln>
        </p:spPr>
        <p:txBody>
          <a:bodyPr anchorCtr="0" anchor="t" bIns="45700" lIns="91425" spcFirstLastPara="1" rIns="91425" wrap="square" tIns="45700">
            <a:spAutoFit/>
          </a:bodyPr>
          <a:lstStyle/>
          <a:p>
            <a:pPr indent="0" lvl="0" marL="0" rtl="0" algn="l">
              <a:lnSpc>
                <a:spcPct val="13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Union </a:t>
            </a:r>
            <a:r>
              <a:rPr lang="en-GB" sz="1800">
                <a:solidFill>
                  <a:schemeClr val="dk1"/>
                </a:solidFill>
                <a:latin typeface="Consolas"/>
                <a:ea typeface="Consolas"/>
                <a:cs typeface="Consolas"/>
                <a:sym typeface="Consolas"/>
              </a:rPr>
              <a:t>Operation Given</a:t>
            </a:r>
            <a:r>
              <a:rPr lang="en-GB" sz="1800">
                <a:solidFill>
                  <a:schemeClr val="dk1"/>
                </a:solidFill>
                <a:latin typeface="Consolas"/>
                <a:ea typeface="Consolas"/>
                <a:cs typeface="Consolas"/>
                <a:sym typeface="Consolas"/>
              </a:rPr>
              <a:t> two Binomial Heaps H1 and H2, union(H1, H2) creates a single Binomial Heap.</a:t>
            </a:r>
            <a:endParaRPr>
              <a:solidFill>
                <a:schemeClr val="dk1"/>
              </a:solidFill>
            </a:endParaRPr>
          </a:p>
          <a:p>
            <a:pPr indent="0" lvl="0" marL="0" rtl="0" algn="l">
              <a:lnSpc>
                <a:spcPct val="13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The first step is to simply merge the two Heaps in non-decreasing order of degrees.After the simple merge, we need to make sure that there is at most one Binomial Tree of any order. </a:t>
            </a:r>
            <a:endParaRPr>
              <a:solidFill>
                <a:schemeClr val="dk1"/>
              </a:solidFill>
            </a:endParaRPr>
          </a:p>
          <a:p>
            <a:pPr indent="0" lvl="0" marL="0" rtl="0" algn="l">
              <a:lnSpc>
                <a:spcPct val="13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To do this, we need to combine Binomial Trees of the same order. We traverse the list of merged roots, we keep track of three-pointers, prev, x and next-x. </a:t>
            </a:r>
            <a:endParaRPr sz="1800">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1f9056ea57_0_67"/>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82" name="Google Shape;182;g31f9056ea57_0_67"/>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OPERATION</a:t>
            </a:r>
            <a:endParaRPr b="0" i="0" sz="1400" u="none" cap="none" strike="noStrike">
              <a:solidFill>
                <a:srgbClr val="000000"/>
              </a:solidFill>
              <a:latin typeface="Arial"/>
              <a:ea typeface="Arial"/>
              <a:cs typeface="Arial"/>
              <a:sym typeface="Arial"/>
            </a:endParaRPr>
          </a:p>
        </p:txBody>
      </p:sp>
      <p:sp>
        <p:nvSpPr>
          <p:cNvPr id="183" name="Google Shape;183;g31f9056ea57_0_67"/>
          <p:cNvSpPr txBox="1"/>
          <p:nvPr/>
        </p:nvSpPr>
        <p:spPr>
          <a:xfrm>
            <a:off x="622025" y="1439875"/>
            <a:ext cx="8093700" cy="2903400"/>
          </a:xfrm>
          <a:prstGeom prst="rect">
            <a:avLst/>
          </a:prstGeom>
          <a:noFill/>
          <a:ln>
            <a:noFill/>
          </a:ln>
        </p:spPr>
        <p:txBody>
          <a:bodyPr anchorCtr="0" anchor="t" bIns="45700" lIns="91425" spcFirstLastPara="1" rIns="91425" wrap="square" tIns="45700">
            <a:spAutoFit/>
          </a:bodyPr>
          <a:lstStyle/>
          <a:p>
            <a:pPr indent="0" lvl="0" marL="0" rtl="0" algn="l">
              <a:lnSpc>
                <a:spcPct val="130000"/>
              </a:lnSpc>
              <a:spcBef>
                <a:spcPts val="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There can be following 4 cases when we traverse the list of roots. </a:t>
            </a:r>
            <a:endParaRPr>
              <a:solidFill>
                <a:schemeClr val="dk1"/>
              </a:solidFill>
            </a:endParaRPr>
          </a:p>
          <a:p>
            <a:pPr indent="0" lvl="0" marL="0" rtl="0" algn="l">
              <a:lnSpc>
                <a:spcPct val="130000"/>
              </a:lnSpc>
              <a:spcBef>
                <a:spcPts val="2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Orders of x and next-x are not same, we simply move ahead. </a:t>
            </a:r>
            <a:endParaRPr>
              <a:solidFill>
                <a:schemeClr val="dk1"/>
              </a:solidFill>
            </a:endParaRPr>
          </a:p>
          <a:p>
            <a:pPr indent="0" lvl="0" marL="0" rtl="0" algn="l">
              <a:lnSpc>
                <a:spcPct val="130000"/>
              </a:lnSpc>
              <a:spcBef>
                <a:spcPts val="2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In following 3 cases orders of x and next-x are same. </a:t>
            </a:r>
            <a:endParaRPr>
              <a:solidFill>
                <a:schemeClr val="dk1"/>
              </a:solidFill>
            </a:endParaRPr>
          </a:p>
          <a:p>
            <a:pPr indent="0" lvl="0" marL="0" rtl="0" algn="l">
              <a:lnSpc>
                <a:spcPct val="130000"/>
              </a:lnSpc>
              <a:spcBef>
                <a:spcPts val="2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If the order of next-next-x is also same, move ahead. </a:t>
            </a:r>
            <a:endParaRPr>
              <a:solidFill>
                <a:schemeClr val="dk1"/>
              </a:solidFill>
            </a:endParaRPr>
          </a:p>
          <a:p>
            <a:pPr indent="0" lvl="0" marL="0" rtl="0" algn="l">
              <a:lnSpc>
                <a:spcPct val="130000"/>
              </a:lnSpc>
              <a:spcBef>
                <a:spcPts val="20"/>
              </a:spcBef>
              <a:spcAft>
                <a:spcPts val="0"/>
              </a:spcAft>
              <a:buClr>
                <a:schemeClr val="dk1"/>
              </a:buClr>
              <a:buSzPts val="1800"/>
              <a:buFont typeface="Arial"/>
              <a:buNone/>
            </a:pPr>
            <a:r>
              <a:rPr lang="en-GB" sz="1800">
                <a:solidFill>
                  <a:schemeClr val="dk1"/>
                </a:solidFill>
                <a:latin typeface="Consolas"/>
                <a:ea typeface="Consolas"/>
                <a:cs typeface="Consolas"/>
                <a:sym typeface="Consolas"/>
              </a:rPr>
              <a:t>If the key of x is smaller than or equal to the key of next-x, then make next-x as a child of x by linking it with x. </a:t>
            </a:r>
            <a:endParaRPr>
              <a:solidFill>
                <a:schemeClr val="dk1"/>
              </a:solidFill>
            </a:endParaRPr>
          </a:p>
          <a:p>
            <a:pPr indent="0" lvl="0" marL="0" rtl="0" algn="l">
              <a:lnSpc>
                <a:spcPct val="130000"/>
              </a:lnSpc>
              <a:spcBef>
                <a:spcPts val="20"/>
              </a:spcBef>
              <a:spcAft>
                <a:spcPts val="20"/>
              </a:spcAft>
              <a:buClr>
                <a:schemeClr val="dk1"/>
              </a:buClr>
              <a:buSzPts val="1800"/>
              <a:buFont typeface="Arial"/>
              <a:buNone/>
            </a:pPr>
            <a:r>
              <a:rPr lang="en-GB" sz="1800">
                <a:solidFill>
                  <a:schemeClr val="dk1"/>
                </a:solidFill>
                <a:latin typeface="Consolas"/>
                <a:ea typeface="Consolas"/>
                <a:cs typeface="Consolas"/>
                <a:sym typeface="Consolas"/>
              </a:rPr>
              <a:t>If the key of x is greater, then make x as the child of next.4</a:t>
            </a:r>
            <a:endParaRPr sz="1800">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1f9056ea57_0_73"/>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89" name="Google Shape;189;g31f9056ea57_0_73"/>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RESULT</a:t>
            </a:r>
            <a:endParaRPr b="0" i="0" sz="1400" u="none" cap="none" strike="noStrike">
              <a:solidFill>
                <a:srgbClr val="000000"/>
              </a:solidFill>
              <a:latin typeface="Arial"/>
              <a:ea typeface="Arial"/>
              <a:cs typeface="Arial"/>
              <a:sym typeface="Arial"/>
            </a:endParaRPr>
          </a:p>
        </p:txBody>
      </p:sp>
      <p:pic>
        <p:nvPicPr>
          <p:cNvPr id="190" name="Google Shape;190;g31f9056ea57_0_73"/>
          <p:cNvPicPr preferRelativeResize="0"/>
          <p:nvPr/>
        </p:nvPicPr>
        <p:blipFill rotWithShape="1">
          <a:blip r:embed="rId3">
            <a:alphaModFix/>
          </a:blip>
          <a:srcRect b="0" l="0" r="0" t="0"/>
          <a:stretch/>
        </p:blipFill>
        <p:spPr>
          <a:xfrm>
            <a:off x="1558075" y="829775"/>
            <a:ext cx="6207601" cy="396615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1f9056ea57_0_79"/>
          <p:cNvSpPr txBox="1"/>
          <p:nvPr/>
        </p:nvSpPr>
        <p:spPr>
          <a:xfrm>
            <a:off x="3470175" y="4456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sp>
        <p:nvSpPr>
          <p:cNvPr id="196" name="Google Shape;196;g31f9056ea57_0_79"/>
          <p:cNvSpPr txBox="1"/>
          <p:nvPr/>
        </p:nvSpPr>
        <p:spPr>
          <a:xfrm>
            <a:off x="293763" y="829778"/>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RESULT</a:t>
            </a:r>
            <a:endParaRPr b="0" i="0" sz="1400" u="none" cap="none" strike="noStrike">
              <a:solidFill>
                <a:srgbClr val="000000"/>
              </a:solidFill>
              <a:latin typeface="Arial"/>
              <a:ea typeface="Arial"/>
              <a:cs typeface="Arial"/>
              <a:sym typeface="Arial"/>
            </a:endParaRPr>
          </a:p>
        </p:txBody>
      </p:sp>
      <p:pic>
        <p:nvPicPr>
          <p:cNvPr id="197" name="Google Shape;197;g31f9056ea57_0_79"/>
          <p:cNvPicPr preferRelativeResize="0"/>
          <p:nvPr/>
        </p:nvPicPr>
        <p:blipFill rotWithShape="1">
          <a:blip r:embed="rId3">
            <a:alphaModFix/>
          </a:blip>
          <a:srcRect b="0" l="0" r="0" t="0"/>
          <a:stretch/>
        </p:blipFill>
        <p:spPr>
          <a:xfrm>
            <a:off x="1628050" y="829775"/>
            <a:ext cx="6244225" cy="4175825"/>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1f9056ea57_0_85"/>
          <p:cNvSpPr txBox="1"/>
          <p:nvPr/>
        </p:nvSpPr>
        <p:spPr>
          <a:xfrm>
            <a:off x="3470175" y="2932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graphicFrame>
        <p:nvGraphicFramePr>
          <p:cNvPr id="203" name="Google Shape;203;g31f9056ea57_0_85"/>
          <p:cNvGraphicFramePr/>
          <p:nvPr/>
        </p:nvGraphicFramePr>
        <p:xfrm>
          <a:off x="134117" y="764301"/>
          <a:ext cx="3000000" cy="3000000"/>
        </p:xfrm>
        <a:graphic>
          <a:graphicData uri="http://schemas.openxmlformats.org/drawingml/2006/table">
            <a:tbl>
              <a:tblPr bandRow="1" firstRow="1">
                <a:noFill/>
                <a:tableStyleId>{06D941D8-2A7E-4F2F-8F1A-386D8461219D}</a:tableStyleId>
              </a:tblPr>
              <a:tblGrid>
                <a:gridCol w="4322700"/>
                <a:gridCol w="4553075"/>
              </a:tblGrid>
              <a:tr h="4069075">
                <a:tc>
                  <a:txBody>
                    <a:bodyPr/>
                    <a:lstStyle/>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import java.io.*;</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class BinomialHeapNode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int key, degree;</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BinomialHeapNode parent;</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BinomialHeapNode sibling;</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BinomialHeapNode child;</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public BinomialHeapNode(int k)</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t/>
                      </a:r>
                      <a:endParaRPr b="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key = k;</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degree = 0;</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parent = null;</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sibling = null;</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child = null;</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public BinomialHeapNode reverse(BinomialHeapNode sibl)</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BinomialHeapNode ret;</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if (sibling != null)</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ret = sibling.reverse(this);</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else</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ret = this;</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sibling = sibl;</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return ret;</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public BinomialHeapNode findMinNode()</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BinomialHeapNode x = this, y = this;</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int min = x.key;</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while (x != null)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1f9056ea57_0_177"/>
          <p:cNvSpPr txBox="1"/>
          <p:nvPr/>
        </p:nvSpPr>
        <p:spPr>
          <a:xfrm>
            <a:off x="3470175" y="26095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graphicFrame>
        <p:nvGraphicFramePr>
          <p:cNvPr id="209" name="Google Shape;209;g31f9056ea57_0_177"/>
          <p:cNvGraphicFramePr/>
          <p:nvPr/>
        </p:nvGraphicFramePr>
        <p:xfrm>
          <a:off x="281929" y="571501"/>
          <a:ext cx="3000000" cy="3000000"/>
        </p:xfrm>
        <a:graphic>
          <a:graphicData uri="http://schemas.openxmlformats.org/drawingml/2006/table">
            <a:tbl>
              <a:tblPr bandRow="1" firstRow="1">
                <a:noFill/>
                <a:tableStyleId>{06D941D8-2A7E-4F2F-8F1A-386D8461219D}</a:tableStyleId>
              </a:tblPr>
              <a:tblGrid>
                <a:gridCol w="3905025"/>
                <a:gridCol w="4182350"/>
              </a:tblGrid>
              <a:tr h="4029125">
                <a:tc>
                  <a:txBody>
                    <a:bodyPr/>
                    <a:lstStyle/>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if (x.key &lt; min)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y = x;</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min = x.key;</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t/>
                      </a:r>
                      <a:endParaRPr b="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x = x.sibling;</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return y;</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public BinomialHeapNode findANodeWithKey(int value)</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BinomialHeapNode temp = this, node = null;</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while (temp != null)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if (temp.key == value)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node = temp;</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break;</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if (temp.child == null)</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temp = temp.sibling;</a:t>
                      </a:r>
                      <a:endParaRPr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else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node=temp.child.findANodeWithKey(value);</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if (node == null)</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temp = temp.sibling;</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else</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break;</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return node;</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public int getSize()</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return (1 + ((child == null) ? 0 : child.getSize())+ ((sibling == null) ? 0 : sibling.getSize()));</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class BinomialHeap {</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private BinomialHeapNode Nodes;</a:t>
                      </a:r>
                      <a:endParaRPr u="none" cap="none" strike="noStrike"/>
                    </a:p>
                    <a:p>
                      <a:pPr indent="0" lvl="0" marL="0" marR="0" rtl="0" algn="l">
                        <a:lnSpc>
                          <a:spcPct val="100000"/>
                        </a:lnSpc>
                        <a:spcBef>
                          <a:spcPts val="0"/>
                        </a:spcBef>
                        <a:spcAft>
                          <a:spcPts val="0"/>
                        </a:spcAft>
                        <a:buClr>
                          <a:srgbClr val="000000"/>
                        </a:buClr>
                        <a:buSzPts val="1800"/>
                        <a:buFont typeface="Arial"/>
                        <a:buNone/>
                      </a:pPr>
                      <a:r>
                        <a:rPr b="0" lang="en-GB" u="none" cap="none" strike="noStrike">
                          <a:solidFill>
                            <a:srgbClr val="000000"/>
                          </a:solidFill>
                          <a:latin typeface="Consolas"/>
                          <a:ea typeface="Consolas"/>
                          <a:cs typeface="Consolas"/>
                          <a:sym typeface="Consolas"/>
                        </a:rPr>
                        <a:t>	private int size;</a:t>
                      </a:r>
                      <a:endParaRPr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1f9056ea57_0_181"/>
          <p:cNvSpPr txBox="1"/>
          <p:nvPr/>
        </p:nvSpPr>
        <p:spPr>
          <a:xfrm>
            <a:off x="3470175" y="2932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graphicFrame>
        <p:nvGraphicFramePr>
          <p:cNvPr id="215" name="Google Shape;215;g31f9056ea57_0_181"/>
          <p:cNvGraphicFramePr/>
          <p:nvPr/>
        </p:nvGraphicFramePr>
        <p:xfrm>
          <a:off x="339292" y="630251"/>
          <a:ext cx="3000000" cy="3000000"/>
        </p:xfrm>
        <a:graphic>
          <a:graphicData uri="http://schemas.openxmlformats.org/drawingml/2006/table">
            <a:tbl>
              <a:tblPr bandRow="1" firstRow="1">
                <a:noFill/>
                <a:tableStyleId>{06D941D8-2A7E-4F2F-8F1A-386D8461219D}</a:tableStyleId>
              </a:tblPr>
              <a:tblGrid>
                <a:gridCol w="4575675"/>
                <a:gridCol w="3889750"/>
              </a:tblGrid>
              <a:tr h="4513250">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public BinomialHeap()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Nodes = null;</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size = 0;</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public boolean isEmpty() { return Nodes == null;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public int getSize() { return size;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public void makeEmpty()</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Nodes = null;</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size = 0;</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public void insert(int value)</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5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(value &gt; 0)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BinomialHeapNode temp= new BinomialHeapNode(value);</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(Nodes == null)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Nodes = 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size = 1;</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else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unionNodes(temp);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size++;</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private void merge(BinomialHeapNode binHeap)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BinomialHeapNode temp1 = Nodes, temp2 = binHeap;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while ((temp1 != null) &amp;&amp; (temp2 != null))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(temp1.degree == temp2.degree)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1f9056ea57_0_185"/>
          <p:cNvSpPr txBox="1"/>
          <p:nvPr/>
        </p:nvSpPr>
        <p:spPr>
          <a:xfrm>
            <a:off x="3470175" y="2932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graphicFrame>
        <p:nvGraphicFramePr>
          <p:cNvPr id="221" name="Google Shape;221;g31f9056ea57_0_185"/>
          <p:cNvGraphicFramePr/>
          <p:nvPr/>
        </p:nvGraphicFramePr>
        <p:xfrm>
          <a:off x="4" y="868026"/>
          <a:ext cx="3000000" cy="3000000"/>
        </p:xfrm>
        <a:graphic>
          <a:graphicData uri="http://schemas.openxmlformats.org/drawingml/2006/table">
            <a:tbl>
              <a:tblPr bandRow="1" firstRow="1">
                <a:noFill/>
                <a:tableStyleId>{06D941D8-2A7E-4F2F-8F1A-386D8461219D}</a:tableStyleId>
              </a:tblPr>
              <a:tblGrid>
                <a:gridCol w="4496875"/>
                <a:gridCol w="44896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BinomialHeapNode tmp = temp2;</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temp2 = temp2.sibling;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tmp.sibling = temp1.sibling;		temp1.sibling = tmp;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temp1 = tmp.sibling;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else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(temp1.degree &lt; temp2.degree)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((temp1.sibling == null)|| (temp1.sibling.degree&gt; temp2.degree)) {	BinomialHeapNode tmp = temp2;		temp2 = temp2.sibling;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tmp.sibling = temp1.sibling;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temp1.sibling = tmp;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temp1 = tmp.sibling;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else {					temp1 = temp1.sibling;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else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BinomialHeapNode tmp = temp1;</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temp1 = temp2;</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temp2 = temp2.sibling;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temp1.sibling = tmp;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(tmp == Nodes)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Nodes = temp1;</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else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(temp1 == null)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temp1 = Nodes;</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while (temp1.sibling != null)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temp1 = temp1.sibling;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1f9056ea57_0_189"/>
          <p:cNvSpPr txBox="1"/>
          <p:nvPr/>
        </p:nvSpPr>
        <p:spPr>
          <a:xfrm>
            <a:off x="3470175" y="2932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graphicFrame>
        <p:nvGraphicFramePr>
          <p:cNvPr id="227" name="Google Shape;227;g31f9056ea57_0_189"/>
          <p:cNvGraphicFramePr/>
          <p:nvPr/>
        </p:nvGraphicFramePr>
        <p:xfrm>
          <a:off x="94204" y="739751"/>
          <a:ext cx="3000000" cy="3000000"/>
        </p:xfrm>
        <a:graphic>
          <a:graphicData uri="http://schemas.openxmlformats.org/drawingml/2006/table">
            <a:tbl>
              <a:tblPr bandRow="1" firstRow="1">
                <a:noFill/>
                <a:tableStyleId>{06D941D8-2A7E-4F2F-8F1A-386D8461219D}</a:tableStyleId>
              </a:tblPr>
              <a:tblGrid>
                <a:gridCol w="4584000"/>
                <a:gridCol w="43716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temp1.sibling = temp2;</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else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private void unionNodes(BinomialHeapNode binHeap)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merge(binHeap);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BinomialHeapNode prevTemp = null, temp = Nodes,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nextTemp = Nodes.sibling;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while (nextTemp != null)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((temp.degree != nextTemp.degree)|| ((nextTemp.sibling != null)&amp;&amp; (nextTemp.sibling.degree== temp.degree)))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prevTemp = 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 = nextTemp;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else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(temp.key &lt;= nextTemp.key)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temp.sibling = nextTemp.sibling;</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nextTemp.parent = 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nextTemp.sibling = temp.child;</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temp.child = nextTemp;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temp.degree++;</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else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(prevTemp == null)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Nodes = nextTemp;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else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prevTemp.sibling = nextTemp;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temp.parent = nextTemp;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1f9056ea57_0_218"/>
          <p:cNvSpPr txBox="1"/>
          <p:nvPr/>
        </p:nvSpPr>
        <p:spPr>
          <a:xfrm>
            <a:off x="3470175" y="2932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graphicFrame>
        <p:nvGraphicFramePr>
          <p:cNvPr id="233" name="Google Shape;233;g31f9056ea57_0_218"/>
          <p:cNvGraphicFramePr/>
          <p:nvPr/>
        </p:nvGraphicFramePr>
        <p:xfrm>
          <a:off x="94204" y="739751"/>
          <a:ext cx="3000000" cy="3000000"/>
        </p:xfrm>
        <a:graphic>
          <a:graphicData uri="http://schemas.openxmlformats.org/drawingml/2006/table">
            <a:tbl>
              <a:tblPr bandRow="1" firstRow="1">
                <a:noFill/>
                <a:tableStyleId>{06D941D8-2A7E-4F2F-8F1A-386D8461219D}</a:tableStyleId>
              </a:tblPr>
              <a:tblGrid>
                <a:gridCol w="4584000"/>
                <a:gridCol w="4371600"/>
              </a:tblGrid>
              <a:tr h="370850">
                <a:tc>
                  <a:txBody>
                    <a:bodyPr/>
                    <a:lstStyle/>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temp.sibling = nextTemp.child;</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nextTemp.child = temp;</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nextTemp.degree++;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temp = nextTemp;</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nextTemp = temp.sibling;</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public int findMinimum()</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return Nodes.findMinNode().key;</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public void delete(int value)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if ((Nodes != null)&amp;&amp; (Nodes.findANodeWithKey(value) != null))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decreaseKeyValue(value, findMinimum()-1);	</a:t>
                      </a:r>
                      <a:endParaRPr b="0" sz="1350">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extractMin();</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public void decreaseKeyValue(int old_value,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int new_value)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BinomialHeapNode temp= Nodes.findANodeWithKey(old_value);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if (temp == null)</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return;</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temp.key = new_value;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BinomialHeapNode tempParent = temp.parent;</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while ((tempParent != null)	&amp;&amp; (temp.key &lt; tempParent.key))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int z = temp.key;</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temp.key = tempParent.key;</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tempParent.key = z;</a:t>
                      </a:r>
                      <a:endParaRPr b="0" sz="1350">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1f9056ea57_0_223"/>
          <p:cNvSpPr txBox="1"/>
          <p:nvPr/>
        </p:nvSpPr>
        <p:spPr>
          <a:xfrm>
            <a:off x="3470175" y="2932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graphicFrame>
        <p:nvGraphicFramePr>
          <p:cNvPr id="239" name="Google Shape;239;g31f9056ea57_0_223"/>
          <p:cNvGraphicFramePr/>
          <p:nvPr/>
        </p:nvGraphicFramePr>
        <p:xfrm>
          <a:off x="94204" y="739751"/>
          <a:ext cx="3000000" cy="3000000"/>
        </p:xfrm>
        <a:graphic>
          <a:graphicData uri="http://schemas.openxmlformats.org/drawingml/2006/table">
            <a:tbl>
              <a:tblPr bandRow="1" firstRow="1">
                <a:noFill/>
                <a:tableStyleId>{06D941D8-2A7E-4F2F-8F1A-386D8461219D}</a:tableStyleId>
              </a:tblPr>
              <a:tblGrid>
                <a:gridCol w="4584000"/>
                <a:gridCol w="4371600"/>
              </a:tblGrid>
              <a:tr h="370850">
                <a:tc>
                  <a:txBody>
                    <a:bodyPr/>
                    <a:lstStyle/>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temp = tempParent;</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tempParent = tempParent.parent;</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public int extractMin()</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if (Nodes == null)</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return -1;</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BinomialHeapNode temp = Nodes, prevTemp = null;</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BinomialHeapNode minNode = Nodes.findMinNode();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while (temp.key != minNode.key)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prevTemp = temp;</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temp = temp.sibling;</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if (prevTemp == null)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Nodes = temp.sibling;</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b="0" sz="1350">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else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prevTemp.sibling = temp.sibling;</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temp = temp.child;</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BinomialHeapNode fakeNode = temp;</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while (temp != null)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temp.parent = null;</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temp = temp.sibling;</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if ((Nodes == null) &amp;&amp; (fakeNode == null))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size = 0;</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else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if ((Nodes == null) &amp;&amp; (fakeNode != null))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Nodes = fakeNode.reverse(null);</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size = Nodes.getSize();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b="0" sz="1350">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1f9056ea57_0_228"/>
          <p:cNvSpPr txBox="1"/>
          <p:nvPr/>
        </p:nvSpPr>
        <p:spPr>
          <a:xfrm>
            <a:off x="3470175" y="2932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graphicFrame>
        <p:nvGraphicFramePr>
          <p:cNvPr id="245" name="Google Shape;245;g31f9056ea57_0_228"/>
          <p:cNvGraphicFramePr/>
          <p:nvPr/>
        </p:nvGraphicFramePr>
        <p:xfrm>
          <a:off x="94204" y="739751"/>
          <a:ext cx="3000000" cy="3000000"/>
        </p:xfrm>
        <a:graphic>
          <a:graphicData uri="http://schemas.openxmlformats.org/drawingml/2006/table">
            <a:tbl>
              <a:tblPr bandRow="1" firstRow="1">
                <a:noFill/>
                <a:tableStyleId>{06D941D8-2A7E-4F2F-8F1A-386D8461219D}</a:tableStyleId>
              </a:tblPr>
              <a:tblGrid>
                <a:gridCol w="4584000"/>
                <a:gridCol w="4371600"/>
              </a:tblGrid>
              <a:tr h="370850">
                <a:tc>
                  <a:txBody>
                    <a:bodyPr/>
                    <a:lstStyle/>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else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if ((Nodes != null) &amp;&amp; (fakeNode == null))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size = Nodes.getSize();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else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unionNodes(fakeNode.reverse(null));</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size = Nodes.getSize();</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return minNode.key;</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public void displayHeap()</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System.out.print("\nHeap :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displayHeap(Nodes);</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System.out.println("\n");</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b="0" sz="1350">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private void displayHeap(BinomialHeapNode r)</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if (r != null)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displayHeap(r.child);</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System.out.print(r.key + "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displayHeap(r.sibling);</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public class main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public static void main(String[] args)</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BinomialHeap binHeap = new BinomialHeap();</a:t>
                      </a:r>
                      <a:endParaRPr sz="1350">
                        <a:solidFill>
                          <a:schemeClr val="lt1"/>
                        </a:solidFill>
                      </a:endParaRPr>
                    </a:p>
                    <a:p>
                      <a:pPr indent="0" lvl="0" marL="0" rtl="0" algn="l">
                        <a:spcBef>
                          <a:spcPts val="0"/>
                        </a:spcBef>
                        <a:spcAft>
                          <a:spcPts val="0"/>
                        </a:spcAft>
                        <a:buClr>
                          <a:schemeClr val="dk1"/>
                        </a:buClr>
                        <a:buSzPts val="1800"/>
                        <a:buFont typeface="Arial"/>
                        <a:buNone/>
                      </a:pPr>
                      <a:r>
                        <a:rPr b="0" lang="en-GB" sz="1350">
                          <a:solidFill>
                            <a:schemeClr val="dk1"/>
                          </a:solidFill>
                          <a:latin typeface="Consolas"/>
                          <a:ea typeface="Consolas"/>
                          <a:cs typeface="Consolas"/>
                          <a:sym typeface="Consolas"/>
                        </a:rPr>
                        <a:t>		</a:t>
                      </a:r>
                      <a:endParaRPr b="0" sz="1350">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1f9056ea57_0_193"/>
          <p:cNvSpPr txBox="1"/>
          <p:nvPr/>
        </p:nvSpPr>
        <p:spPr>
          <a:xfrm>
            <a:off x="3470175" y="293200"/>
            <a:ext cx="194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a:t>
            </a:r>
            <a:r>
              <a:rPr lang="en-GB" sz="1800">
                <a:solidFill>
                  <a:srgbClr val="8182EF"/>
                </a:solidFill>
                <a:latin typeface="Roboto Black"/>
                <a:ea typeface="Roboto Black"/>
                <a:cs typeface="Roboto Black"/>
                <a:sym typeface="Roboto Black"/>
              </a:rPr>
              <a:t>INOMIAL HEAP</a:t>
            </a:r>
            <a:endParaRPr b="0" i="0" sz="1800" u="none" cap="none" strike="noStrike">
              <a:solidFill>
                <a:srgbClr val="6D9EEB"/>
              </a:solidFill>
              <a:latin typeface="Roboto Black"/>
              <a:ea typeface="Roboto Black"/>
              <a:cs typeface="Roboto Black"/>
              <a:sym typeface="Roboto Black"/>
            </a:endParaRPr>
          </a:p>
        </p:txBody>
      </p:sp>
      <p:graphicFrame>
        <p:nvGraphicFramePr>
          <p:cNvPr id="251" name="Google Shape;251;g31f9056ea57_0_193"/>
          <p:cNvGraphicFramePr/>
          <p:nvPr/>
        </p:nvGraphicFramePr>
        <p:xfrm>
          <a:off x="8" y="1346630"/>
          <a:ext cx="3000000" cy="3000000"/>
        </p:xfrm>
        <a:graphic>
          <a:graphicData uri="http://schemas.openxmlformats.org/drawingml/2006/table">
            <a:tbl>
              <a:tblPr bandRow="1" firstRow="1">
                <a:noFill/>
                <a:tableStyleId>{06D941D8-2A7E-4F2F-8F1A-386D8461219D}</a:tableStyleId>
              </a:tblPr>
              <a:tblGrid>
                <a:gridCol w="4575675"/>
                <a:gridCol w="45683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binHeap.insert(12);</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binHeap.insert(8);</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binHeap.insert(5);</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binHeap.insert(15);</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binHeap.insert(7);</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binHeap.insert(2);</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binHeap.insert(9);</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System.out.println("Size of the binomial heap is "+ binHeap.getSize());</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binHeap.displayHeap();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binHeap.delete(15);</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binHeap.delete(8);</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System.out.println("Size of the binomial heap is "+ binHeap.getSize());</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binHeap.displayHeap();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binHeap.makeEmpty();</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System.out.println(binHeap.isEmpty());</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5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1f9056ea57_0_145"/>
          <p:cNvSpPr txBox="1"/>
          <p:nvPr/>
        </p:nvSpPr>
        <p:spPr>
          <a:xfrm>
            <a:off x="3470175" y="445600"/>
            <a:ext cx="29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57" name="Google Shape;257;g31f9056ea57_0_145"/>
          <p:cNvSpPr txBox="1"/>
          <p:nvPr/>
        </p:nvSpPr>
        <p:spPr>
          <a:xfrm>
            <a:off x="328126" y="917794"/>
            <a:ext cx="105156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i="1" lang="en-GB" sz="2000">
                <a:solidFill>
                  <a:srgbClr val="FF0000"/>
                </a:solidFill>
                <a:latin typeface="Consolas"/>
                <a:ea typeface="Consolas"/>
                <a:cs typeface="Consolas"/>
                <a:sym typeface="Consolas"/>
              </a:rPr>
              <a:t>1.What is Binomial Heap?</a:t>
            </a:r>
            <a:endParaRPr sz="2800">
              <a:solidFill>
                <a:srgbClr val="000000"/>
              </a:solidFill>
              <a:latin typeface="Calibri"/>
              <a:ea typeface="Calibri"/>
              <a:cs typeface="Calibri"/>
              <a:sym typeface="Calibri"/>
            </a:endParaRPr>
          </a:p>
          <a:p>
            <a:pPr indent="0" lvl="0" marL="0" rtl="0" algn="l">
              <a:lnSpc>
                <a:spcPct val="150000"/>
              </a:lnSpc>
              <a:spcBef>
                <a:spcPts val="1000"/>
              </a:spcBef>
              <a:spcAft>
                <a:spcPts val="0"/>
              </a:spcAft>
              <a:buNone/>
            </a:pPr>
            <a:r>
              <a:t/>
            </a:r>
            <a:endParaRPr i="1" sz="2000">
              <a:solidFill>
                <a:srgbClr val="FF0000"/>
              </a:solidFill>
              <a:latin typeface="Consolas"/>
              <a:ea typeface="Consolas"/>
              <a:cs typeface="Consolas"/>
              <a:sym typeface="Consolas"/>
            </a:endParaRPr>
          </a:p>
        </p:txBody>
      </p:sp>
      <p:sp>
        <p:nvSpPr>
          <p:cNvPr id="258" name="Google Shape;258;g31f9056ea57_0_145"/>
          <p:cNvSpPr txBox="1"/>
          <p:nvPr/>
        </p:nvSpPr>
        <p:spPr>
          <a:xfrm>
            <a:off x="328125" y="1573225"/>
            <a:ext cx="77637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0" i="0" lang="en-GB" sz="1600" u="none" cap="none" strike="noStrike">
                <a:solidFill>
                  <a:srgbClr val="000000"/>
                </a:solidFill>
                <a:latin typeface="Consolas"/>
                <a:ea typeface="Consolas"/>
                <a:cs typeface="Consolas"/>
                <a:sym typeface="Consolas"/>
              </a:rPr>
              <a:t>Answer: A binomial heap is a type of data structure used to maintain a collection of elements, typically with a focus on efficient priority queue operations. It is a collection of binomial trees where each tree follows the min-heap property.</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1f9056ea57_0_272"/>
          <p:cNvSpPr txBox="1"/>
          <p:nvPr/>
        </p:nvSpPr>
        <p:spPr>
          <a:xfrm>
            <a:off x="3470175" y="445600"/>
            <a:ext cx="29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64" name="Google Shape;264;g31f9056ea57_0_272"/>
          <p:cNvSpPr txBox="1"/>
          <p:nvPr/>
        </p:nvSpPr>
        <p:spPr>
          <a:xfrm>
            <a:off x="328126" y="917794"/>
            <a:ext cx="105156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2. What are the key operations in a Binomial Heap?</a:t>
            </a:r>
            <a:endParaRPr sz="2800">
              <a:solidFill>
                <a:srgbClr val="000000"/>
              </a:solidFill>
              <a:latin typeface="Calibri"/>
              <a:ea typeface="Calibri"/>
              <a:cs typeface="Calibri"/>
              <a:sym typeface="Calibri"/>
            </a:endParaRPr>
          </a:p>
          <a:p>
            <a:pPr indent="0" lvl="0" marL="0" rtl="0" algn="l">
              <a:lnSpc>
                <a:spcPct val="150000"/>
              </a:lnSpc>
              <a:spcBef>
                <a:spcPts val="1000"/>
              </a:spcBef>
              <a:spcAft>
                <a:spcPts val="0"/>
              </a:spcAft>
              <a:buNone/>
            </a:pPr>
            <a:r>
              <a:t/>
            </a:r>
            <a:endParaRPr i="1" sz="2000">
              <a:solidFill>
                <a:srgbClr val="FF0000"/>
              </a:solidFill>
              <a:latin typeface="Consolas"/>
              <a:ea typeface="Consolas"/>
              <a:cs typeface="Consolas"/>
              <a:sym typeface="Consolas"/>
            </a:endParaRPr>
          </a:p>
        </p:txBody>
      </p:sp>
      <p:sp>
        <p:nvSpPr>
          <p:cNvPr id="265" name="Google Shape;265;g31f9056ea57_0_272"/>
          <p:cNvSpPr txBox="1"/>
          <p:nvPr/>
        </p:nvSpPr>
        <p:spPr>
          <a:xfrm>
            <a:off x="404325" y="1420825"/>
            <a:ext cx="7763700" cy="4032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Answer: The key operations in a binomial heap are:</a:t>
            </a:r>
            <a:endParaRPr sz="1600">
              <a:solidFill>
                <a:schemeClr val="dk1"/>
              </a:solidFill>
            </a:endParaRPr>
          </a:p>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insert(H, k): Inserts a key 'k' into the binomial heap 'H'.</a:t>
            </a:r>
            <a:endParaRPr sz="1600">
              <a:solidFill>
                <a:schemeClr val="dk1"/>
              </a:solidFill>
            </a:endParaRPr>
          </a:p>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getMin(H): Finds the minimum key in the binomial heap 'H'.</a:t>
            </a:r>
            <a:endParaRPr sz="1600">
              <a:solidFill>
                <a:schemeClr val="dk1"/>
              </a:solidFill>
            </a:endParaRPr>
          </a:p>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extractMin(H): Removes and returns the minimum key from the binomial heap 'H'.</a:t>
            </a:r>
            <a:endParaRPr sz="1600">
              <a:solidFill>
                <a:schemeClr val="dk1"/>
              </a:solidFill>
            </a:endParaRPr>
          </a:p>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delete(H): Deletes a specific element from the binomial heap.</a:t>
            </a:r>
            <a:endParaRPr sz="1600">
              <a:solidFill>
                <a:schemeClr val="dk1"/>
              </a:solidFill>
            </a:endParaRPr>
          </a:p>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decreaseKey(H): Decreases the key of a specific element in the binomial heap.</a:t>
            </a:r>
            <a:endParaRPr sz="1600">
              <a:solidFill>
                <a:schemeClr val="dk1"/>
              </a:solidFill>
            </a:endParaRPr>
          </a:p>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union(H1, H2): Combines two binomial heaps into one.</a:t>
            </a:r>
            <a:endParaRPr sz="1600">
              <a:solidFill>
                <a:schemeClr val="dk1"/>
              </a:solidFill>
            </a:endParaRPr>
          </a:p>
          <a:p>
            <a:pPr indent="0" lvl="0" marL="0" marR="0" rtl="0" algn="l">
              <a:lnSpc>
                <a:spcPct val="150000"/>
              </a:lnSpc>
              <a:spcBef>
                <a:spcPts val="0"/>
              </a:spcBef>
              <a:spcAft>
                <a:spcPts val="0"/>
              </a:spcAft>
              <a:buClr>
                <a:srgbClr val="000000"/>
              </a:buClr>
              <a:buSzPts val="2000"/>
              <a:buFont typeface="Arial"/>
              <a:buNone/>
            </a:pPr>
            <a:r>
              <a:t/>
            </a:r>
            <a:endParaRPr sz="1600">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1f9056ea57_0_278"/>
          <p:cNvSpPr txBox="1"/>
          <p:nvPr/>
        </p:nvSpPr>
        <p:spPr>
          <a:xfrm>
            <a:off x="3470175" y="445600"/>
            <a:ext cx="29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71" name="Google Shape;271;g31f9056ea57_0_278"/>
          <p:cNvSpPr txBox="1"/>
          <p:nvPr/>
        </p:nvSpPr>
        <p:spPr>
          <a:xfrm>
            <a:off x="328126" y="917794"/>
            <a:ext cx="105156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3. How does the insert operation work in a Binomial Heap?</a:t>
            </a:r>
            <a:endParaRPr sz="2800">
              <a:solidFill>
                <a:srgbClr val="000000"/>
              </a:solidFill>
              <a:latin typeface="Calibri"/>
              <a:ea typeface="Calibri"/>
              <a:cs typeface="Calibri"/>
              <a:sym typeface="Calibri"/>
            </a:endParaRPr>
          </a:p>
          <a:p>
            <a:pPr indent="0" lvl="0" marL="0" rtl="0" algn="l">
              <a:lnSpc>
                <a:spcPct val="150000"/>
              </a:lnSpc>
              <a:spcBef>
                <a:spcPts val="1000"/>
              </a:spcBef>
              <a:spcAft>
                <a:spcPts val="0"/>
              </a:spcAft>
              <a:buNone/>
            </a:pPr>
            <a:r>
              <a:t/>
            </a:r>
            <a:endParaRPr i="1" sz="2000">
              <a:solidFill>
                <a:srgbClr val="FF0000"/>
              </a:solidFill>
              <a:latin typeface="Consolas"/>
              <a:ea typeface="Consolas"/>
              <a:cs typeface="Consolas"/>
              <a:sym typeface="Consolas"/>
            </a:endParaRPr>
          </a:p>
        </p:txBody>
      </p:sp>
      <p:sp>
        <p:nvSpPr>
          <p:cNvPr id="272" name="Google Shape;272;g31f9056ea57_0_278"/>
          <p:cNvSpPr txBox="1"/>
          <p:nvPr/>
        </p:nvSpPr>
        <p:spPr>
          <a:xfrm>
            <a:off x="328125" y="1573225"/>
            <a:ext cx="7763700" cy="18162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Answer: The insert operation in a binomial heap creates a new binomial heap with a single key 'k' and then uses the union operation to merge it with the existing binomial heap.</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1f9056ea57_0_284"/>
          <p:cNvSpPr txBox="1"/>
          <p:nvPr/>
        </p:nvSpPr>
        <p:spPr>
          <a:xfrm>
            <a:off x="3470175" y="445600"/>
            <a:ext cx="29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78" name="Google Shape;278;g31f9056ea57_0_284"/>
          <p:cNvSpPr txBox="1"/>
          <p:nvPr/>
        </p:nvSpPr>
        <p:spPr>
          <a:xfrm>
            <a:off x="328125" y="917800"/>
            <a:ext cx="77637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4. What is the purpose of the union operation in a Binomial Heap?</a:t>
            </a:r>
            <a:endParaRPr sz="28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i="1" sz="2000">
              <a:solidFill>
                <a:srgbClr val="FF0000"/>
              </a:solidFill>
              <a:latin typeface="Consolas"/>
              <a:ea typeface="Consolas"/>
              <a:cs typeface="Consolas"/>
              <a:sym typeface="Consolas"/>
            </a:endParaRPr>
          </a:p>
          <a:p>
            <a:pPr indent="0" lvl="0" marL="0" rtl="0" algn="l">
              <a:lnSpc>
                <a:spcPct val="150000"/>
              </a:lnSpc>
              <a:spcBef>
                <a:spcPts val="1000"/>
              </a:spcBef>
              <a:spcAft>
                <a:spcPts val="0"/>
              </a:spcAft>
              <a:buNone/>
            </a:pPr>
            <a:r>
              <a:t/>
            </a:r>
            <a:endParaRPr i="1" sz="2000">
              <a:solidFill>
                <a:srgbClr val="FF0000"/>
              </a:solidFill>
              <a:latin typeface="Consolas"/>
              <a:ea typeface="Consolas"/>
              <a:cs typeface="Consolas"/>
              <a:sym typeface="Consolas"/>
            </a:endParaRPr>
          </a:p>
        </p:txBody>
      </p:sp>
      <p:sp>
        <p:nvSpPr>
          <p:cNvPr id="279" name="Google Shape;279;g31f9056ea57_0_284"/>
          <p:cNvSpPr txBox="1"/>
          <p:nvPr/>
        </p:nvSpPr>
        <p:spPr>
          <a:xfrm>
            <a:off x="328125" y="1725625"/>
            <a:ext cx="7763700" cy="28014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Answer: The union operation is used to combine two binomial heaps into one. It involves merging the two heaps in non-decreasing order of their degrees and then combining binomial trees of the same degree to ensure that there is at most one binomial tree of any order in the heap.</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1f9056ea57_0_290"/>
          <p:cNvSpPr txBox="1"/>
          <p:nvPr/>
        </p:nvSpPr>
        <p:spPr>
          <a:xfrm>
            <a:off x="3470175" y="445600"/>
            <a:ext cx="29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85" name="Google Shape;285;g31f9056ea57_0_290"/>
          <p:cNvSpPr txBox="1"/>
          <p:nvPr/>
        </p:nvSpPr>
        <p:spPr>
          <a:xfrm>
            <a:off x="328125" y="917800"/>
            <a:ext cx="71721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5. How does the decreaseKey operation work in a Binomial Heap?</a:t>
            </a:r>
            <a:endParaRPr sz="2800">
              <a:solidFill>
                <a:srgbClr val="000000"/>
              </a:solidFill>
              <a:latin typeface="Calibri"/>
              <a:ea typeface="Calibri"/>
              <a:cs typeface="Calibri"/>
              <a:sym typeface="Calibri"/>
            </a:endParaRPr>
          </a:p>
          <a:p>
            <a:pPr indent="0" lvl="0" marL="0" rtl="0" algn="l">
              <a:lnSpc>
                <a:spcPct val="150000"/>
              </a:lnSpc>
              <a:spcBef>
                <a:spcPts val="1000"/>
              </a:spcBef>
              <a:spcAft>
                <a:spcPts val="0"/>
              </a:spcAft>
              <a:buNone/>
            </a:pPr>
            <a:r>
              <a:t/>
            </a:r>
            <a:endParaRPr i="1" sz="2000">
              <a:solidFill>
                <a:srgbClr val="FF0000"/>
              </a:solidFill>
              <a:latin typeface="Consolas"/>
              <a:ea typeface="Consolas"/>
              <a:cs typeface="Consolas"/>
              <a:sym typeface="Consolas"/>
            </a:endParaRPr>
          </a:p>
        </p:txBody>
      </p:sp>
      <p:sp>
        <p:nvSpPr>
          <p:cNvPr id="286" name="Google Shape;286;g31f9056ea57_0_290"/>
          <p:cNvSpPr txBox="1"/>
          <p:nvPr/>
        </p:nvSpPr>
        <p:spPr>
          <a:xfrm>
            <a:off x="328125" y="1878025"/>
            <a:ext cx="7763700" cy="21858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Answer: The decreaseKey operation compares the decreased key with its parent and swaps keys recursively until it reaches a node whose parent has a smaller key or the root node.</a:t>
            </a:r>
            <a:endParaRPr sz="1600">
              <a:solidFill>
                <a:schemeClr val="dk1"/>
              </a:solidFill>
            </a:endParaRPr>
          </a:p>
          <a:p>
            <a:pPr indent="0" lvl="0" marL="0" marR="0" rtl="0" algn="l">
              <a:lnSpc>
                <a:spcPct val="150000"/>
              </a:lnSpc>
              <a:spcBef>
                <a:spcPts val="0"/>
              </a:spcBef>
              <a:spcAft>
                <a:spcPts val="0"/>
              </a:spcAft>
              <a:buClr>
                <a:srgbClr val="000000"/>
              </a:buClr>
              <a:buSzPts val="2000"/>
              <a:buFont typeface="Arial"/>
              <a:buNone/>
            </a:pPr>
            <a:r>
              <a:t/>
            </a:r>
            <a:endParaRPr sz="1600">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1f9056ea57_0_296"/>
          <p:cNvSpPr txBox="1"/>
          <p:nvPr/>
        </p:nvSpPr>
        <p:spPr>
          <a:xfrm>
            <a:off x="3470175" y="445600"/>
            <a:ext cx="29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92" name="Google Shape;292;g31f9056ea57_0_296"/>
          <p:cNvSpPr txBox="1"/>
          <p:nvPr/>
        </p:nvSpPr>
        <p:spPr>
          <a:xfrm>
            <a:off x="328125" y="917800"/>
            <a:ext cx="78297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6. What is the Min Heap property, and how does it apply to a Binomial Heap?</a:t>
            </a:r>
            <a:endParaRPr sz="2800">
              <a:solidFill>
                <a:srgbClr val="000000"/>
              </a:solidFill>
              <a:latin typeface="Calibri"/>
              <a:ea typeface="Calibri"/>
              <a:cs typeface="Calibri"/>
              <a:sym typeface="Calibri"/>
            </a:endParaRPr>
          </a:p>
          <a:p>
            <a:pPr indent="0" lvl="0" marL="0" rtl="0" algn="l">
              <a:lnSpc>
                <a:spcPct val="150000"/>
              </a:lnSpc>
              <a:spcBef>
                <a:spcPts val="1000"/>
              </a:spcBef>
              <a:spcAft>
                <a:spcPts val="0"/>
              </a:spcAft>
              <a:buNone/>
            </a:pPr>
            <a:r>
              <a:t/>
            </a:r>
            <a:endParaRPr i="1" sz="2000">
              <a:solidFill>
                <a:srgbClr val="FF0000"/>
              </a:solidFill>
              <a:latin typeface="Consolas"/>
              <a:ea typeface="Consolas"/>
              <a:cs typeface="Consolas"/>
              <a:sym typeface="Consolas"/>
            </a:endParaRPr>
          </a:p>
        </p:txBody>
      </p:sp>
      <p:sp>
        <p:nvSpPr>
          <p:cNvPr id="293" name="Google Shape;293;g31f9056ea57_0_296"/>
          <p:cNvSpPr txBox="1"/>
          <p:nvPr/>
        </p:nvSpPr>
        <p:spPr>
          <a:xfrm>
            <a:off x="328125" y="1801825"/>
            <a:ext cx="7763700" cy="23088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Answer: The Min Heap property states that the key of a node is greater than or equal to the key of its parent. In a binomial heap, each binomial tree follows the Min Heap property, and the root of the entire heap is the minimum key among all the trees.</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1f9056ea57_0_302"/>
          <p:cNvSpPr txBox="1"/>
          <p:nvPr/>
        </p:nvSpPr>
        <p:spPr>
          <a:xfrm>
            <a:off x="3470175" y="445600"/>
            <a:ext cx="29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299" name="Google Shape;299;g31f9056ea57_0_302"/>
          <p:cNvSpPr txBox="1"/>
          <p:nvPr/>
        </p:nvSpPr>
        <p:spPr>
          <a:xfrm>
            <a:off x="328125" y="917800"/>
            <a:ext cx="73452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7. Explain the process of extracting the minimum key in a Binomial Heap.</a:t>
            </a:r>
            <a:endParaRPr sz="2800">
              <a:solidFill>
                <a:srgbClr val="000000"/>
              </a:solidFill>
              <a:latin typeface="Calibri"/>
              <a:ea typeface="Calibri"/>
              <a:cs typeface="Calibri"/>
              <a:sym typeface="Calibri"/>
            </a:endParaRPr>
          </a:p>
          <a:p>
            <a:pPr indent="0" lvl="0" marL="0" rtl="0" algn="l">
              <a:lnSpc>
                <a:spcPct val="150000"/>
              </a:lnSpc>
              <a:spcBef>
                <a:spcPts val="1000"/>
              </a:spcBef>
              <a:spcAft>
                <a:spcPts val="0"/>
              </a:spcAft>
              <a:buNone/>
            </a:pPr>
            <a:r>
              <a:t/>
            </a:r>
            <a:endParaRPr i="1" sz="2000">
              <a:solidFill>
                <a:srgbClr val="FF0000"/>
              </a:solidFill>
              <a:latin typeface="Consolas"/>
              <a:ea typeface="Consolas"/>
              <a:cs typeface="Consolas"/>
              <a:sym typeface="Consolas"/>
            </a:endParaRPr>
          </a:p>
        </p:txBody>
      </p:sp>
      <p:sp>
        <p:nvSpPr>
          <p:cNvPr id="300" name="Google Shape;300;g31f9056ea57_0_302"/>
          <p:cNvSpPr txBox="1"/>
          <p:nvPr/>
        </p:nvSpPr>
        <p:spPr>
          <a:xfrm>
            <a:off x="328125" y="1801825"/>
            <a:ext cx="7763700" cy="32940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Answer: To extract the minimum key in a binomial heap, we first call the getMin operation to find the minimum key binomial tree. Then, we remove the node with the minimum key and create a new binomial heap by connecting all the subtrees of the removed node. Finally, we call the union operation on the original heap and the newly created heap.</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1f9056ea57_0_308"/>
          <p:cNvSpPr txBox="1"/>
          <p:nvPr/>
        </p:nvSpPr>
        <p:spPr>
          <a:xfrm>
            <a:off x="3470175" y="445600"/>
            <a:ext cx="29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306" name="Google Shape;306;g31f9056ea57_0_308"/>
          <p:cNvSpPr txBox="1"/>
          <p:nvPr/>
        </p:nvSpPr>
        <p:spPr>
          <a:xfrm>
            <a:off x="328126" y="917794"/>
            <a:ext cx="105156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8. What are the properties of a Binomial Heap?</a:t>
            </a:r>
            <a:endParaRPr sz="2800">
              <a:solidFill>
                <a:srgbClr val="000000"/>
              </a:solidFill>
              <a:latin typeface="Calibri"/>
              <a:ea typeface="Calibri"/>
              <a:cs typeface="Calibri"/>
              <a:sym typeface="Calibri"/>
            </a:endParaRPr>
          </a:p>
          <a:p>
            <a:pPr indent="0" lvl="0" marL="0" rtl="0" algn="l">
              <a:lnSpc>
                <a:spcPct val="150000"/>
              </a:lnSpc>
              <a:spcBef>
                <a:spcPts val="1000"/>
              </a:spcBef>
              <a:spcAft>
                <a:spcPts val="0"/>
              </a:spcAft>
              <a:buNone/>
            </a:pPr>
            <a:r>
              <a:t/>
            </a:r>
            <a:endParaRPr i="1" sz="2000">
              <a:solidFill>
                <a:srgbClr val="FF0000"/>
              </a:solidFill>
              <a:latin typeface="Consolas"/>
              <a:ea typeface="Consolas"/>
              <a:cs typeface="Consolas"/>
              <a:sym typeface="Consolas"/>
            </a:endParaRPr>
          </a:p>
        </p:txBody>
      </p:sp>
      <p:sp>
        <p:nvSpPr>
          <p:cNvPr id="307" name="Google Shape;307;g31f9056ea57_0_308"/>
          <p:cNvSpPr txBox="1"/>
          <p:nvPr/>
        </p:nvSpPr>
        <p:spPr>
          <a:xfrm>
            <a:off x="328125" y="1573225"/>
            <a:ext cx="8348700" cy="23088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Answer: The properties of a binomial heap are:</a:t>
            </a:r>
            <a:endParaRPr sz="1600">
              <a:solidFill>
                <a:schemeClr val="dk1"/>
              </a:solidFill>
            </a:endParaRPr>
          </a:p>
          <a:p>
            <a:pPr indent="0" lvl="0" marL="0" rtl="0" algn="l">
              <a:lnSpc>
                <a:spcPct val="20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Each binomial tree in the heap is heap-ordered (follows the Min Heap property).</a:t>
            </a:r>
            <a:endParaRPr sz="1600">
              <a:solidFill>
                <a:schemeClr val="dk1"/>
              </a:solidFill>
            </a:endParaRPr>
          </a:p>
          <a:p>
            <a:pPr indent="0" lvl="0" marL="0" rtl="0" algn="l">
              <a:lnSpc>
                <a:spcPct val="20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     There is at most one binomial tree with a given degree in the heap.</a:t>
            </a:r>
            <a:endParaRPr sz="1600">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1f9056ea57_0_314"/>
          <p:cNvSpPr txBox="1"/>
          <p:nvPr/>
        </p:nvSpPr>
        <p:spPr>
          <a:xfrm>
            <a:off x="3470175" y="445600"/>
            <a:ext cx="29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313" name="Google Shape;313;g31f9056ea57_0_314"/>
          <p:cNvSpPr txBox="1"/>
          <p:nvPr/>
        </p:nvSpPr>
        <p:spPr>
          <a:xfrm>
            <a:off x="328126" y="917794"/>
            <a:ext cx="105156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2000">
                <a:solidFill>
                  <a:srgbClr val="FF0000"/>
                </a:solidFill>
                <a:latin typeface="Consolas"/>
                <a:ea typeface="Consolas"/>
                <a:cs typeface="Consolas"/>
                <a:sym typeface="Consolas"/>
              </a:rPr>
              <a:t>9. Can you compare a Binomial Heap to a Binary Heap?</a:t>
            </a:r>
            <a:endParaRPr sz="2800">
              <a:solidFill>
                <a:srgbClr val="000000"/>
              </a:solidFill>
              <a:latin typeface="Calibri"/>
              <a:ea typeface="Calibri"/>
              <a:cs typeface="Calibri"/>
              <a:sym typeface="Calibri"/>
            </a:endParaRPr>
          </a:p>
          <a:p>
            <a:pPr indent="0" lvl="0" marL="0" rtl="0" algn="l">
              <a:lnSpc>
                <a:spcPct val="150000"/>
              </a:lnSpc>
              <a:spcBef>
                <a:spcPts val="1000"/>
              </a:spcBef>
              <a:spcAft>
                <a:spcPts val="0"/>
              </a:spcAft>
              <a:buNone/>
            </a:pPr>
            <a:r>
              <a:t/>
            </a:r>
            <a:endParaRPr i="1" sz="2000">
              <a:solidFill>
                <a:srgbClr val="FF0000"/>
              </a:solidFill>
              <a:latin typeface="Consolas"/>
              <a:ea typeface="Consolas"/>
              <a:cs typeface="Consolas"/>
              <a:sym typeface="Consolas"/>
            </a:endParaRPr>
          </a:p>
        </p:txBody>
      </p:sp>
      <p:sp>
        <p:nvSpPr>
          <p:cNvPr id="314" name="Google Shape;314;g31f9056ea57_0_314"/>
          <p:cNvSpPr txBox="1"/>
          <p:nvPr/>
        </p:nvSpPr>
        <p:spPr>
          <a:xfrm>
            <a:off x="328125" y="1573225"/>
            <a:ext cx="7763700" cy="31707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Answer: Binomial heaps have certain advantages over binary heaps, such as faster union and decrease key operations. They can be used for priority queue operations efficiently. However, binary heaps are easier to implement and have better average time complexity for some operations.</a:t>
            </a:r>
            <a:endParaRPr sz="1600">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sz="1600">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20" name="Google Shape;320;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321" name="Google Shape;321;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27" name="Google Shape;327;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28" name="Google Shape;328;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29" name="Google Shape;329;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30" name="Google Shape;330;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31" name="Google Shape;331;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32" name="Google Shape;332;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33" name="Google Shape;333;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34" name="Google Shape;334;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35" name="Google Shape;335;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36" name="Google Shape;336;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37" name="Google Shape;337;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