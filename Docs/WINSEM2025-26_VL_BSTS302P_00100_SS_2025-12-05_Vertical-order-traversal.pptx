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embeddedFontLst>
    <p:embeddedFont>
      <p:font typeface="Roboto Black"/>
      <p:bold r:id="rId26"/>
      <p:boldItalic r:id="rId27"/>
    </p:embeddedFont>
    <p:embeddedFont>
      <p:font typeface="Robo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orient="horz" pos="907">
          <p15:clr>
            <a:srgbClr val="FF0000"/>
          </p15:clr>
        </p15:guide>
        <p15:guide id="4" pos="5272">
          <p15:clr>
            <a:srgbClr val="FF00FF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  <p15:guide id="7" pos="1757">
          <p15:clr>
            <a:srgbClr val="747775"/>
          </p15:clr>
        </p15:guide>
      </p15:sldGuideLst>
    </p:ext>
    <p:ext uri="GoogleSlidesCustomDataVersion2">
      <go:slidesCustomData xmlns:go="http://customooxmlschemas.google.com/" r:id="rId32" roundtripDataSignature="AMtx7mjBOL8AL74Lwhyjcl/wrcfROlT0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7D3136-3061-4377-954B-BD341937AB56}">
  <a:tblStyle styleId="{E77D3136-3061-4377-954B-BD341937AB56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472C4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472C4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2755" orient="horz"/>
        <p:guide pos="907" orient="horz"/>
        <p:guide pos="5272"/>
        <p:guide pos="737" orient="horz"/>
        <p:guide pos="397" orient="horz"/>
        <p:guide pos="175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obotoBlack-bold.fntdata"/><Relationship Id="rId25" Type="http://schemas.openxmlformats.org/officeDocument/2006/relationships/slide" Target="slides/slide18.xml"/><Relationship Id="rId28" Type="http://schemas.openxmlformats.org/officeDocument/2006/relationships/font" Target="fonts/Roboto-regular.fntdata"/><Relationship Id="rId27" Type="http://schemas.openxmlformats.org/officeDocument/2006/relationships/font" Target="fonts/RobotoBlack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customschemas.google.com/relationships/presentationmetadata" Target="meta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4337fc5d25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g14337fc5d25_0_2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038ce67a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g32038ce67af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2038ce67a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g32038ce67af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038ce67a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g32038ce67af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038ce67a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g32038ce67af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038ce67a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g32038ce67af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038ce67a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g32038ce67af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2038ce67a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g32038ce67af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2038ce67a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g32038ce67af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1fdec52c72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g31fdec52c72_0_3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43a3cdda7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g3243a3cdda7_0_8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243a3cdda7_0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g3243a3cdda7_0_8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243a3cdda7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g3243a3cdda7_0_8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243a3cdda7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g3243a3cdda7_0_8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4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14337fc5d25_0_2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g14337fc5d25_0_2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g14337fc5d25_0_2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14337fc5d25_0_2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g14337fc5d25_0_2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14337fc5d25_0_2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g14337fc5d25_0_2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14337fc5d25_0_2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" name="Google Shape;27;g14337fc5d25_0_2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" name="Google Shape;28;g14337fc5d25_0_2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" name="Google Shape;29;g14337fc5d25_0_2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g14337fc5d25_0_2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4337fc5d25_0_2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33" name="Google Shape;33;g14337fc5d25_0_2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14337fc5d25_0_2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g14337fc5d25_0_2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g14337fc5d25_0_2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39" name="Google Shape;39;g14337fc5d25_0_2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g14337fc5d25_0_252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g14337fc5d25_0_252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" name="Google Shape;42;g14337fc5d25_0_252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g14337fc5d25_0_252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1fef00ada2_0_1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g31fef00ada2_0_12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g31fef00ada2_0_1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g31fef00ada2_0_1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g31fef00ada2_0_1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4337fc5d25_0_8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g14337fc5d25_0_8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" name="Google Shape;58;g14337fc5d25_0_8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" name="Google Shape;59;g14337fc5d25_0_8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2" name="Google Shape;62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4337fc5d25_0_8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g14337fc5d25_0_8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4337fc5d25_0_8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g14337fc5d25_0_8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337fc5d25_0_85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3" name="Google Shape;73;g14337fc5d25_0_85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g14337fc5d25_0_8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4337fc5d25_0_86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7" name="Google Shape;77;g14337fc5d25_0_8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4337fc5d25_0_86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g14337fc5d25_0_86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1" name="Google Shape;81;g14337fc5d25_0_86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2" name="Google Shape;82;g14337fc5d25_0_86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g14337fc5d25_0_8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4337fc5d25_0_87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86" name="Google Shape;86;g14337fc5d25_0_8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4337fc5d25_0_87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9" name="Google Shape;89;g14337fc5d25_0_87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g14337fc5d25_0_8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4337fc5d25_0_8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4337fc5d25_0_2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14337fc5d25_0_2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14337fc5d25_0_2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g14337fc5d25_0_2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4337fc5d25_0_8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g14337fc5d25_0_8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g14337fc5d25_0_8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4" name="Google Shape;54;g14337fc5d25_0_83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3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hyperlink" Target="https://learn.codemithra.com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40951" y="2260382"/>
            <a:ext cx="4690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GB" sz="25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VERTICAL ORDER TRAVERSAL</a:t>
            </a:r>
            <a:endParaRPr b="1" i="0" sz="25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4337fc5d25_0_216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VERTICAL ORDER TRAVERSAL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15" name="Google Shape;115;g14337fc5d25_0_216"/>
          <p:cNvSpPr txBox="1"/>
          <p:nvPr/>
        </p:nvSpPr>
        <p:spPr>
          <a:xfrm>
            <a:off x="172449" y="10539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Loop &amp; linked list cycle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14337fc5d25_0_216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Vertical Order Traversal of a binary tree is a traversal technique where nodes are grouped by their vertical positions, starting from the leftmost to the rightmost.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Nodes in the same vertical position or column are considered together, and they are printed or processed in top-down order.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Within each vertical column, nodes are ordered from top to bottom based on their depth in the tree.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038ce67af_0_2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VERTICAL ORDER TRAVERSAL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22" name="Google Shape;122;g32038ce67af_0_2"/>
          <p:cNvSpPr txBox="1"/>
          <p:nvPr/>
        </p:nvSpPr>
        <p:spPr>
          <a:xfrm>
            <a:off x="172449" y="10539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EXPLANATION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2038ce67af_0_2"/>
          <p:cNvSpPr txBox="1"/>
          <p:nvPr/>
        </p:nvSpPr>
        <p:spPr>
          <a:xfrm>
            <a:off x="513375" y="1677650"/>
            <a:ext cx="36999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Consider the following binary tree as an example: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/   \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2     3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/ \   / \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4   5 6   7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" name="Google Shape;124;g32038ce67af_0_2"/>
          <p:cNvSpPr txBox="1"/>
          <p:nvPr/>
        </p:nvSpPr>
        <p:spPr>
          <a:xfrm>
            <a:off x="4440590" y="1169998"/>
            <a:ext cx="47034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Vertical Order Traversal for this tree would produce the following output:</a:t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1 5 6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038ce67af_0_10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VERTICAL ORDER TRAVERSAL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30" name="Google Shape;130;g32038ce67af_0_10"/>
          <p:cNvSpPr txBox="1"/>
          <p:nvPr/>
        </p:nvSpPr>
        <p:spPr>
          <a:xfrm>
            <a:off x="172449" y="10539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PSEUDOCODE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2038ce67af_0_10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VerticalOrderTraversal(root):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Initialize an empty result list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Initialize an empty map to store nodes by their vertical positions (verticalMap)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Initialize a queue for nodes (nodeQueue)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Initialize a queue for column positions (colQueue)  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Enqueue (root, 0) into nodeQueue and colQueue  // Start with root node at column 0  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while nodeQueue is not empty: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Dequeue a node and its column from nodeQueue and colQueue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Add the node to the corresponding column in verticalMap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038ce67af_0_16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VERTICAL ORDER TRAVERSAL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37" name="Google Shape;137;g32038ce67af_0_16"/>
          <p:cNvSpPr txBox="1"/>
          <p:nvPr/>
        </p:nvSpPr>
        <p:spPr>
          <a:xfrm>
            <a:off x="172449" y="10539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PSEUDOCODE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2038ce67af_0_16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node has a left child: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Enqueue (left child, column - 1) into nodeQueue and colQueue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if node has a right child: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Enqueue (right child, column + 1) into nodeQueue and colQueue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for each column in verticalMap (sorted by column position):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Add the nodes in the column to the result list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the result list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2038ce67af_0_24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VERTICAL ORDER TRAVERSAL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4" name="Google Shape;144;g32038ce67af_0_24"/>
          <p:cNvSpPr txBox="1"/>
          <p:nvPr/>
        </p:nvSpPr>
        <p:spPr>
          <a:xfrm>
            <a:off x="172449" y="7491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2038ce67af_0_24"/>
          <p:cNvSpPr txBox="1"/>
          <p:nvPr/>
        </p:nvSpPr>
        <p:spPr>
          <a:xfrm>
            <a:off x="390826" y="12430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Initialize an empty result list and an empty map to store nodes by their vertical positions (verticalMap).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2. Initialize two queues: one for nodes (nodeQueue) and one for column positions (colQueue).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3. Enqueue the root node along with its column position (usually starting from 0) into nodeQueue and colQueue.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4. While the nodeQueue is not empty, do the following: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- Dequeue a node and its corresponding column from nodeQueue and colQueue.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- Add the node to the corresponding column in verticalMap. If the column doesn't exist in verticalMap, create it.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038ce67af_0_30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VERTICAL ORDER TRAVERSAL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51" name="Google Shape;151;g32038ce67af_0_30"/>
          <p:cNvSpPr txBox="1"/>
          <p:nvPr/>
        </p:nvSpPr>
        <p:spPr>
          <a:xfrm>
            <a:off x="172449" y="7491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2038ce67af_0_30"/>
          <p:cNvSpPr txBox="1"/>
          <p:nvPr/>
        </p:nvSpPr>
        <p:spPr>
          <a:xfrm>
            <a:off x="390826" y="12430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 If the node has a left child, enqueue the left child with a column position decreased by 1.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- If the node has a right child, enqueue the right child with a column position increased by 1.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5. After processing all nodes, iterate through the columns in verticalMap, sorted by column position.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6. For each column, add the nodes in that column to the result list.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7. Return the result list.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2038ce67af_0_36"/>
          <p:cNvSpPr txBox="1"/>
          <p:nvPr/>
        </p:nvSpPr>
        <p:spPr>
          <a:xfrm>
            <a:off x="1922421" y="293200"/>
            <a:ext cx="489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6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VERTICAL ORDER TRAVERSAL</a:t>
            </a:r>
            <a:endParaRPr b="0" i="0" sz="16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aphicFrame>
        <p:nvGraphicFramePr>
          <p:cNvPr id="158" name="Google Shape;158;g32038ce67af_0_36"/>
          <p:cNvGraphicFramePr/>
          <p:nvPr/>
        </p:nvGraphicFramePr>
        <p:xfrm>
          <a:off x="4" y="6319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{E77D3136-3061-4377-954B-BD341937AB56}</a:tableStyleId>
              </a:tblPr>
              <a:tblGrid>
                <a:gridCol w="4575675"/>
                <a:gridCol w="4568325"/>
              </a:tblGrid>
              <a:tr h="451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 java.util.*;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 java.util.AbstractMap.SimpleEntry;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 TreeNode {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int val;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TreeNode left;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TreeNode right;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public TreeNode(int val) {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this.val = val;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left = null;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right = null;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 class Main {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// Function to perform Vertical Order Traversal of a binary tree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public static List&lt;List&lt;Integer&gt;&gt; verticalOrderTraversal(TreeNode root) {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List&lt;List&lt;Integer&gt;&gt; result = new ArrayList&lt;&gt;();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 (root == null) {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return result;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}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Map&lt;Integer, List&lt;Integer&gt;&gt; verticalMap = new TreeMap&lt;&gt;();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Queue&lt;SimpleEntry&lt;TreeNode, Integer&gt;&gt; nodeQueue = new LinkedList&lt;&gt;();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nodeQueue.offer(new SimpleEntry&lt;&gt;(root, 0));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while (!nodeQueue.isEmpty()) {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SimpleEntry&lt;TreeNode, Integer&gt; entry = nodeQueue.poll();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TreeNode node = entry.getKey();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int col = entry.getValue();           verticalMap.computeIfAbsent(col, k -&gt; new ArrayList&lt;&gt;()).add(node.val);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if (node.left != null) {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nodeQueue.offer(new SimpleEntry&lt;&gt;(node.left, col - 1));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}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038ce67af_0_43"/>
          <p:cNvSpPr txBox="1"/>
          <p:nvPr/>
        </p:nvSpPr>
        <p:spPr>
          <a:xfrm>
            <a:off x="1922421" y="293200"/>
            <a:ext cx="489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6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VERTICAL ORDER TRAVERSAL</a:t>
            </a:r>
            <a:endParaRPr b="0" i="0" sz="16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aphicFrame>
        <p:nvGraphicFramePr>
          <p:cNvPr id="164" name="Google Shape;164;g32038ce67af_0_43"/>
          <p:cNvGraphicFramePr/>
          <p:nvPr/>
        </p:nvGraphicFramePr>
        <p:xfrm>
          <a:off x="152404" y="6319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{E77D3136-3061-4377-954B-BD341937AB56}</a:tableStyleId>
              </a:tblPr>
              <a:tblGrid>
                <a:gridCol w="4575675"/>
                <a:gridCol w="4278050"/>
              </a:tblGrid>
              <a:tr h="384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if (node.right != null) {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nodeQueue.offer(new SimpleEntry&lt;&gt;(node.right, col + 1));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}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}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for (List&lt;Integer&gt; values : verticalMap.values()) {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result.add(values);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}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return result;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public static void main(String[] args) {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// Sample binary tree input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TreeNode root = new TreeNode(1);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root.left = new TreeNode(2);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root.right = new TreeNode(3);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root.left.left = new TreeNode(4);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onsolas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root.left.right = new TreeNode(5);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sz="135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root.right.left = new TreeNode(6);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root.right.right = new TreeNode(7);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sz="135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List&lt;List&lt;Integer&gt;&gt; verticalOrderResult = verticalOrderTraversal(root);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sz="135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// Printing the Vertical Order Traversal result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for (List&lt;Integer&gt; column : verticalOrderResult) {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for (int val : column) {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System.out.print(val + " ");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}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System.out.println();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}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13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GB" sz="13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038ce67af_0_48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VERTICAL ORDER TRAVERSAL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70" name="Google Shape;170;g32038ce67af_0_48"/>
          <p:cNvSpPr txBox="1"/>
          <p:nvPr/>
        </p:nvSpPr>
        <p:spPr>
          <a:xfrm>
            <a:off x="172449" y="7491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TIME AND SPACE COMPLEXITY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2038ce67af_0_48"/>
          <p:cNvSpPr txBox="1"/>
          <p:nvPr/>
        </p:nvSpPr>
        <p:spPr>
          <a:xfrm>
            <a:off x="390826" y="12430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Time Complexity: The time complexity of this algorithm is O(n log n), where 'n' is the number of nodes in the binary tree. The TreeMap operations for sorting the columns introduce a logarithmic factor.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Space Complexity: The space complexity is O(n), where 'n' is the number of nodes. This space is used for the queue data structures and the vertical map to store the results.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1fdec52c72_0_308"/>
          <p:cNvSpPr txBox="1"/>
          <p:nvPr/>
        </p:nvSpPr>
        <p:spPr>
          <a:xfrm>
            <a:off x="3315000" y="445600"/>
            <a:ext cx="32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77" name="Google Shape;177;g31fdec52c72_0_308"/>
          <p:cNvSpPr txBox="1"/>
          <p:nvPr/>
        </p:nvSpPr>
        <p:spPr>
          <a:xfrm>
            <a:off x="1" y="1170007"/>
            <a:ext cx="105156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1.What is Vertical Order Traversal of a binary tree, and why is it useful?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1fdec52c72_0_308"/>
          <p:cNvSpPr txBox="1"/>
          <p:nvPr/>
        </p:nvSpPr>
        <p:spPr>
          <a:xfrm>
            <a:off x="436323" y="1779900"/>
            <a:ext cx="74922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Answer: Vertical Order Traversal is a way to traverse a binary tree where nodes are grouped by their vertical positions from left to right. It helps organize and present the tree's structure in a top-to-bottom manner, making it easier to visualize and analyze the tree's contents.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243a3cdda7_0_819"/>
          <p:cNvSpPr txBox="1"/>
          <p:nvPr/>
        </p:nvSpPr>
        <p:spPr>
          <a:xfrm>
            <a:off x="3315000" y="445600"/>
            <a:ext cx="32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4" name="Google Shape;184;g3243a3cdda7_0_819"/>
          <p:cNvSpPr txBox="1"/>
          <p:nvPr/>
        </p:nvSpPr>
        <p:spPr>
          <a:xfrm>
            <a:off x="0" y="1170000"/>
            <a:ext cx="8086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2.How can you implement Vertical Order Traversal of a binary tree?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243a3cdda7_0_819"/>
          <p:cNvSpPr txBox="1"/>
          <p:nvPr/>
        </p:nvSpPr>
        <p:spPr>
          <a:xfrm>
            <a:off x="418725" y="1779900"/>
            <a:ext cx="80868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Answer: To implement Vertical Order Traversal: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Use a TreeMap to store nodes by their vertical positions.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Employ two queues: one for nodes and one for column positions.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 with the root node and enqueue it with a column position of 0.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 traversing, enqueue left and right child nodes with updated column positions.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After processing all nodes, sort the TreeMap by column positions and extract nodes in each column.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43a3cdda7_0_825"/>
          <p:cNvSpPr txBox="1"/>
          <p:nvPr/>
        </p:nvSpPr>
        <p:spPr>
          <a:xfrm>
            <a:off x="3315000" y="445600"/>
            <a:ext cx="32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1" name="Google Shape;191;g3243a3cdda7_0_825"/>
          <p:cNvSpPr txBox="1"/>
          <p:nvPr/>
        </p:nvSpPr>
        <p:spPr>
          <a:xfrm>
            <a:off x="0" y="1170000"/>
            <a:ext cx="82632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3.What's the time complexity of Vertical Order Traversal?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243a3cdda7_0_825"/>
          <p:cNvSpPr txBox="1"/>
          <p:nvPr/>
        </p:nvSpPr>
        <p:spPr>
          <a:xfrm>
            <a:off x="436323" y="2008500"/>
            <a:ext cx="74922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Answer: The time complexity is O(n log n) in the worst case, where 'n' is the number of nodes. This is due to the TreeMap sorting operation.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243a3cdda7_0_831"/>
          <p:cNvSpPr txBox="1"/>
          <p:nvPr/>
        </p:nvSpPr>
        <p:spPr>
          <a:xfrm>
            <a:off x="3315000" y="445600"/>
            <a:ext cx="32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8" name="Google Shape;198;g3243a3cdda7_0_831"/>
          <p:cNvSpPr txBox="1"/>
          <p:nvPr/>
        </p:nvSpPr>
        <p:spPr>
          <a:xfrm>
            <a:off x="1" y="1170007"/>
            <a:ext cx="105156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4.What's the space complexity of Vertical Order Traversal?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243a3cdda7_0_831"/>
          <p:cNvSpPr txBox="1"/>
          <p:nvPr/>
        </p:nvSpPr>
        <p:spPr>
          <a:xfrm>
            <a:off x="436323" y="1779900"/>
            <a:ext cx="74922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Answer: The space complexity is O(n), where 'n' is the number of nodes. This space is primarily used for the queues and the TreeMap storing the nodes.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243a3cdda7_0_837"/>
          <p:cNvSpPr txBox="1"/>
          <p:nvPr/>
        </p:nvSpPr>
        <p:spPr>
          <a:xfrm>
            <a:off x="3315000" y="445600"/>
            <a:ext cx="32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05" name="Google Shape;205;g3243a3cdda7_0_837"/>
          <p:cNvSpPr txBox="1"/>
          <p:nvPr/>
        </p:nvSpPr>
        <p:spPr>
          <a:xfrm>
            <a:off x="0" y="1170000"/>
            <a:ext cx="84702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5.Can you provide an example use case for Vertical Order Traversal?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243a3cdda7_0_837"/>
          <p:cNvSpPr txBox="1"/>
          <p:nvPr/>
        </p:nvSpPr>
        <p:spPr>
          <a:xfrm>
            <a:off x="436323" y="1551300"/>
            <a:ext cx="74922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Answer: Vertical Order Traversal can be useful in various scenarios, such as: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Displaying a multi-column binary tree in a graphical user interface.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Analyzing data organized in a hierarchical tree structure, like a file system or a family tree.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Solving problems that require accessing nodes in a specific vertical order, such as printing nodes in a column-wise newspaper layout.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"/>
          <p:cNvSpPr/>
          <p:nvPr/>
        </p:nvSpPr>
        <p:spPr>
          <a:xfrm>
            <a:off x="532420" y="1439990"/>
            <a:ext cx="754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2" name="Google Shape;2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9687" y="1038566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4"/>
          <p:cNvSpPr/>
          <p:nvPr/>
        </p:nvSpPr>
        <p:spPr>
          <a:xfrm>
            <a:off x="1634729" y="4055269"/>
            <a:ext cx="518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219" name="Google Shape;219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20" name="Google Shape;2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5"/>
          <p:cNvSpPr txBox="1"/>
          <p:nvPr/>
        </p:nvSpPr>
        <p:spPr>
          <a:xfrm>
            <a:off x="3141000" y="2194650"/>
            <a:ext cx="28620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GB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2" name="Google Shape;22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5"/>
          <p:cNvSpPr txBox="1"/>
          <p:nvPr/>
        </p:nvSpPr>
        <p:spPr>
          <a:xfrm>
            <a:off x="1980750" y="4590801"/>
            <a:ext cx="1187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5" name="Google Shape;225;p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5"/>
          <p:cNvSpPr txBox="1"/>
          <p:nvPr/>
        </p:nvSpPr>
        <p:spPr>
          <a:xfrm>
            <a:off x="3519050" y="4590801"/>
            <a:ext cx="1934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7" name="Google Shape;22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5"/>
          <p:cNvSpPr txBox="1"/>
          <p:nvPr/>
        </p:nvSpPr>
        <p:spPr>
          <a:xfrm>
            <a:off x="5457275" y="4590801"/>
            <a:ext cx="1934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9" name="Google Shape;229;p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