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embeddedFontLst>
    <p:embeddedFont>
      <p:font typeface="Roboto Black"/>
      <p:bold r:id="rId40"/>
      <p:boldItalic r:id="rId41"/>
    </p:embeddedFon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46" roundtripDataSignature="AMtx7mhNWQGxYlTKTmBzCCRtrhONeOy/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00C781-68C4-49DC-BA77-2B35A1C1934D}">
  <a:tblStyle styleId="{4D00C781-68C4-49DC-BA77-2B35A1C193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285F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285F4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Black-bold.fntdata"/><Relationship Id="rId20" Type="http://schemas.openxmlformats.org/officeDocument/2006/relationships/slide" Target="slides/slide13.xml"/><Relationship Id="rId42" Type="http://schemas.openxmlformats.org/officeDocument/2006/relationships/font" Target="fonts/Roboto-regular.fntdata"/><Relationship Id="rId41" Type="http://schemas.openxmlformats.org/officeDocument/2006/relationships/font" Target="fonts/RobotoBlack-boldItalic.fntdata"/><Relationship Id="rId22" Type="http://schemas.openxmlformats.org/officeDocument/2006/relationships/slide" Target="slides/slide15.xml"/><Relationship Id="rId44" Type="http://schemas.openxmlformats.org/officeDocument/2006/relationships/font" Target="fonts/Roboto-italic.fntdata"/><Relationship Id="rId21" Type="http://schemas.openxmlformats.org/officeDocument/2006/relationships/slide" Target="slides/slide14.xml"/><Relationship Id="rId43" Type="http://schemas.openxmlformats.org/officeDocument/2006/relationships/font" Target="fonts/Roboto-bold.fntdata"/><Relationship Id="rId24" Type="http://schemas.openxmlformats.org/officeDocument/2006/relationships/slide" Target="slides/slide17.xml"/><Relationship Id="rId46" Type="http://customschemas.google.com/relationships/presentationmetadata" Target="metadata"/><Relationship Id="rId23" Type="http://schemas.openxmlformats.org/officeDocument/2006/relationships/slide" Target="slides/slide16.xml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4337fc5d2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g14337fc5d25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f8faf20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g31f8faf207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f8faf207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g31f8faf207a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f8faf20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g31f8faf207a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f8faf207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g31f8faf207a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f8faf207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1f8faf207a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f8faf207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g31f8faf207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f8faf207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1f8faf207a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f8faf207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31f8faf207a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f8faf207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31f8faf207a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f8faf207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g31f8faf207a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f8faf207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g31f8faf207a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f8faf207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g31f8faf207a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f8faf207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g31f8faf207a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f8faf207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g31f8faf207a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f8faf207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g31f8faf207a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f8faf207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g31f8faf207a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f8faf207a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g31f8faf207a_0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f8faf207a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g31f8faf207a_0_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f8faf207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g31f8faf207a_0_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f8faf207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g31f8faf207a_0_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f8faf207a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g31f8faf207a_0_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f8faf207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31f8faf207a_0_1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f8faf207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g31f8faf207a_0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1f8faf207a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g31f8faf207a_0_2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f8faf207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g31f8faf207a_0_2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f8faf207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g31f8faf207a_0_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f8faf207a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g31f8faf207a_0_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1" name="Google Shape;71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5" name="Google Shape;75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" name="Google Shape;76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80" name="Google Shape;80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" name="Google Shape;83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" name="Google Shape;48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23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hyperlink" Target="https://learn.codemithra.com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178001" y="2109682"/>
            <a:ext cx="469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lang="en-GB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FS,DFS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4337fc5d25_0_216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9" name="Google Shape;109;g14337fc5d25_0_216"/>
          <p:cNvSpPr txBox="1"/>
          <p:nvPr/>
        </p:nvSpPr>
        <p:spPr>
          <a:xfrm>
            <a:off x="288073" y="864612"/>
            <a:ext cx="460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b="0" i="0" sz="1200" u="none" cap="none" strike="noStrike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g14337fc5d25_0_216"/>
          <p:cNvSpPr/>
          <p:nvPr/>
        </p:nvSpPr>
        <p:spPr>
          <a:xfrm>
            <a:off x="629331" y="1018501"/>
            <a:ext cx="7631400" cy="3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Breadth First Traversal or Breadth First Search is a recursive algorithm for searching all the vertices of a graph or tree data structure.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standard BFS implementation puts each vertex of the graph into one of two categories: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Not Visited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purpose of the algorithm is to mark each vertex as visited while avoiding cycles.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f8faf207a_0_0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6" name="Google Shape;116;g31f8faf207a_0_0"/>
          <p:cNvSpPr txBox="1"/>
          <p:nvPr/>
        </p:nvSpPr>
        <p:spPr>
          <a:xfrm>
            <a:off x="169424" y="626602"/>
            <a:ext cx="45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b="0" i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1f8faf207a_0_0"/>
          <p:cNvSpPr/>
          <p:nvPr/>
        </p:nvSpPr>
        <p:spPr>
          <a:xfrm>
            <a:off x="516750" y="969900"/>
            <a:ext cx="7852500" cy="3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algorithm works as follows: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 by putting any one of the graph's vertices at the back of a queue.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84150" lvl="0" marL="387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Take the front item of the queue and add it to the visited list.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84150" lvl="0" marL="387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Create a list of that vertex's adjacent nodes. Add the ones which are not in the visited list to the back of the queue.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84150" lvl="0" marL="387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Keep repeating steps 2 and 3 until the queue is empty.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84150" lvl="0" marL="387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graph might have two different disconnected parts so to make sure that we cover every vertex, we can also run the BFS algorithm on every node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f8faf207a_0_4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3" name="Google Shape;123;g31f8faf207a_0_4"/>
          <p:cNvSpPr txBox="1"/>
          <p:nvPr/>
        </p:nvSpPr>
        <p:spPr>
          <a:xfrm>
            <a:off x="304800" y="592950"/>
            <a:ext cx="78816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Step1: </a:t>
            </a: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Initially queue and visited arrays are empty.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4" name="Google Shape;124;g31f8faf207a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2900" y="1756300"/>
            <a:ext cx="6054324" cy="27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f8faf207a_0_8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0" name="Google Shape;130;g31f8faf207a_0_8"/>
          <p:cNvSpPr txBox="1"/>
          <p:nvPr/>
        </p:nvSpPr>
        <p:spPr>
          <a:xfrm>
            <a:off x="230459" y="0"/>
            <a:ext cx="6378600" cy="23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Step2: Push node 0 into queue and mark it visited.</a:t>
            </a:r>
            <a:endParaRPr b="0" i="0" sz="1600" u="none" cap="none" strike="noStrike">
              <a:solidFill>
                <a:srgbClr val="2732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1" name="Google Shape;131;g31f8faf207a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7313" y="1756300"/>
            <a:ext cx="6054324" cy="27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1f8faf207a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700" y="1764513"/>
            <a:ext cx="6378599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f8faf207a_0_12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8" name="Google Shape;138;g31f8faf207a_0_12"/>
          <p:cNvSpPr txBox="1"/>
          <p:nvPr/>
        </p:nvSpPr>
        <p:spPr>
          <a:xfrm>
            <a:off x="530900" y="814900"/>
            <a:ext cx="7303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Step3: </a:t>
            </a:r>
            <a:r>
              <a:rPr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Remove node 0 from the front of queue and visit the unvisited neighbours and push them into queue.</a:t>
            </a:r>
            <a:endParaRPr/>
          </a:p>
        </p:txBody>
      </p:sp>
      <p:pic>
        <p:nvPicPr>
          <p:cNvPr id="139" name="Google Shape;139;g31f8faf207a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200" y="1932113"/>
            <a:ext cx="73152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f8faf207a_0_16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5" name="Google Shape;145;g31f8faf207a_0_16"/>
          <p:cNvSpPr txBox="1"/>
          <p:nvPr/>
        </p:nvSpPr>
        <p:spPr>
          <a:xfrm>
            <a:off x="530900" y="814900"/>
            <a:ext cx="7303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4: </a:t>
            </a: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Remove node 1 from the front of queue and visit the unvisited neighbours and push them into queu.</a:t>
            </a:r>
            <a:endParaRPr/>
          </a:p>
        </p:txBody>
      </p:sp>
      <p:pic>
        <p:nvPicPr>
          <p:cNvPr id="146" name="Google Shape;146;g31f8faf207a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200" y="1871838"/>
            <a:ext cx="73152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f8faf207a_0_20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2" name="Google Shape;152;g31f8faf207a_0_20"/>
          <p:cNvSpPr txBox="1"/>
          <p:nvPr/>
        </p:nvSpPr>
        <p:spPr>
          <a:xfrm>
            <a:off x="530900" y="814900"/>
            <a:ext cx="7303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5: </a:t>
            </a:r>
            <a:r>
              <a:rPr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Remove node 2 from the front of queue and visit the unvisited neighbours and push them into queue.</a:t>
            </a:r>
            <a:endParaRPr/>
          </a:p>
        </p:txBody>
      </p:sp>
      <p:pic>
        <p:nvPicPr>
          <p:cNvPr id="153" name="Google Shape;153;g31f8faf207a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1771963"/>
            <a:ext cx="73152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f8faf207a_0_24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9" name="Google Shape;159;g31f8faf207a_0_24"/>
          <p:cNvSpPr txBox="1"/>
          <p:nvPr/>
        </p:nvSpPr>
        <p:spPr>
          <a:xfrm>
            <a:off x="530900" y="814900"/>
            <a:ext cx="7303800" cy="1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6: </a:t>
            </a:r>
            <a:r>
              <a:rPr i="1" lang="en-GB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Remove node 3 from the front of queue and visit the unvisited neighbours and push them into queue. As we can see that every neighbours of node 3 is visited, so move to the next node that are in the front of the queue.</a:t>
            </a:r>
            <a:endParaRPr i="1" sz="1600">
              <a:solidFill>
                <a:srgbClr val="2732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0" name="Google Shape;160;g31f8faf207a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800" y="1984888"/>
            <a:ext cx="73152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f8faf207a_0_28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6" name="Google Shape;166;g31f8faf207a_0_28"/>
          <p:cNvSpPr txBox="1"/>
          <p:nvPr/>
        </p:nvSpPr>
        <p:spPr>
          <a:xfrm>
            <a:off x="530900" y="814900"/>
            <a:ext cx="73038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7: </a:t>
            </a:r>
            <a:r>
              <a:rPr i="1" lang="en-GB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Remove node 4 from the front of queue and visit the unvisited neighbours and push them into queue. </a:t>
            </a:r>
            <a:endParaRPr i="1">
              <a:solidFill>
                <a:srgbClr val="27323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en-GB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As we can see that every neighbours of node 4 are visited, so move to the next node that is in the front of the queue.</a:t>
            </a:r>
            <a:endParaRPr i="1">
              <a:solidFill>
                <a:srgbClr val="27323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en-GB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Now, Queue becomes empty, So, terminate these process of iteration.</a:t>
            </a:r>
            <a:endParaRPr i="1">
              <a:solidFill>
                <a:srgbClr val="2732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7" name="Google Shape;167;g31f8faf207a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282" y="2446889"/>
            <a:ext cx="6634675" cy="2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f8faf207a_0_32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3" name="Google Shape;173;g31f8faf207a_0_32"/>
          <p:cNvSpPr/>
          <p:nvPr/>
        </p:nvSpPr>
        <p:spPr>
          <a:xfrm>
            <a:off x="554990" y="1263552"/>
            <a:ext cx="7631400" cy="23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Pseudocode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create a queue Q </a:t>
            </a: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mark v as visited and put v into Q </a:t>
            </a: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while Q is non-empty </a:t>
            </a: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remove the head u of Q </a:t>
            </a: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mark and enqueue all (unvisited) neighbours of u</a:t>
            </a: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f8faf207a_0_36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9" name="Google Shape;179;g31f8faf207a_0_36"/>
          <p:cNvSpPr/>
          <p:nvPr/>
        </p:nvSpPr>
        <p:spPr>
          <a:xfrm>
            <a:off x="554990" y="1034952"/>
            <a:ext cx="81675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Program: BFS Implementation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bfs.java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Time Complexity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O(V + E)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Space Complexity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O(V)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where V is the number of nodes and E is the number of edges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f8faf207a_0_40"/>
          <p:cNvSpPr txBox="1"/>
          <p:nvPr/>
        </p:nvSpPr>
        <p:spPr>
          <a:xfrm>
            <a:off x="3118475" y="3694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185" name="Google Shape;185;g31f8faf207a_0_40"/>
          <p:cNvGraphicFramePr/>
          <p:nvPr/>
        </p:nvGraphicFramePr>
        <p:xfrm>
          <a:off x="457073" y="7831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{4D00C781-68C4-49DC-BA77-2B35A1C1934D}</a:tableStyleId>
              </a:tblPr>
              <a:tblGrid>
                <a:gridCol w="3997400"/>
                <a:gridCol w="3997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class Graph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private int V;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private LinkedList&lt;Integer&gt; adj[];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// Create a graph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Graph(int v)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V = v;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adj = new LinkedList[v];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for (int i = 0; i &lt; v; ++i)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adj[i] = new LinkedList();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// Add edges to the graph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void addEdge(int v, int w)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adj[v].add(w);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// BFS algorithm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void BFS(int s)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boolean visited[] = new boolean[V];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LinkedList&lt;Integer&gt; queue = new LinkedList();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visited[s] = true;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queue.add(s);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while (queue.size() != 0)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s = queue.poll();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System.out.print(s + " ");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Iterator&lt;Integer&gt; i = adj[s].listIterator();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(i.hasNext())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n = i.next();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if (!visited[n])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visited[n] = true;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queue.add(n);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f8faf207a_0_68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191" name="Google Shape;191;g31f8faf207a_0_68"/>
          <p:cNvGraphicFramePr/>
          <p:nvPr/>
        </p:nvGraphicFramePr>
        <p:xfrm>
          <a:off x="636223" y="916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{4D00C781-68C4-49DC-BA77-2B35A1C1934D}</a:tableStyleId>
              </a:tblPr>
              <a:tblGrid>
                <a:gridCol w="7627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public static void main(String args[])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Graph g = new Graph(4);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g.addEdge(0, 1);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g.addEdge(0, 2);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g.addEdge(1, 2);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g.addEdge(2, 0);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g.addEdge(2, 3);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g.addEdge(3, 3);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System.out.println("Following is Breadth First Traversal " + "(starting from vertex 2)");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g.BFS(2);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f8faf207a_0_74"/>
          <p:cNvSpPr txBox="1"/>
          <p:nvPr/>
        </p:nvSpPr>
        <p:spPr>
          <a:xfrm>
            <a:off x="3118475" y="2932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B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READTH-FIRST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7" name="Google Shape;197;g31f8faf207a_0_74"/>
          <p:cNvSpPr/>
          <p:nvPr/>
        </p:nvSpPr>
        <p:spPr>
          <a:xfrm>
            <a:off x="268975" y="667225"/>
            <a:ext cx="86001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Applications of BFS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BFS can be used to find the neighboring locations from a given source location.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 a peer-to-peer network, BFS algorithm can be used as a traversal method to find all the neighboring nodes.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BFS can be used in web crawlers to create web page indexes where, every web page is considered as a node in the graph.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BFS is used to determine the shortest path and minimum spanning tree.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BFS is also used in Cheney's technique to duplicate the garbage collection.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It can be used in Ford-Fulkerson method to compute the maximum flow in a flow network.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It can be used in cycle detection in an undirected graph and also in navigation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f8faf207a_0_80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</a:t>
            </a: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3" name="Google Shape;203;g31f8faf207a_0_80"/>
          <p:cNvSpPr/>
          <p:nvPr/>
        </p:nvSpPr>
        <p:spPr>
          <a:xfrm>
            <a:off x="554990" y="806352"/>
            <a:ext cx="7631400" cy="3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Depth first Search or Depth first traversal is a recursive algorithm for searching all the vertices of a graph or tree data structure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standard DFS implementation puts each vertex of the graph into one of two categories: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Not Visited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purpose of the algorithm is to mark each vertex as visited while avoiding cycles.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f8faf207a_0_86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9" name="Google Shape;209;g31f8faf207a_0_86"/>
          <p:cNvSpPr/>
          <p:nvPr/>
        </p:nvSpPr>
        <p:spPr>
          <a:xfrm>
            <a:off x="554990" y="806352"/>
            <a:ext cx="7631400" cy="2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 by putting any one of the graph's vertices on top of a stack.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84150" lvl="0" marL="387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Take the top item of the stack and add it to the visited list.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84150" lvl="0" marL="387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Create a list of that vertex's adjacent nodes. Add the ones which aren't in the visited list to the top of the stack.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84150" lvl="0" marL="387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Keep repeating steps 2 and 3 until the stack is empty.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1f8faf207a_0_92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5" name="Google Shape;215;g31f8faf207a_0_92"/>
          <p:cNvSpPr/>
          <p:nvPr/>
        </p:nvSpPr>
        <p:spPr>
          <a:xfrm>
            <a:off x="555000" y="806352"/>
            <a:ext cx="76314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Step1:</a:t>
            </a:r>
            <a:r>
              <a:rPr b="0" i="1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 Initially stack and visited arrays are empty.</a:t>
            </a:r>
            <a:br>
              <a:rPr b="0" i="1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6" name="Google Shape;216;g31f8faf207a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725" y="1444350"/>
            <a:ext cx="62865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f8faf207a_0_159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2" name="Google Shape;222;g31f8faf207a_0_159"/>
          <p:cNvSpPr/>
          <p:nvPr/>
        </p:nvSpPr>
        <p:spPr>
          <a:xfrm>
            <a:off x="555000" y="806352"/>
            <a:ext cx="76314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2:</a:t>
            </a:r>
            <a:r>
              <a:rPr i="1" lang="en-GB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 Visit 0 and put its adjacent nodes which are not visited yet into the stack.</a:t>
            </a:r>
            <a:br>
              <a:rPr b="0" i="1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3" name="Google Shape;223;g31f8faf207a_0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725" y="1289100"/>
            <a:ext cx="5797150" cy="28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f8faf207a_0_165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9" name="Google Shape;229;g31f8faf207a_0_165"/>
          <p:cNvSpPr/>
          <p:nvPr/>
        </p:nvSpPr>
        <p:spPr>
          <a:xfrm>
            <a:off x="555000" y="806352"/>
            <a:ext cx="76314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3:</a:t>
            </a:r>
            <a:r>
              <a:rPr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 Now, Node 1 at the top of the stack, so visit node 1 and pop it from the stack and put all of its adjacent nodes which are not visited in the stack.</a:t>
            </a:r>
            <a:br>
              <a:rPr b="0" i="1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0" name="Google Shape;230;g31f8faf207a_0_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678" y="2103863"/>
            <a:ext cx="6286500" cy="230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f8faf207a_0_171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36" name="Google Shape;236;g31f8faf207a_0_171"/>
          <p:cNvSpPr/>
          <p:nvPr/>
        </p:nvSpPr>
        <p:spPr>
          <a:xfrm>
            <a:off x="555000" y="806352"/>
            <a:ext cx="76314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4: </a:t>
            </a:r>
            <a:r>
              <a:rPr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Now,</a:t>
            </a:r>
            <a:r>
              <a:rPr b="1"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Node 2 at the top of the stack, so visit node 2 and pop it from the stack and put all of its adjacent nodes which are not visited (i.e, 3, 4) in the stack.</a:t>
            </a: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7" name="Google Shape;237;g31f8faf207a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87" y="1628974"/>
            <a:ext cx="7064625" cy="30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f8faf207a_0_177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3" name="Google Shape;243;g31f8faf207a_0_177"/>
          <p:cNvSpPr/>
          <p:nvPr/>
        </p:nvSpPr>
        <p:spPr>
          <a:xfrm>
            <a:off x="555000" y="806352"/>
            <a:ext cx="76314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5:</a:t>
            </a:r>
            <a:r>
              <a:rPr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 Now, Node 4 at the top of the stack, so visit node 4 and pop it from the stack and put all of its adjacent nodes which are not visited in the stack.</a:t>
            </a:r>
            <a:br>
              <a:rPr b="0" i="1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44" name="Google Shape;244;g31f8faf207a_0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275" y="2075146"/>
            <a:ext cx="6286500" cy="2636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f8faf207a_0_183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0" name="Google Shape;250;g31f8faf207a_0_183"/>
          <p:cNvSpPr/>
          <p:nvPr/>
        </p:nvSpPr>
        <p:spPr>
          <a:xfrm>
            <a:off x="555000" y="806352"/>
            <a:ext cx="76314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5:</a:t>
            </a:r>
            <a:r>
              <a:rPr i="1" lang="en-GB" sz="1600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 Now, Node 4 at the top of the stack, so visit node 4 and pop it from the stack and put all of its adjacent nodes which are not visited in the stack.</a:t>
            </a:r>
            <a:r>
              <a:rPr b="0" i="1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br>
              <a:rPr b="0" i="1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1" name="Google Shape;251;g31f8faf207a_0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275" y="2075146"/>
            <a:ext cx="6286500" cy="2636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f8faf207a_0_189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7" name="Google Shape;257;g31f8faf207a_0_189"/>
          <p:cNvSpPr/>
          <p:nvPr/>
        </p:nvSpPr>
        <p:spPr>
          <a:xfrm>
            <a:off x="555000" y="806352"/>
            <a:ext cx="76314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1" lang="en-GB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Step 6:</a:t>
            </a:r>
            <a:r>
              <a:rPr i="1" lang="en-GB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 Now, Node 3 at the top of the stack, so visit node 3 and pop it from the stack and put all of its adjacent nodes which are not visited in the stack.</a:t>
            </a:r>
            <a:endParaRPr i="1">
              <a:solidFill>
                <a:srgbClr val="27323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-GB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  <a:t>Now, Stack becomes empty, which means we have visited all the nodes and our DFS traversal ends.</a:t>
            </a:r>
            <a:br>
              <a:rPr b="0" i="1" lang="en-GB" sz="1600" u="none" cap="none" strike="noStrike">
                <a:solidFill>
                  <a:srgbClr val="273239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1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8" name="Google Shape;258;g31f8faf207a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078" y="2358951"/>
            <a:ext cx="6286500" cy="249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1f8faf207a_0_195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4" name="Google Shape;264;g31f8faf207a_0_195"/>
          <p:cNvSpPr txBox="1"/>
          <p:nvPr/>
        </p:nvSpPr>
        <p:spPr>
          <a:xfrm>
            <a:off x="594000" y="93690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Pseudocode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DFS(G, u)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u.visited = true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each v ∈ G.Adj[u]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v.visited == false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DFS(G,v)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init() {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each u ∈ G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u.visited = false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For each u ∈ G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DFS(G, u)</a:t>
            </a:r>
            <a:endParaRPr i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f8faf207a_0_201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70" name="Google Shape;270;g31f8faf207a_0_201"/>
          <p:cNvSpPr/>
          <p:nvPr/>
        </p:nvSpPr>
        <p:spPr>
          <a:xfrm>
            <a:off x="554990" y="806352"/>
            <a:ext cx="81675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Program: DFS Implementation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dfs.java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Time Complexity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O(V + E)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Space Complexity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O(V)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where V is the number of nodes and E is the number of edges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1f8faf207a_0_207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276" name="Google Shape;276;g31f8faf207a_0_207"/>
          <p:cNvGraphicFramePr/>
          <p:nvPr/>
        </p:nvGraphicFramePr>
        <p:xfrm>
          <a:off x="423745" y="8219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{4D00C781-68C4-49DC-BA77-2B35A1C1934D}</a:tableStyleId>
              </a:tblPr>
              <a:tblGrid>
                <a:gridCol w="4221750"/>
                <a:gridCol w="4221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Graph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private LinkedList&lt;Integer&gt; adjLists[];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private boolean visited[];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// Graph creation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Graph(int vertices)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adjLists = new LinkedList[vertices];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visited = new boolean[vertices];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for (int i = 0; i &lt; vertices; i++)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adjLists[i] = new LinkedList&lt;Integer&gt;();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// Add edges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addEdge(int src, int dest)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adjLists[src].add(dest);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void DFS(int vertex)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visited[vertex] = true;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System.out.print(vertex + " ");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Iterator&lt;Integer&gt; ite = adjLists[vertex].listIterator();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while (ite.hasNext())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int adj = ite.next();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if (!visited[adj])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DFS(adj);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  }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1f8faf207a_0_213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282" name="Google Shape;282;g31f8faf207a_0_213"/>
          <p:cNvGraphicFramePr/>
          <p:nvPr/>
        </p:nvGraphicFramePr>
        <p:xfrm>
          <a:off x="959003" y="11391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{4D00C781-68C4-49DC-BA77-2B35A1C1934D}</a:tableStyleId>
              </a:tblPr>
              <a:tblGrid>
                <a:gridCol w="7389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static void main(String args[])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Graph g = new Graph(4);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g.addEdge(0, 1);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g.addEdge(0, 2);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g.addEdge(1, 2);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g.addEdge(2, 3);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System.out.println("Following is Depth First Traversal");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g.DFS(2);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4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f8faf207a_0_219"/>
          <p:cNvSpPr txBox="1"/>
          <p:nvPr/>
        </p:nvSpPr>
        <p:spPr>
          <a:xfrm>
            <a:off x="3118475" y="445600"/>
            <a:ext cx="33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DEPTH -FIRST SEARCH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8" name="Google Shape;288;g31f8faf207a_0_219"/>
          <p:cNvSpPr/>
          <p:nvPr/>
        </p:nvSpPr>
        <p:spPr>
          <a:xfrm>
            <a:off x="554990" y="806352"/>
            <a:ext cx="8167500" cy="3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Applications of DFS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an unweighted graph, DFS traversal of the graph produces the minimum spanning tree.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DFS can be used to detect a cycle in the graph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 can specialize the DFS algorithm to find a path between the two given vertices u and z.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DFS can be used in topological sorting. Topological Sorting is mainly used for scheduling jobs from the given dependencies among jobs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DFS can be used to test if a graph is bipartite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DFS can be used to finding Strongly connected components of a graph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96850" lvl="0" marL="374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DFS can be used to solving puzzles with only one solution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4" name="Google Shape;2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01" name="Google Shape;30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02" name="Google Shape;3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"/>
          <p:cNvSpPr txBox="1"/>
          <p:nvPr/>
        </p:nvSpPr>
        <p:spPr>
          <a:xfrm>
            <a:off x="3141000" y="2194650"/>
            <a:ext cx="2862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4" name="Google Shape;30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"/>
          <p:cNvSpPr txBox="1"/>
          <p:nvPr/>
        </p:nvSpPr>
        <p:spPr>
          <a:xfrm>
            <a:off x="1980750" y="4590801"/>
            <a:ext cx="1187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5"/>
          <p:cNvSpPr txBox="1"/>
          <p:nvPr/>
        </p:nvSpPr>
        <p:spPr>
          <a:xfrm>
            <a:off x="3519050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9" name="Google Shape;30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"/>
          <p:cNvSpPr txBox="1"/>
          <p:nvPr/>
        </p:nvSpPr>
        <p:spPr>
          <a:xfrm>
            <a:off x="5457275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" name="Google Shape;311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